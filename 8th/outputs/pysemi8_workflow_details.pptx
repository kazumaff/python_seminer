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8fe6fdc3344be" /><Relationship Type="http://schemas.openxmlformats.org/officeDocument/2006/relationships/extended-properties" Target="/docProps/app.xml" Id="Rc77fb4595c1f4e9a" /><Relationship Type="http://schemas.openxmlformats.org/officeDocument/2006/relationships/officeDocument" Target="/ppt/presentation.xml" Id="R5c921fa5d4244d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51c0c6bdb4c57"/>
  </p:sldMasterIdLst>
  <p:notesMasterIdLst>
    <p:notesMasterId xmlns:r="http://schemas.openxmlformats.org/officeDocument/2006/relationships" r:id="R7dd7e4e142204b78"/>
  </p:notesMasterIdLst>
  <p:sldIdLst>
    <p:sldId xmlns:r="http://schemas.openxmlformats.org/officeDocument/2006/relationships" id="256" r:id="Ra30af9d66d5b4edc"/>
    <p:sldId xmlns:r="http://schemas.openxmlformats.org/officeDocument/2006/relationships" id="257" r:id="R8554283426e7454c"/>
    <p:sldId xmlns:r="http://schemas.openxmlformats.org/officeDocument/2006/relationships" id="258" r:id="R70c7df80997647e9"/>
    <p:sldId xmlns:r="http://schemas.openxmlformats.org/officeDocument/2006/relationships" id="259" r:id="R4b63add788cf4660"/>
    <p:sldId xmlns:r="http://schemas.openxmlformats.org/officeDocument/2006/relationships" id="260" r:id="R2fde4a2a8fa641ea"/>
    <p:sldId xmlns:r="http://schemas.openxmlformats.org/officeDocument/2006/relationships" id="261" r:id="R9d020056bec74b3f"/>
    <p:sldId xmlns:r="http://schemas.openxmlformats.org/officeDocument/2006/relationships" id="262" r:id="R8eacccb657844bf9"/>
    <p:sldId xmlns:r="http://schemas.openxmlformats.org/officeDocument/2006/relationships" id="263" r:id="R8f6102a9032f43e1"/>
    <p:sldId xmlns:r="http://schemas.openxmlformats.org/officeDocument/2006/relationships" id="264" r:id="Rcae6085cf2694adb"/>
    <p:sldId xmlns:r="http://schemas.openxmlformats.org/officeDocument/2006/relationships" id="265" r:id="Ra83401836f384a93"/>
    <p:sldId xmlns:r="http://schemas.openxmlformats.org/officeDocument/2006/relationships" id="266" r:id="R10b83c1e9fc84d61"/>
    <p:sldId xmlns:r="http://schemas.openxmlformats.org/officeDocument/2006/relationships" id="267" r:id="Ra678c3cf04644d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44e2f4cd34afc" /><Relationship Type="http://schemas.openxmlformats.org/officeDocument/2006/relationships/slideMaster" Target="/ppt/slideMasters/slideMaster1.xml" Id="R15051c0c6bdb4c57" /><Relationship Type="http://schemas.openxmlformats.org/officeDocument/2006/relationships/notesMaster" Target="/ppt/notesMasters/notesMaster1.xml" Id="R7dd7e4e142204b78" /><Relationship Type="http://schemas.openxmlformats.org/officeDocument/2006/relationships/presProps" Target="/ppt/presProps.xml" Id="Re73d488e32f748db" /><Relationship Type="http://schemas.openxmlformats.org/officeDocument/2006/relationships/tableStyles" Target="/ppt/tableStyles.xml" Id="R03d686718c6e4d10" /><Relationship Type="http://schemas.openxmlformats.org/officeDocument/2006/relationships/slide" Target="/ppt/slides/slide1.xml" Id="Ra30af9d66d5b4edc" /><Relationship Type="http://schemas.openxmlformats.org/officeDocument/2006/relationships/slide" Target="/ppt/slides/slide2.xml" Id="R8554283426e7454c" /><Relationship Type="http://schemas.openxmlformats.org/officeDocument/2006/relationships/slide" Target="/ppt/slides/slide3.xml" Id="R70c7df80997647e9" /><Relationship Type="http://schemas.openxmlformats.org/officeDocument/2006/relationships/slide" Target="/ppt/slides/slide4.xml" Id="R4b63add788cf4660" /><Relationship Type="http://schemas.openxmlformats.org/officeDocument/2006/relationships/slide" Target="/ppt/slides/slide5.xml" Id="R2fde4a2a8fa641ea" /><Relationship Type="http://schemas.openxmlformats.org/officeDocument/2006/relationships/slide" Target="/ppt/slides/slide6.xml" Id="R9d020056bec74b3f" /><Relationship Type="http://schemas.openxmlformats.org/officeDocument/2006/relationships/slide" Target="/ppt/slides/slide7.xml" Id="R8eacccb657844bf9" /><Relationship Type="http://schemas.openxmlformats.org/officeDocument/2006/relationships/slide" Target="/ppt/slides/slide8.xml" Id="R8f6102a9032f43e1" /><Relationship Type="http://schemas.openxmlformats.org/officeDocument/2006/relationships/slide" Target="/ppt/slides/slide9.xml" Id="Rcae6085cf2694adb" /><Relationship Type="http://schemas.openxmlformats.org/officeDocument/2006/relationships/slide" Target="/ppt/slides/slide10.xml" Id="Ra83401836f384a93" /><Relationship Type="http://schemas.openxmlformats.org/officeDocument/2006/relationships/slide" Target="/ppt/slides/slide11.xml" Id="R10b83c1e9fc84d61" /><Relationship Type="http://schemas.openxmlformats.org/officeDocument/2006/relationships/slide" Target="/ppt/slides/slide12.xml" Id="Ra678c3cf0464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e19295538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40443c3d74ac7" /><Relationship Type="http://schemas.openxmlformats.org/officeDocument/2006/relationships/notesMaster" Target="/ppt/notesMasters/notesMaster1.xml" Id="Rf84b8c37e6b9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6cb25774f4150" /><Relationship Type="http://schemas.openxmlformats.org/officeDocument/2006/relationships/notesMaster" Target="/ppt/notesMasters/notesMaster1.xml" Id="Rc2b9a8eeabf0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71b815ad4450b" /><Relationship Type="http://schemas.openxmlformats.org/officeDocument/2006/relationships/notesMaster" Target="/ppt/notesMasters/notesMaster1.xml" Id="Rf7ab198b84ba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4d68a1487e464f" /><Relationship Type="http://schemas.openxmlformats.org/officeDocument/2006/relationships/notesMaster" Target="/ppt/notesMasters/notesMaster1.xml" Id="R0b977d3e5fca4b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bf70478324428" /><Relationship Type="http://schemas.openxmlformats.org/officeDocument/2006/relationships/notesMaster" Target="/ppt/notesMasters/notesMaster1.xml" Id="R59e8b8bd02b34c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2baaece78f45b5" /><Relationship Type="http://schemas.openxmlformats.org/officeDocument/2006/relationships/notesMaster" Target="/ppt/notesMasters/notesMaster1.xml" Id="R3ddd0a5047df4f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ce88908ec5438a" /><Relationship Type="http://schemas.openxmlformats.org/officeDocument/2006/relationships/notesMaster" Target="/ppt/notesMasters/notesMaster1.xml" Id="Ra9ec950a7b3e4d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247a385914bd6" /><Relationship Type="http://schemas.openxmlformats.org/officeDocument/2006/relationships/notesMaster" Target="/ppt/notesMasters/notesMaster1.xml" Id="Rff55a8eb498d48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82c622f5684968" /><Relationship Type="http://schemas.openxmlformats.org/officeDocument/2006/relationships/notesMaster" Target="/ppt/notesMasters/notesMaster1.xml" Id="Rfb52642df0c541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e81693dffd407f" /><Relationship Type="http://schemas.openxmlformats.org/officeDocument/2006/relationships/notesMaster" Target="/ppt/notesMasters/notesMaster1.xml" Id="Rf7507610334047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9d04fb5928495f" /><Relationship Type="http://schemas.openxmlformats.org/officeDocument/2006/relationships/notesMaster" Target="/ppt/notesMasters/notesMaster1.xml" Id="R663ef215d9054f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1de652ad734bc5" /><Relationship Type="http://schemas.openxmlformats.org/officeDocument/2006/relationships/notesMaster" Target="/ppt/notesMasters/notesMaster1.xml" Id="Ra8500e12f885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c60e4e397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5b41e1d9d3418f" /><Relationship Type="http://schemas.openxmlformats.org/officeDocument/2006/relationships/slideLayout" Target="/ppt/slideLayouts/slideLayout1.xml" Id="R623d787192c640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d787192c640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92b95cb554801" /><Relationship Type="http://schemas.openxmlformats.org/officeDocument/2006/relationships/notesSlide" Target="/ppt/notesSlides/notesSlide1.xml" Id="Rab6ac2b80f484c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00837c41434e" /><Relationship Type="http://schemas.openxmlformats.org/officeDocument/2006/relationships/notesSlide" Target="/ppt/notesSlides/notesSlide2.xml" Id="Re3046f06ceb0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2dfb3b4b646df" /><Relationship Type="http://schemas.openxmlformats.org/officeDocument/2006/relationships/notesSlide" Target="/ppt/notesSlides/notesSlide3.xml" Id="R431d1c0bfe3e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a367263f24335" /><Relationship Type="http://schemas.openxmlformats.org/officeDocument/2006/relationships/notesSlide" Target="/ppt/notesSlides/notesSlide4.xml" Id="R0283a41f857d49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a8960a63b4f9c" /><Relationship Type="http://schemas.openxmlformats.org/officeDocument/2006/relationships/notesSlide" Target="/ppt/notesSlides/notesSlide5.xml" Id="Rb95e792e9d2145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b59f8c034b83" /><Relationship Type="http://schemas.openxmlformats.org/officeDocument/2006/relationships/notesSlide" Target="/ppt/notesSlides/notesSlide6.xml" Id="R5684c008a6b5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9e519988f4f59" /><Relationship Type="http://schemas.openxmlformats.org/officeDocument/2006/relationships/notesSlide" Target="/ppt/notesSlides/notesSlide7.xml" Id="R30da6ff3b6b243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4c27296564d4b" /><Relationship Type="http://schemas.openxmlformats.org/officeDocument/2006/relationships/notesSlide" Target="/ppt/notesSlides/notesSlide8.xml" Id="Rcbc9224e4c6445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9f046d42a4387" /><Relationship Type="http://schemas.openxmlformats.org/officeDocument/2006/relationships/notesSlide" Target="/ppt/notesSlides/notesSlide9.xml" Id="Ra7a246bbed524b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73a49d774f40" /><Relationship Type="http://schemas.openxmlformats.org/officeDocument/2006/relationships/notesSlide" Target="/ppt/notesSlides/notesSlide10.xml" Id="R7761e34fb5f147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a47c311d849fc" /><Relationship Type="http://schemas.openxmlformats.org/officeDocument/2006/relationships/notesSlide" Target="/ppt/notesSlides/notesSlide11.xml" Id="R0ea6fb9f87814e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8b892893d4497" /><Relationship Type="http://schemas.openxmlformats.org/officeDocument/2006/relationships/notesSlide" Target="/ppt/notesSlides/notesSlide12.xml" Id="R2bb075d58ee94b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FBDF047-22F9-4980-A5C5-31EEB06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F5396A4-7D49-410F-B8AB-3F79E319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F7695A-73BB-40EE-B5FD-7B4EDFB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5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タイタニック生存者予測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5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モデル作成から答え合わせまで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7EB1A48-2E4D-499B-B144-1574C8D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XGBoost / 層化5-fold CV / F1最適化 / 予測CSV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A207E9AE-2341-44CB-B02A-13D7598F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637249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48F6A361-A119-471A-B438-C12127E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2A2A82B-96BF-4593-A8A3-DF7014A4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ゴールは「予測CSVを正しく作る」こと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C9A523A1-4D79-49FA-AF5E-D181A94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4" name="flow-arrow-train">
            <a:extLst xmlns:a="http://schemas.openxmlformats.org/drawingml/2006/main">
              <a:ext uri="{FF2B5EF4-FFF2-40B4-BE49-F238E27FC236}">
                <a16:creationId xmlns:a16="http://schemas.microsoft.com/office/drawing/2014/main" id="{975F2835-9ECB-4B06-BD65-B787BEE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104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flow-arrow-test">
            <a:extLst xmlns:a="http://schemas.openxmlformats.org/drawingml/2006/main">
              <a:ext uri="{FF2B5EF4-FFF2-40B4-BE49-F238E27FC236}">
                <a16:creationId xmlns:a16="http://schemas.microsoft.com/office/drawing/2014/main" id="{E50DB14F-7EC3-4218-871B-E41D847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1104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flow-arrow-output">
            <a:extLst xmlns:a="http://schemas.openxmlformats.org/drawingml/2006/main">
              <a:ext uri="{FF2B5EF4-FFF2-40B4-BE49-F238E27FC236}">
                <a16:creationId xmlns:a16="http://schemas.microsoft.com/office/drawing/2014/main" id="{41E53B26-6B9F-4D26-A80F-0CB134F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11049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flow-train-panel">
            <a:extLst xmlns:a="http://schemas.openxmlformats.org/drawingml/2006/main">
              <a:ext uri="{FF2B5EF4-FFF2-40B4-BE49-F238E27FC236}">
                <a16:creationId xmlns:a16="http://schemas.microsoft.com/office/drawing/2014/main" id="{1FE8FC51-481D-4C6A-B1C1-02644475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low-train-title">
            <a:extLst xmlns:a="http://schemas.openxmlformats.org/drawingml/2006/main">
              <a:ext uri="{FF2B5EF4-FFF2-40B4-BE49-F238E27FC236}">
                <a16:creationId xmlns:a16="http://schemas.microsoft.com/office/drawing/2014/main" id="{69FE4A24-B777-4F6A-9FFE-4789E4D9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9" name="flow-train-body">
            <a:extLst xmlns:a="http://schemas.openxmlformats.org/drawingml/2006/main">
              <a:ext uri="{FF2B5EF4-FFF2-40B4-BE49-F238E27FC236}">
                <a16:creationId xmlns:a16="http://schemas.microsoft.com/office/drawing/2014/main" id="{717697F1-17C4-4B1C-A45B-0FD4315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712行・正解あり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モデルを学習</a:t>
            </a:r>
          </a:p>
        </p:txBody>
      </p:sp>
      <p:sp>
        <p:nvSpPr>
          <p:cNvPr id="10" name="flow-test-panel">
            <a:extLst xmlns:a="http://schemas.openxmlformats.org/drawingml/2006/main">
              <a:ext uri="{FF2B5EF4-FFF2-40B4-BE49-F238E27FC236}">
                <a16:creationId xmlns:a16="http://schemas.microsoft.com/office/drawing/2014/main" id="{D72A7155-3199-465E-8057-C2BC9CF1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low-test-title">
            <a:extLst xmlns:a="http://schemas.openxmlformats.org/drawingml/2006/main">
              <a:ext uri="{FF2B5EF4-FFF2-40B4-BE49-F238E27FC236}">
                <a16:creationId xmlns:a16="http://schemas.microsoft.com/office/drawing/2014/main" id="{20020C2F-478E-4F81-90D9-1F3E3CE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test</a:t>
            </a:r>
          </a:p>
        </p:txBody>
      </p:sp>
      <p:sp>
        <p:nvSpPr>
          <p:cNvPr id="12" name="flow-test-body">
            <a:extLst xmlns:a="http://schemas.openxmlformats.org/drawingml/2006/main">
              <a:ext uri="{FF2B5EF4-FFF2-40B4-BE49-F238E27FC236}">
                <a16:creationId xmlns:a16="http://schemas.microsoft.com/office/drawing/2014/main" id="{8A00AF7D-0009-41D4-BA29-DD3A327C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179行・正解なし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最終モデルへ入力</a:t>
            </a:r>
          </a:p>
        </p:txBody>
      </p:sp>
      <p:sp>
        <p:nvSpPr>
          <p:cNvPr id="13" name="flow-model-panel">
            <a:extLst xmlns:a="http://schemas.openxmlformats.org/drawingml/2006/main">
              <a:ext uri="{FF2B5EF4-FFF2-40B4-BE49-F238E27FC236}">
                <a16:creationId xmlns:a16="http://schemas.microsoft.com/office/drawing/2014/main" id="{78FB3A52-AF1A-40B5-82A7-A255D84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flow-model-title">
            <a:extLst xmlns:a="http://schemas.openxmlformats.org/drawingml/2006/main">
              <a:ext uri="{FF2B5EF4-FFF2-40B4-BE49-F238E27FC236}">
                <a16:creationId xmlns:a16="http://schemas.microsoft.com/office/drawing/2014/main" id="{9F938A34-BD94-4A5A-9C61-AD30568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860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XGBoost</a:t>
            </a:r>
          </a:p>
        </p:txBody>
      </p:sp>
      <p:sp>
        <p:nvSpPr>
          <p:cNvPr id="15" name="flow-model-body">
            <a:extLst xmlns:a="http://schemas.openxmlformats.org/drawingml/2006/main">
              <a:ext uri="{FF2B5EF4-FFF2-40B4-BE49-F238E27FC236}">
                <a16:creationId xmlns:a16="http://schemas.microsoft.com/office/drawing/2014/main" id="{217D86CF-E197-43C2-A8EE-2CD65A4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43200"/>
            <a:ext cx="2705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trainで学習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testを前処理し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生存確率を予測</a:t>
            </a:r>
          </a:p>
        </p:txBody>
      </p:sp>
      <p:sp>
        <p:nvSpPr>
          <p:cNvPr id="16" name="flow-csv-panel">
            <a:extLst xmlns:a="http://schemas.openxmlformats.org/drawingml/2006/main">
              <a:ext uri="{FF2B5EF4-FFF2-40B4-BE49-F238E27FC236}">
                <a16:creationId xmlns:a16="http://schemas.microsoft.com/office/drawing/2014/main" id="{851E74E6-217E-4E64-9709-1E66910C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200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flow-csv-title">
            <a:extLst xmlns:a="http://schemas.openxmlformats.org/drawingml/2006/main">
              <a:ext uri="{FF2B5EF4-FFF2-40B4-BE49-F238E27FC236}">
                <a16:creationId xmlns:a16="http://schemas.microsoft.com/office/drawing/2014/main" id="{F76E5E59-0BF9-40F8-846A-C0F4B5E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予測CSV</a:t>
            </a:r>
          </a:p>
        </p:txBody>
      </p:sp>
      <p:sp>
        <p:nvSpPr>
          <p:cNvPr id="18" name="flow-csv-body">
            <a:extLst xmlns:a="http://schemas.openxmlformats.org/drawingml/2006/main">
              <a:ext uri="{FF2B5EF4-FFF2-40B4-BE49-F238E27FC236}">
                <a16:creationId xmlns:a16="http://schemas.microsoft.com/office/drawing/2014/main" id="{5DE26E6F-A8B9-45AD-BAE8-B782DFA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819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PassengerId / Survived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2列・179行</a:t>
            </a:r>
          </a:p>
        </p:txBody>
      </p:sp>
      <p:sp>
        <p:nvSpPr>
          <p:cNvPr id="19" name="id-key-panel">
            <a:extLst xmlns:a="http://schemas.openxmlformats.org/drawingml/2006/main">
              <a:ext uri="{FF2B5EF4-FFF2-40B4-BE49-F238E27FC236}">
                <a16:creationId xmlns:a16="http://schemas.microsoft.com/office/drawing/2014/main" id="{77E3B415-3FDA-461C-9EED-A8CB9EFC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id-key-title">
            <a:extLst xmlns:a="http://schemas.openxmlformats.org/drawingml/2006/main">
              <a:ext uri="{FF2B5EF4-FFF2-40B4-BE49-F238E27FC236}">
                <a16:creationId xmlns:a16="http://schemas.microsoft.com/office/drawing/2014/main" id="{5623B433-3C80-4BF0-9CB0-A138A3C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PassengerIdの役割</a:t>
            </a:r>
          </a:p>
        </p:txBody>
      </p:sp>
      <p:sp>
        <p:nvSpPr>
          <p:cNvPr id="21" name="id-key-body">
            <a:extLst xmlns:a="http://schemas.openxmlformats.org/drawingml/2006/main">
              <a:ext uri="{FF2B5EF4-FFF2-40B4-BE49-F238E27FC236}">
                <a16:creationId xmlns:a16="http://schemas.microsoft.com/office/drawing/2014/main" id="{15F3EB70-927D-4AC3-9EBB-E710D85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9725"/>
            <a:ext cx="769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特徴量には入れず、test予測と正解を1対1で対応づけるキーにする。</a:t>
            </a:r>
          </a:p>
        </p:txBody>
      </p:sp>
    </p:spTree>
    <p:extLst>
      <p:ext uri="{BB962C8B-B14F-4D97-AF65-F5344CB8AC3E}">
        <p14:creationId xmlns:p14="http://schemas.microsoft.com/office/powerpoint/2010/main" val="662207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84DB6871-161C-4DB1-9090-2AE7451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4C7CAEF-3C1C-46F1-9E35-1E5E665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trainとtestは役割を分けて扱う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F67DF02-7DA4-477E-88A6-ED91085A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" name="data-train-label">
            <a:extLst xmlns:a="http://schemas.openxmlformats.org/drawingml/2006/main">
              <a:ext uri="{FF2B5EF4-FFF2-40B4-BE49-F238E27FC236}">
                <a16:creationId xmlns:a16="http://schemas.microsoft.com/office/drawing/2014/main" id="{60D64683-E402-4C60-95DF-F54A94B9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学習側</a:t>
            </a:r>
          </a:p>
        </p:txBody>
      </p:sp>
      <p:sp>
        <p:nvSpPr>
          <p:cNvPr id="5" name="data-train-panel">
            <a:extLst xmlns:a="http://schemas.openxmlformats.org/drawingml/2006/main">
              <a:ext uri="{FF2B5EF4-FFF2-40B4-BE49-F238E27FC236}">
                <a16:creationId xmlns:a16="http://schemas.microsoft.com/office/drawing/2014/main" id="{E30369EF-10FB-4666-93AD-2F89FCC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219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ata-train-title">
            <a:extLst xmlns:a="http://schemas.openxmlformats.org/drawingml/2006/main">
              <a:ext uri="{FF2B5EF4-FFF2-40B4-BE49-F238E27FC236}">
                <a16:creationId xmlns:a16="http://schemas.microsoft.com/office/drawing/2014/main" id="{EBD6BFA7-B2CF-4B59-8F00-D357DF3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train_titanic.csv</a:t>
            </a:r>
          </a:p>
        </p:txBody>
      </p:sp>
      <p:sp>
        <p:nvSpPr>
          <p:cNvPr id="7" name="data-train-body">
            <a:extLst xmlns:a="http://schemas.openxmlformats.org/drawingml/2006/main">
              <a:ext uri="{FF2B5EF4-FFF2-40B4-BE49-F238E27FC236}">
                <a16:creationId xmlns:a16="http://schemas.microsoft.com/office/drawing/2014/main" id="{7E98F32A-D8D4-45E9-A35D-857D577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4838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・712行 × 12列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・正解列 Survived を含む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・X_raw：説明変数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・y：0/1の正解ラベル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・生存者割合：38.34%</a:t>
            </a:r>
          </a:p>
        </p:txBody>
      </p:sp>
      <p:sp>
        <p:nvSpPr>
          <p:cNvPr id="8" name="data-test-label">
            <a:extLst xmlns:a="http://schemas.openxmlformats.org/drawingml/2006/main">
              <a:ext uri="{FF2B5EF4-FFF2-40B4-BE49-F238E27FC236}">
                <a16:creationId xmlns:a16="http://schemas.microsoft.com/office/drawing/2014/main" id="{B632645B-FFCC-47B5-A902-867CFE27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予測側</a:t>
            </a:r>
          </a:p>
        </p:txBody>
      </p:sp>
      <p:sp>
        <p:nvSpPr>
          <p:cNvPr id="9" name="data-test-panel">
            <a:extLst xmlns:a="http://schemas.openxmlformats.org/drawingml/2006/main">
              <a:ext uri="{FF2B5EF4-FFF2-40B4-BE49-F238E27FC236}">
                <a16:creationId xmlns:a16="http://schemas.microsoft.com/office/drawing/2014/main" id="{F6043DE0-4F82-4FFD-A596-8384236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5257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data-test-title">
            <a:extLst xmlns:a="http://schemas.openxmlformats.org/drawingml/2006/main">
              <a:ext uri="{FF2B5EF4-FFF2-40B4-BE49-F238E27FC236}">
                <a16:creationId xmlns:a16="http://schemas.microsoft.com/office/drawing/2014/main" id="{493D29BA-C373-4190-914A-3D7B786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test_titanic.csv</a:t>
            </a:r>
          </a:p>
        </p:txBody>
      </p:sp>
      <p:sp>
        <p:nvSpPr>
          <p:cNvPr id="11" name="data-test-body">
            <a:extLst xmlns:a="http://schemas.openxmlformats.org/drawingml/2006/main">
              <a:ext uri="{FF2B5EF4-FFF2-40B4-BE49-F238E27FC236}">
                <a16:creationId xmlns:a16="http://schemas.microsoft.com/office/drawing/2014/main" id="{06B037BC-3491-4186-A59C-760FC33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876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・179行 × 11列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・Survived は含まない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・trainと同じ説明変数・列順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・PassengerIdをtest_idsとして保存</a:t>
            </a:r>
          </a:p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・最終モデルの予測先</a:t>
            </a:r>
          </a:p>
        </p:txBody>
      </p:sp>
      <p:sp>
        <p:nvSpPr>
          <p:cNvPr id="12" name="data-validation-title">
            <a:extLst xmlns:a="http://schemas.openxmlformats.org/drawingml/2006/main">
              <a:ext uri="{FF2B5EF4-FFF2-40B4-BE49-F238E27FC236}">
                <a16:creationId xmlns:a16="http://schemas.microsoft.com/office/drawing/2014/main" id="{E2A516C2-F6FE-4F96-9D4F-4D38D02F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読み込み直後に止めるエラー</a:t>
            </a:r>
          </a:p>
        </p:txBody>
      </p:sp>
      <p:sp>
        <p:nvSpPr>
          <p:cNvPr id="13" name="data-validation-body">
            <a:extLst xmlns:a="http://schemas.openxmlformats.org/drawingml/2006/main">
              <a:ext uri="{FF2B5EF4-FFF2-40B4-BE49-F238E27FC236}">
                <a16:creationId xmlns:a16="http://schemas.microsoft.com/office/drawing/2014/main" id="{704B0D3F-CF64-43F6-AC92-AAA36582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① ファイルなし　② train/testの列不一致　③ PassengerId重複　④ Survivedの欠損・0/1以外</a:t>
            </a:r>
          </a:p>
        </p:txBody>
      </p:sp>
    </p:spTree>
    <p:extLst>
      <p:ext uri="{BB962C8B-B14F-4D97-AF65-F5344CB8AC3E}">
        <p14:creationId xmlns:p14="http://schemas.microsoft.com/office/powerpoint/2010/main" val="253735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902F8680-5FE0-4AA9-BC30-C4DA03C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E877900-61CA-4C3E-B7CD-1889DC94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主な8つの派生特徴量を作る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13185141-336A-4A92-B37C-A027286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" name="feat-1-panel">
            <a:extLst xmlns:a="http://schemas.openxmlformats.org/drawingml/2006/main">
              <a:ext uri="{FF2B5EF4-FFF2-40B4-BE49-F238E27FC236}">
                <a16:creationId xmlns:a16="http://schemas.microsoft.com/office/drawing/2014/main" id="{0DF37474-7CB6-40AB-A449-519ACF3D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feat-1-title">
            <a:extLst xmlns:a="http://schemas.openxmlformats.org/drawingml/2006/main">
              <a:ext uri="{FF2B5EF4-FFF2-40B4-BE49-F238E27FC236}">
                <a16:creationId xmlns:a16="http://schemas.microsoft.com/office/drawing/2014/main" id="{95656BE4-2093-4683-80C8-CEA8014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Pclass</a:t>
            </a:r>
          </a:p>
        </p:txBody>
      </p:sp>
      <p:sp>
        <p:nvSpPr>
          <p:cNvPr id="6" name="feat-1-body">
            <a:extLst xmlns:a="http://schemas.openxmlformats.org/drawingml/2006/main">
              <a:ext uri="{FF2B5EF4-FFF2-40B4-BE49-F238E27FC236}">
                <a16:creationId xmlns:a16="http://schemas.microsoft.com/office/drawing/2014/main" id="{174B8141-C9ED-4038-9762-BCE4154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等級1/2/3を区別</a:t>
            </a:r>
          </a:p>
        </p:txBody>
      </p:sp>
      <p:sp>
        <p:nvSpPr>
          <p:cNvPr id="7" name="feat-2-panel">
            <a:extLst xmlns:a="http://schemas.openxmlformats.org/drawingml/2006/main">
              <a:ext uri="{FF2B5EF4-FFF2-40B4-BE49-F238E27FC236}">
                <a16:creationId xmlns:a16="http://schemas.microsoft.com/office/drawing/2014/main" id="{94E74002-252F-4AFC-8CAF-F0B2E365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eat-2-title">
            <a:extLst xmlns:a="http://schemas.openxmlformats.org/drawingml/2006/main">
              <a:ext uri="{FF2B5EF4-FFF2-40B4-BE49-F238E27FC236}">
                <a16:creationId xmlns:a16="http://schemas.microsoft.com/office/drawing/2014/main" id="{C466A672-DBF5-4A09-AFC7-B5897348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FamilySize</a:t>
            </a:r>
          </a:p>
        </p:txBody>
      </p:sp>
      <p:sp>
        <p:nvSpPr>
          <p:cNvPr id="9" name="feat-2-body">
            <a:extLst xmlns:a="http://schemas.openxmlformats.org/drawingml/2006/main">
              <a:ext uri="{FF2B5EF4-FFF2-40B4-BE49-F238E27FC236}">
                <a16:creationId xmlns:a16="http://schemas.microsoft.com/office/drawing/2014/main" id="{F4E90289-E792-4E5C-8BD5-90A33F0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SibSp + Parch + 1</a:t>
            </a:r>
          </a:p>
        </p:txBody>
      </p:sp>
      <p:sp>
        <p:nvSpPr>
          <p:cNvPr id="10" name="feat-3-panel">
            <a:extLst xmlns:a="http://schemas.openxmlformats.org/drawingml/2006/main">
              <a:ext uri="{FF2B5EF4-FFF2-40B4-BE49-F238E27FC236}">
                <a16:creationId xmlns:a16="http://schemas.microsoft.com/office/drawing/2014/main" id="{0148636B-E127-490D-A42D-9F7EE1E0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eat-3-title">
            <a:extLst xmlns:a="http://schemas.openxmlformats.org/drawingml/2006/main">
              <a:ext uri="{FF2B5EF4-FFF2-40B4-BE49-F238E27FC236}">
                <a16:creationId xmlns:a16="http://schemas.microsoft.com/office/drawing/2014/main" id="{5BDAAB05-A99B-4AF5-A5C9-2466D33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IsAlone</a:t>
            </a:r>
          </a:p>
        </p:txBody>
      </p:sp>
      <p:sp>
        <p:nvSpPr>
          <p:cNvPr id="12" name="feat-3-body">
            <a:extLst xmlns:a="http://schemas.openxmlformats.org/drawingml/2006/main">
              <a:ext uri="{FF2B5EF4-FFF2-40B4-BE49-F238E27FC236}">
                <a16:creationId xmlns:a16="http://schemas.microsoft.com/office/drawing/2014/main" id="{CCACBB00-D5F4-4F62-9F8F-3E12E788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FamilySize=1なら1</a:t>
            </a:r>
          </a:p>
        </p:txBody>
      </p:sp>
      <p:sp>
        <p:nvSpPr>
          <p:cNvPr id="13" name="feat-4-panel">
            <a:extLst xmlns:a="http://schemas.openxmlformats.org/drawingml/2006/main">
              <a:ext uri="{FF2B5EF4-FFF2-40B4-BE49-F238E27FC236}">
                <a16:creationId xmlns:a16="http://schemas.microsoft.com/office/drawing/2014/main" id="{0FFA027E-63E1-4225-BC58-66D9887F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eat-4-title">
            <a:extLst xmlns:a="http://schemas.openxmlformats.org/drawingml/2006/main">
              <a:ext uri="{FF2B5EF4-FFF2-40B4-BE49-F238E27FC236}">
                <a16:creationId xmlns:a16="http://schemas.microsoft.com/office/drawing/2014/main" id="{1B1431D5-4912-4F64-8BA7-7E58F05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050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FarePerPerson</a:t>
            </a:r>
          </a:p>
        </p:txBody>
      </p:sp>
      <p:sp>
        <p:nvSpPr>
          <p:cNvPr id="15" name="feat-4-body">
            <a:extLst xmlns:a="http://schemas.openxmlformats.org/drawingml/2006/main">
              <a:ext uri="{FF2B5EF4-FFF2-40B4-BE49-F238E27FC236}">
                <a16:creationId xmlns:a16="http://schemas.microsoft.com/office/drawing/2014/main" id="{EA08AB93-5FD8-466D-A77E-1FCD573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Fare ÷ FamilySize</a:t>
            </a:r>
          </a:p>
        </p:txBody>
      </p:sp>
      <p:sp>
        <p:nvSpPr>
          <p:cNvPr id="16" name="feat-5-panel">
            <a:extLst xmlns:a="http://schemas.openxmlformats.org/drawingml/2006/main">
              <a:ext uri="{FF2B5EF4-FFF2-40B4-BE49-F238E27FC236}">
                <a16:creationId xmlns:a16="http://schemas.microsoft.com/office/drawing/2014/main" id="{6AAC32B5-2E17-4D2B-B5CF-D37EA1F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feat-5-title">
            <a:extLst xmlns:a="http://schemas.openxmlformats.org/drawingml/2006/main">
              <a:ext uri="{FF2B5EF4-FFF2-40B4-BE49-F238E27FC236}">
                <a16:creationId xmlns:a16="http://schemas.microsoft.com/office/drawing/2014/main" id="{A1C0C476-AEB0-4E04-9E14-35AF59EA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Title</a:t>
            </a:r>
          </a:p>
        </p:txBody>
      </p:sp>
      <p:sp>
        <p:nvSpPr>
          <p:cNvPr id="18" name="feat-5-body">
            <a:extLst xmlns:a="http://schemas.openxmlformats.org/drawingml/2006/main">
              <a:ext uri="{FF2B5EF4-FFF2-40B4-BE49-F238E27FC236}">
                <a16:creationId xmlns:a16="http://schemas.microsoft.com/office/drawing/2014/main" id="{392BDCC5-8AD9-4DC6-A097-5D070AA1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Nameから敬称を抽出</a:t>
            </a:r>
          </a:p>
        </p:txBody>
      </p:sp>
      <p:sp>
        <p:nvSpPr>
          <p:cNvPr id="19" name="feat-6-panel">
            <a:extLst xmlns:a="http://schemas.openxmlformats.org/drawingml/2006/main">
              <a:ext uri="{FF2B5EF4-FFF2-40B4-BE49-F238E27FC236}">
                <a16:creationId xmlns:a16="http://schemas.microsoft.com/office/drawing/2014/main" id="{F71384B0-8B08-432F-8425-11151F3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eat-6-title">
            <a:extLst xmlns:a="http://schemas.openxmlformats.org/drawingml/2006/main">
              <a:ext uri="{FF2B5EF4-FFF2-40B4-BE49-F238E27FC236}">
                <a16:creationId xmlns:a16="http://schemas.microsoft.com/office/drawing/2014/main" id="{0C256F6C-703B-4878-9BBB-5EC9F26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CabinDeck</a:t>
            </a:r>
          </a:p>
        </p:txBody>
      </p:sp>
      <p:sp>
        <p:nvSpPr>
          <p:cNvPr id="21" name="feat-6-body">
            <a:extLst xmlns:a="http://schemas.openxmlformats.org/drawingml/2006/main">
              <a:ext uri="{FF2B5EF4-FFF2-40B4-BE49-F238E27FC236}">
                <a16:creationId xmlns:a16="http://schemas.microsoft.com/office/drawing/2014/main" id="{17792ADC-4D74-445B-9DF4-60B881F7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5295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Cabin先頭文字を抽出</a:t>
            </a:r>
          </a:p>
        </p:txBody>
      </p:sp>
      <p:sp>
        <p:nvSpPr>
          <p:cNvPr id="22" name="feat-7-panel">
            <a:extLst xmlns:a="http://schemas.openxmlformats.org/drawingml/2006/main">
              <a:ext uri="{FF2B5EF4-FFF2-40B4-BE49-F238E27FC236}">
                <a16:creationId xmlns:a16="http://schemas.microsoft.com/office/drawing/2014/main" id="{35DD6CCF-75FD-42F5-86FA-6F8793D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feat-7-title">
            <a:extLst xmlns:a="http://schemas.openxmlformats.org/drawingml/2006/main">
              <a:ext uri="{FF2B5EF4-FFF2-40B4-BE49-F238E27FC236}">
                <a16:creationId xmlns:a16="http://schemas.microsoft.com/office/drawing/2014/main" id="{0F3DAAF9-DFE5-4F90-8F27-2779255F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欠損フラグ</a:t>
            </a:r>
          </a:p>
        </p:txBody>
      </p:sp>
      <p:sp>
        <p:nvSpPr>
          <p:cNvPr id="24" name="feat-7-body">
            <a:extLst xmlns:a="http://schemas.openxmlformats.org/drawingml/2006/main">
              <a:ext uri="{FF2B5EF4-FFF2-40B4-BE49-F238E27FC236}">
                <a16:creationId xmlns:a16="http://schemas.microsoft.com/office/drawing/2014/main" id="{E8958FF8-9975-4932-9335-E934050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AgeMissing / HasCabin</a:t>
            </a:r>
          </a:p>
        </p:txBody>
      </p:sp>
      <p:sp>
        <p:nvSpPr>
          <p:cNvPr id="25" name="feat-8-panel">
            <a:extLst xmlns:a="http://schemas.openxmlformats.org/drawingml/2006/main">
              <a:ext uri="{FF2B5EF4-FFF2-40B4-BE49-F238E27FC236}">
                <a16:creationId xmlns:a16="http://schemas.microsoft.com/office/drawing/2014/main" id="{58940C33-5977-4470-9348-B9084841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feat-8-title">
            <a:extLst xmlns:a="http://schemas.openxmlformats.org/drawingml/2006/main">
              <a:ext uri="{FF2B5EF4-FFF2-40B4-BE49-F238E27FC236}">
                <a16:creationId xmlns:a16="http://schemas.microsoft.com/office/drawing/2014/main" id="{B6A4D6D7-9B23-4965-ACF3-3A3E63E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TicketPrefix</a:t>
            </a:r>
          </a:p>
        </p:txBody>
      </p:sp>
      <p:sp>
        <p:nvSpPr>
          <p:cNvPr id="27" name="feat-8-body">
            <a:extLst xmlns:a="http://schemas.openxmlformats.org/drawingml/2006/main">
              <a:ext uri="{FF2B5EF4-FFF2-40B4-BE49-F238E27FC236}">
                <a16:creationId xmlns:a16="http://schemas.microsoft.com/office/drawing/2014/main" id="{0D8EA4CC-7720-4B80-9268-8C7C5BB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52950"/>
            <a:ext cx="2057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数字・記号を除いて接頭辞を残す</a:t>
            </a:r>
          </a:p>
        </p:txBody>
      </p:sp>
    </p:spTree>
    <p:extLst>
      <p:ext uri="{BB962C8B-B14F-4D97-AF65-F5344CB8AC3E}">
        <p14:creationId xmlns:p14="http://schemas.microsoft.com/office/powerpoint/2010/main" val="523410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9824FF4D-0609-4F16-8082-B72F2603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0A66D75-8290-4B49-8304-B020874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列の種類ごとに前処理を分け、漏洩を防ぐ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2FE371AA-34FA-4708-9DA7-4E13DFD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" name="prep-num-panel">
            <a:extLst xmlns:a="http://schemas.openxmlformats.org/drawingml/2006/main">
              <a:ext uri="{FF2B5EF4-FFF2-40B4-BE49-F238E27FC236}">
                <a16:creationId xmlns:a16="http://schemas.microsoft.com/office/drawing/2014/main" id="{BF66B280-765B-4798-BC05-ADCD41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ep-num-title">
            <a:extLst xmlns:a="http://schemas.openxmlformats.org/drawingml/2006/main">
              <a:ext uri="{FF2B5EF4-FFF2-40B4-BE49-F238E27FC236}">
                <a16:creationId xmlns:a16="http://schemas.microsoft.com/office/drawing/2014/main" id="{9CC1ABCB-D1C9-4072-849B-E9953C3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数値列</a:t>
            </a:r>
          </a:p>
        </p:txBody>
      </p:sp>
      <p:sp>
        <p:nvSpPr>
          <p:cNvPr id="6" name="prep-num-body">
            <a:extLst xmlns:a="http://schemas.openxmlformats.org/drawingml/2006/main">
              <a:ext uri="{FF2B5EF4-FFF2-40B4-BE49-F238E27FC236}">
                <a16:creationId xmlns:a16="http://schemas.microsoft.com/office/drawing/2014/main" id="{CB9CD1FB-6CEB-415C-83AF-5DF7F22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971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Age / Fare / FamilySize など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1. 数値へ安全に変換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2. 学習foldの中央値を計算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3. 欠損を中央値で補完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外れ値の影響を受けにくい中央値を使う。</a:t>
            </a:r>
          </a:p>
        </p:txBody>
      </p:sp>
      <p:sp>
        <p:nvSpPr>
          <p:cNvPr id="7" name="prep-cat-panel">
            <a:extLst xmlns:a="http://schemas.openxmlformats.org/drawingml/2006/main">
              <a:ext uri="{FF2B5EF4-FFF2-40B4-BE49-F238E27FC236}">
                <a16:creationId xmlns:a16="http://schemas.microsoft.com/office/drawing/2014/main" id="{8CC0452D-A480-4D4B-8B95-B540A89A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528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rep-cat-title">
            <a:extLst xmlns:a="http://schemas.openxmlformats.org/drawingml/2006/main">
              <a:ext uri="{FF2B5EF4-FFF2-40B4-BE49-F238E27FC236}">
                <a16:creationId xmlns:a16="http://schemas.microsoft.com/office/drawing/2014/main" id="{4C65BBC1-8E44-47CE-8076-0DE0BAA9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カテゴリ列</a:t>
            </a:r>
          </a:p>
        </p:txBody>
      </p:sp>
      <p:sp>
        <p:nvSpPr>
          <p:cNvPr id="9" name="prep-cat-body">
            <a:extLst xmlns:a="http://schemas.openxmlformats.org/drawingml/2006/main">
              <a:ext uri="{FF2B5EF4-FFF2-40B4-BE49-F238E27FC236}">
                <a16:creationId xmlns:a16="http://schemas.microsoft.com/office/drawing/2014/main" id="{67C14851-81FA-42F5-A884-396F25AE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Sex / Embarked / Title など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1. 欠損をUnknownへ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2. One-hot encoding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3. 未知カテゴリはignore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文字列をXGBoostが扱える0/1列へ変える。</a:t>
            </a:r>
          </a:p>
        </p:txBody>
      </p:sp>
      <p:sp>
        <p:nvSpPr>
          <p:cNvPr id="10" name="prep-leak-panel">
            <a:extLst xmlns:a="http://schemas.openxmlformats.org/drawingml/2006/main">
              <a:ext uri="{FF2B5EF4-FFF2-40B4-BE49-F238E27FC236}">
                <a16:creationId xmlns:a16="http://schemas.microsoft.com/office/drawing/2014/main" id="{7017F881-BC63-4762-A61F-9B8DECC7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718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prep-leak-title">
            <a:extLst xmlns:a="http://schemas.openxmlformats.org/drawingml/2006/main">
              <a:ext uri="{FF2B5EF4-FFF2-40B4-BE49-F238E27FC236}">
                <a16:creationId xmlns:a16="http://schemas.microsoft.com/office/drawing/2014/main" id="{0A5C908D-2EBC-42CB-87ED-6BEB0DF9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データ漏洩対策</a:t>
            </a:r>
          </a:p>
        </p:txBody>
      </p:sp>
      <p:sp>
        <p:nvSpPr>
          <p:cNvPr id="12" name="prep-leak-body">
            <a:extLst xmlns:a="http://schemas.openxmlformats.org/drawingml/2006/main">
              <a:ext uri="{FF2B5EF4-FFF2-40B4-BE49-F238E27FC236}">
                <a16:creationId xmlns:a16="http://schemas.microsoft.com/office/drawing/2014/main" id="{33D490BE-0649-4862-B5A9-EA3D1ADE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学習fold：fit_transform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検証fold：transformのみ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test：transformのみ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中央値やカテゴリ一覧を検証・testから学ばない。</a:t>
            </a:r>
          </a:p>
        </p:txBody>
      </p:sp>
      <p:sp>
        <p:nvSpPr>
          <p:cNvPr id="13" name="prep-result">
            <a:extLst xmlns:a="http://schemas.openxmlformats.org/drawingml/2006/main">
              <a:ext uri="{FF2B5EF4-FFF2-40B4-BE49-F238E27FC236}">
                <a16:creationId xmlns:a16="http://schemas.microsoft.com/office/drawing/2014/main" id="{2F0D6A11-03F6-4D04-B124-13F4A76F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変換結果：15特徴量 → One-hot encoding後 60列　｜　XGBoostのため標準化は行わない</a:t>
            </a:r>
          </a:p>
        </p:txBody>
      </p:sp>
    </p:spTree>
    <p:extLst>
      <p:ext uri="{BB962C8B-B14F-4D97-AF65-F5344CB8AC3E}">
        <p14:creationId xmlns:p14="http://schemas.microsoft.com/office/powerpoint/2010/main" val="1621473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273C9ED8-4EA7-4D83-ACDC-C530560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91131DC-3716-4B2F-BF6E-89393264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層化5-foldで、全712行のOOF予測を作る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C13FA2B-E798-463F-9C9A-9941CFC8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4" name="fold-band-1">
            <a:extLst xmlns:a="http://schemas.openxmlformats.org/drawingml/2006/main">
              <a:ext uri="{FF2B5EF4-FFF2-40B4-BE49-F238E27FC236}">
                <a16:creationId xmlns:a16="http://schemas.microsoft.com/office/drawing/2014/main" id="{56757C62-0209-4F67-8CAA-FA77533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fold-band-text-1">
            <a:extLst xmlns:a="http://schemas.openxmlformats.org/drawingml/2006/main">
              <a:ext uri="{FF2B5EF4-FFF2-40B4-BE49-F238E27FC236}">
                <a16:creationId xmlns:a16="http://schemas.microsoft.com/office/drawing/2014/main" id="{D2A3085A-5322-4695-AFB2-21EB79E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fold 1</a:t>
            </a:r>
          </a:p>
        </p:txBody>
      </p:sp>
      <p:sp>
        <p:nvSpPr>
          <p:cNvPr id="6" name="fold-band-2">
            <a:extLst xmlns:a="http://schemas.openxmlformats.org/drawingml/2006/main">
              <a:ext uri="{FF2B5EF4-FFF2-40B4-BE49-F238E27FC236}">
                <a16:creationId xmlns:a16="http://schemas.microsoft.com/office/drawing/2014/main" id="{BAC936EC-0DB8-4BED-8982-41730654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049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ld-band-text-2">
            <a:extLst xmlns:a="http://schemas.openxmlformats.org/drawingml/2006/main">
              <a:ext uri="{FF2B5EF4-FFF2-40B4-BE49-F238E27FC236}">
                <a16:creationId xmlns:a16="http://schemas.microsoft.com/office/drawing/2014/main" id="{3E3C24D8-BA03-4820-8F22-702071C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fold 2</a:t>
            </a:r>
          </a:p>
        </p:txBody>
      </p:sp>
      <p:sp>
        <p:nvSpPr>
          <p:cNvPr id="8" name="fold-band-3">
            <a:extLst xmlns:a="http://schemas.openxmlformats.org/drawingml/2006/main">
              <a:ext uri="{FF2B5EF4-FFF2-40B4-BE49-F238E27FC236}">
                <a16:creationId xmlns:a16="http://schemas.microsoft.com/office/drawing/2014/main" id="{7A61EACC-5FEC-4B78-8490-47C32443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49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old-band-text-3">
            <a:extLst xmlns:a="http://schemas.openxmlformats.org/drawingml/2006/main">
              <a:ext uri="{FF2B5EF4-FFF2-40B4-BE49-F238E27FC236}">
                <a16:creationId xmlns:a16="http://schemas.microsoft.com/office/drawing/2014/main" id="{CA1F3440-C3C3-4C35-97E6-EC925724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fold 3</a:t>
            </a:r>
          </a:p>
        </p:txBody>
      </p:sp>
      <p:sp>
        <p:nvSpPr>
          <p:cNvPr id="10" name="fold-band-4">
            <a:extLst xmlns:a="http://schemas.openxmlformats.org/drawingml/2006/main">
              <a:ext uri="{FF2B5EF4-FFF2-40B4-BE49-F238E27FC236}">
                <a16:creationId xmlns:a16="http://schemas.microsoft.com/office/drawing/2014/main" id="{E5DF89C6-00CB-4612-95F0-166ECCD1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old-band-text-4">
            <a:extLst xmlns:a="http://schemas.openxmlformats.org/drawingml/2006/main">
              <a:ext uri="{FF2B5EF4-FFF2-40B4-BE49-F238E27FC236}">
                <a16:creationId xmlns:a16="http://schemas.microsoft.com/office/drawing/2014/main" id="{3F66F65C-9B6F-4528-ABF6-C63042B7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fold 4</a:t>
            </a:r>
          </a:p>
        </p:txBody>
      </p:sp>
      <p:sp>
        <p:nvSpPr>
          <p:cNvPr id="12" name="fold-band-5">
            <a:extLst xmlns:a="http://schemas.openxmlformats.org/drawingml/2006/main">
              <a:ext uri="{FF2B5EF4-FFF2-40B4-BE49-F238E27FC236}">
                <a16:creationId xmlns:a16="http://schemas.microsoft.com/office/drawing/2014/main" id="{685FC366-E52D-4863-A69E-E597F377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old-band-text-5">
            <a:extLst xmlns:a="http://schemas.openxmlformats.org/drawingml/2006/main">
              <a:ext uri="{FF2B5EF4-FFF2-40B4-BE49-F238E27FC236}">
                <a16:creationId xmlns:a16="http://schemas.microsoft.com/office/drawing/2014/main" id="{8A88CB20-F8D6-455C-9DAD-7556834E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62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fold 5</a:t>
            </a:r>
          </a:p>
        </p:txBody>
      </p:sp>
      <p:sp>
        <p:nvSpPr>
          <p:cNvPr id="14" name="cv-arrow-1">
            <a:extLst xmlns:a="http://schemas.openxmlformats.org/drawingml/2006/main">
              <a:ext uri="{FF2B5EF4-FFF2-40B4-BE49-F238E27FC236}">
                <a16:creationId xmlns:a16="http://schemas.microsoft.com/office/drawing/2014/main" id="{50E063B7-08B8-4A5D-87CC-2863905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718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cv-arrow-2">
            <a:extLst xmlns:a="http://schemas.openxmlformats.org/drawingml/2006/main">
              <a:ext uri="{FF2B5EF4-FFF2-40B4-BE49-F238E27FC236}">
                <a16:creationId xmlns:a16="http://schemas.microsoft.com/office/drawing/2014/main" id="{AF098729-A1AC-42FB-B849-704F4BA9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cv-step-1-panel">
            <a:extLst xmlns:a="http://schemas.openxmlformats.org/drawingml/2006/main">
              <a:ext uri="{FF2B5EF4-FFF2-40B4-BE49-F238E27FC236}">
                <a16:creationId xmlns:a16="http://schemas.microsoft.com/office/drawing/2014/main" id="{F8478119-376B-4D52-AAA1-71624B3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3181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v-step-1-title">
            <a:extLst xmlns:a="http://schemas.openxmlformats.org/drawingml/2006/main">
              <a:ext uri="{FF2B5EF4-FFF2-40B4-BE49-F238E27FC236}">
                <a16:creationId xmlns:a16="http://schemas.microsoft.com/office/drawing/2014/main" id="{1D7EFCE4-5258-4521-88C1-E8AF66B1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1. 層化して分割</a:t>
            </a:r>
          </a:p>
        </p:txBody>
      </p:sp>
      <p:sp>
        <p:nvSpPr>
          <p:cNvPr id="18" name="cv-step-1-body">
            <a:extLst xmlns:a="http://schemas.openxmlformats.org/drawingml/2006/main">
              <a:ext uri="{FF2B5EF4-FFF2-40B4-BE49-F238E27FC236}">
                <a16:creationId xmlns:a16="http://schemas.microsoft.com/office/drawing/2014/main" id="{9270DA3D-E4F8-4612-A5B7-A942D089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8003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0/1の比率を保ち、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shuffle=True / seed=8で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5つに分ける。</a:t>
            </a:r>
          </a:p>
        </p:txBody>
      </p:sp>
      <p:sp>
        <p:nvSpPr>
          <p:cNvPr id="19" name="cv-step-2-panel">
            <a:extLst xmlns:a="http://schemas.openxmlformats.org/drawingml/2006/main">
              <a:ext uri="{FF2B5EF4-FFF2-40B4-BE49-F238E27FC236}">
                <a16:creationId xmlns:a16="http://schemas.microsoft.com/office/drawing/2014/main" id="{332BE448-210C-41D9-8499-B2B14856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181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v-step-2-title">
            <a:extLst xmlns:a="http://schemas.openxmlformats.org/drawingml/2006/main">
              <a:ext uri="{FF2B5EF4-FFF2-40B4-BE49-F238E27FC236}">
                <a16:creationId xmlns:a16="http://schemas.microsoft.com/office/drawing/2014/main" id="{E2726E52-14A5-41C2-9713-2EE8ABA3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2. 残り4foldで学習</a:t>
            </a:r>
          </a:p>
        </p:txBody>
      </p:sp>
      <p:sp>
        <p:nvSpPr>
          <p:cNvPr id="21" name="cv-step-2-body">
            <a:extLst xmlns:a="http://schemas.openxmlformats.org/drawingml/2006/main">
              <a:ext uri="{FF2B5EF4-FFF2-40B4-BE49-F238E27FC236}">
                <a16:creationId xmlns:a16="http://schemas.microsoft.com/office/drawing/2014/main" id="{B28C1E54-CFE5-4216-95C4-6345F5F5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8003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前処理とXGBoostを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学習側だけでfit。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1foldは検証専用にする。</a:t>
            </a:r>
          </a:p>
        </p:txBody>
      </p:sp>
      <p:sp>
        <p:nvSpPr>
          <p:cNvPr id="22" name="cv-step-3-panel">
            <a:extLst xmlns:a="http://schemas.openxmlformats.org/drawingml/2006/main">
              <a:ext uri="{FF2B5EF4-FFF2-40B4-BE49-F238E27FC236}">
                <a16:creationId xmlns:a16="http://schemas.microsoft.com/office/drawing/2014/main" id="{A495BEC1-AC8B-4AF0-BAEC-83FB1D49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cv-step-3-title">
            <a:extLst xmlns:a="http://schemas.openxmlformats.org/drawingml/2006/main">
              <a:ext uri="{FF2B5EF4-FFF2-40B4-BE49-F238E27FC236}">
                <a16:creationId xmlns:a16="http://schemas.microsoft.com/office/drawing/2014/main" id="{8CEE93D5-90EA-42B2-B841-BBF2FC34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3. 検証確率を回収</a:t>
            </a:r>
          </a:p>
        </p:txBody>
      </p:sp>
      <p:sp>
        <p:nvSpPr>
          <p:cNvPr id="24" name="cv-step-3-body">
            <a:extLst xmlns:a="http://schemas.openxmlformats.org/drawingml/2006/main">
              <a:ext uri="{FF2B5EF4-FFF2-40B4-BE49-F238E27FC236}">
                <a16:creationId xmlns:a16="http://schemas.microsoft.com/office/drawing/2014/main" id="{BD428C45-3A74-4B6E-8B1D-35725B3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66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5回の検証確率を元の行へ格納。全行が一度だけ未学習モデルで予測される。</a:t>
            </a:r>
          </a:p>
        </p:txBody>
      </p:sp>
      <p:sp>
        <p:nvSpPr>
          <p:cNvPr id="25" name="cv-bottom">
            <a:extLst xmlns:a="http://schemas.openxmlformats.org/drawingml/2006/main">
              <a:ext uri="{FF2B5EF4-FFF2-40B4-BE49-F238E27FC236}">
                <a16:creationId xmlns:a16="http://schemas.microsoft.com/office/drawing/2014/main" id="{692C32C9-47BC-43E8-87B1-8A971FA9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OOF予測は、train全体にfitした自己採点より未知データ性能の目安として信頼しやすい。</a:t>
            </a:r>
          </a:p>
        </p:txBody>
      </p:sp>
    </p:spTree>
    <p:extLst>
      <p:ext uri="{BB962C8B-B14F-4D97-AF65-F5344CB8AC3E}">
        <p14:creationId xmlns:p14="http://schemas.microsoft.com/office/powerpoint/2010/main" val="1351926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17CC9CA6-024F-4086-9480-DA00DF7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95F2AF0-0A7D-4F0D-8B26-5F46E8A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20候補を比較し、過学習しにくい条件を選ぶ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E700CBF4-D407-42D3-B5CA-ADD51AF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4" name="search-equation">
            <a:extLst xmlns:a="http://schemas.openxmlformats.org/drawingml/2006/main">
              <a:ext uri="{FF2B5EF4-FFF2-40B4-BE49-F238E27FC236}">
                <a16:creationId xmlns:a16="http://schemas.microsoft.com/office/drawing/2014/main" id="{AA6B083F-8101-445F-A7AA-452FD25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20 × 5 = 100</a:t>
            </a:r>
          </a:p>
        </p:txBody>
      </p:sp>
      <p:sp>
        <p:nvSpPr>
          <p:cNvPr id="5" name="search-equation-label">
            <a:extLst xmlns:a="http://schemas.openxmlformats.org/drawingml/2006/main">
              <a:ext uri="{FF2B5EF4-FFF2-40B4-BE49-F238E27FC236}">
                <a16:creationId xmlns:a16="http://schemas.microsoft.com/office/drawing/2014/main" id="{FC190019-02BB-4EF6-9253-636314D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候補 × fold = CV fit回数</a:t>
            </a:r>
          </a:p>
        </p:txBody>
      </p:sp>
      <p:sp>
        <p:nvSpPr>
          <p:cNvPr id="6" name="search-param">
            <a:extLst xmlns:a="http://schemas.openxmlformats.org/drawingml/2006/main">
              <a:ext uri="{FF2B5EF4-FFF2-40B4-BE49-F238E27FC236}">
                <a16:creationId xmlns:a16="http://schemas.microsoft.com/office/drawing/2014/main" id="{870EF742-F514-42B9-916C-986EE65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探索する主な値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max_depth / learning_rate / min_child_weight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subsample / colsample_bytree / gamma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reg_alpha / reg_lambda / scale_pos_weight</a:t>
            </a:r>
          </a:p>
        </p:txBody>
      </p:sp>
      <p:sp>
        <p:nvSpPr>
          <p:cNvPr id="7" name="search-steps-panel">
            <a:extLst xmlns:a="http://schemas.openxmlformats.org/drawingml/2006/main">
              <a:ext uri="{FF2B5EF4-FFF2-40B4-BE49-F238E27FC236}">
                <a16:creationId xmlns:a16="http://schemas.microsoft.com/office/drawing/2014/main" id="{6A38633C-8647-4908-AD36-A279E882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543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earch-no-0">
            <a:extLst xmlns:a="http://schemas.openxmlformats.org/drawingml/2006/main">
              <a:ext uri="{FF2B5EF4-FFF2-40B4-BE49-F238E27FC236}">
                <a16:creationId xmlns:a16="http://schemas.microsoft.com/office/drawing/2014/main" id="{25A6F07C-C629-4BF4-8DB7-FA9A24A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search-title-0">
            <a:extLst xmlns:a="http://schemas.openxmlformats.org/drawingml/2006/main">
              <a:ext uri="{FF2B5EF4-FFF2-40B4-BE49-F238E27FC236}">
                <a16:creationId xmlns:a16="http://schemas.microsoft.com/office/drawing/2014/main" id="{EE341767-82C1-4F52-808A-F93494A0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候補を抽出</a:t>
            </a:r>
          </a:p>
        </p:txBody>
      </p:sp>
      <p:sp>
        <p:nvSpPr>
          <p:cNvPr id="10" name="search-body-0">
            <a:extLst xmlns:a="http://schemas.openxmlformats.org/drawingml/2006/main">
              <a:ext uri="{FF2B5EF4-FFF2-40B4-BE49-F238E27FC236}">
                <a16:creationId xmlns:a16="http://schemas.microsoft.com/office/drawing/2014/main" id="{CEE0D17B-A4F6-4929-B6C3-4157D58A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ParameterSampler / seed=8</a:t>
            </a:r>
          </a:p>
        </p:txBody>
      </p:sp>
      <p:sp>
        <p:nvSpPr>
          <p:cNvPr id="11" name="search-no-1">
            <a:extLst xmlns:a="http://schemas.openxmlformats.org/drawingml/2006/main">
              <a:ext uri="{FF2B5EF4-FFF2-40B4-BE49-F238E27FC236}">
                <a16:creationId xmlns:a16="http://schemas.microsoft.com/office/drawing/2014/main" id="{86DA1CD2-450E-480A-88EB-48275C7F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search-title-1">
            <a:extLst xmlns:a="http://schemas.openxmlformats.org/drawingml/2006/main">
              <a:ext uri="{FF2B5EF4-FFF2-40B4-BE49-F238E27FC236}">
                <a16:creationId xmlns:a16="http://schemas.microsoft.com/office/drawing/2014/main" id="{718CFC42-33F1-426A-919C-53934AB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最大2,000本</a:t>
            </a:r>
          </a:p>
        </p:txBody>
      </p:sp>
      <p:sp>
        <p:nvSpPr>
          <p:cNvPr id="13" name="search-body-1">
            <a:extLst xmlns:a="http://schemas.openxmlformats.org/drawingml/2006/main">
              <a:ext uri="{FF2B5EF4-FFF2-40B4-BE49-F238E27FC236}">
                <a16:creationId xmlns:a16="http://schemas.microsoft.com/office/drawing/2014/main" id="{EC504841-92C4-465F-8E95-7C5440CF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検証loglossを監視する</a:t>
            </a:r>
          </a:p>
        </p:txBody>
      </p:sp>
      <p:sp>
        <p:nvSpPr>
          <p:cNvPr id="14" name="search-no-2">
            <a:extLst xmlns:a="http://schemas.openxmlformats.org/drawingml/2006/main">
              <a:ext uri="{FF2B5EF4-FFF2-40B4-BE49-F238E27FC236}">
                <a16:creationId xmlns:a16="http://schemas.microsoft.com/office/drawing/2014/main" id="{B2285044-0C9F-48B6-938C-41E6E47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5" name="search-title-2">
            <a:extLst xmlns:a="http://schemas.openxmlformats.org/drawingml/2006/main">
              <a:ext uri="{FF2B5EF4-FFF2-40B4-BE49-F238E27FC236}">
                <a16:creationId xmlns:a16="http://schemas.microsoft.com/office/drawing/2014/main" id="{339CD3D0-3CA0-475E-8205-1EB48CD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early stopping=50</a:t>
            </a:r>
          </a:p>
        </p:txBody>
      </p:sp>
      <p:sp>
        <p:nvSpPr>
          <p:cNvPr id="16" name="search-body-2">
            <a:extLst xmlns:a="http://schemas.openxmlformats.org/drawingml/2006/main">
              <a:ext uri="{FF2B5EF4-FFF2-40B4-BE49-F238E27FC236}">
                <a16:creationId xmlns:a16="http://schemas.microsoft.com/office/drawing/2014/main" id="{DC6BF037-68F6-439B-BF6D-F76CFB43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50回改善しなければ停止</a:t>
            </a:r>
          </a:p>
        </p:txBody>
      </p:sp>
      <p:sp>
        <p:nvSpPr>
          <p:cNvPr id="17" name="search-no-3">
            <a:extLst xmlns:a="http://schemas.openxmlformats.org/drawingml/2006/main">
              <a:ext uri="{FF2B5EF4-FFF2-40B4-BE49-F238E27FC236}">
                <a16:creationId xmlns:a16="http://schemas.microsoft.com/office/drawing/2014/main" id="{4AB001DE-0979-48A5-B4C3-3300DAF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8" name="search-title-3">
            <a:extLst xmlns:a="http://schemas.openxmlformats.org/drawingml/2006/main">
              <a:ext uri="{FF2B5EF4-FFF2-40B4-BE49-F238E27FC236}">
                <a16:creationId xmlns:a16="http://schemas.microsoft.com/office/drawing/2014/main" id="{713414E1-CFB7-4554-B541-AF1DA22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閾値0.20〜0.80</a:t>
            </a:r>
          </a:p>
        </p:txBody>
      </p:sp>
      <p:sp>
        <p:nvSpPr>
          <p:cNvPr id="19" name="search-body-3">
            <a:extLst xmlns:a="http://schemas.openxmlformats.org/drawingml/2006/main">
              <a:ext uri="{FF2B5EF4-FFF2-40B4-BE49-F238E27FC236}">
                <a16:creationId xmlns:a16="http://schemas.microsoft.com/office/drawing/2014/main" id="{CBC6A005-F3D8-4C6D-81FB-5B8F4278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0.01刻みでfold平均F1を計算</a:t>
            </a:r>
          </a:p>
        </p:txBody>
      </p:sp>
      <p:sp>
        <p:nvSpPr>
          <p:cNvPr id="20" name="search-no-4">
            <a:extLst xmlns:a="http://schemas.openxmlformats.org/drawingml/2006/main">
              <a:ext uri="{FF2B5EF4-FFF2-40B4-BE49-F238E27FC236}">
                <a16:creationId xmlns:a16="http://schemas.microsoft.com/office/drawing/2014/main" id="{6884942E-F0EB-4942-A81D-BFF6E51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1" name="search-title-4">
            <a:extLst xmlns:a="http://schemas.openxmlformats.org/drawingml/2006/main">
              <a:ext uri="{FF2B5EF4-FFF2-40B4-BE49-F238E27FC236}">
                <a16:creationId xmlns:a16="http://schemas.microsoft.com/office/drawing/2014/main" id="{776A845A-704C-4933-AE63-AE9EF8E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最終順位</a:t>
            </a:r>
          </a:p>
        </p:txBody>
      </p:sp>
      <p:sp>
        <p:nvSpPr>
          <p:cNvPr id="22" name="search-body-4">
            <a:extLst xmlns:a="http://schemas.openxmlformats.org/drawingml/2006/main">
              <a:ext uri="{FF2B5EF4-FFF2-40B4-BE49-F238E27FC236}">
                <a16:creationId xmlns:a16="http://schemas.microsoft.com/office/drawing/2014/main" id="{7E45D0AC-9545-4782-ABD0-B9B39A68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平均F1 → ばらつき → 0.5距離 → 木の浅さ</a:t>
            </a:r>
          </a:p>
        </p:txBody>
      </p:sp>
    </p:spTree>
    <p:extLst>
      <p:ext uri="{BB962C8B-B14F-4D97-AF65-F5344CB8AC3E}">
        <p14:creationId xmlns:p14="http://schemas.microsoft.com/office/powerpoint/2010/main" val="993222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FD8F2FA0-F130-4CE5-8F0B-A71DB3B9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AB10EFF-A9C2-41C9-A1D9-97C7C5D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F1が最大になる確率閾値を選ぶ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B26A7C19-BF9A-4797-836E-4E31734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4" name="f1-context">
            <a:extLst xmlns:a="http://schemas.openxmlformats.org/drawingml/2006/main">
              <a:ext uri="{FF2B5EF4-FFF2-40B4-BE49-F238E27FC236}">
                <a16:creationId xmlns:a16="http://schemas.microsoft.com/office/drawing/2014/main" id="{C0BAF04B-305E-48DF-8F31-7FA3A3FF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生存確率を0/1へ変換する境界を固定0.50にせず、OOF予測だけで探索する。</a:t>
            </a:r>
          </a:p>
        </p:txBody>
      </p:sp>
      <p:sp>
        <p:nvSpPr>
          <p:cNvPr id="5" name="f1-stat-panel">
            <a:extLst xmlns:a="http://schemas.openxmlformats.org/drawingml/2006/main">
              <a:ext uri="{FF2B5EF4-FFF2-40B4-BE49-F238E27FC236}">
                <a16:creationId xmlns:a16="http://schemas.microsoft.com/office/drawing/2014/main" id="{20E0C01C-89B9-4577-B672-4449C65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33337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1-stat-value">
            <a:extLst xmlns:a="http://schemas.openxmlformats.org/drawingml/2006/main">
              <a:ext uri="{FF2B5EF4-FFF2-40B4-BE49-F238E27FC236}">
                <a16:creationId xmlns:a16="http://schemas.microsoft.com/office/drawing/2014/main" id="{8A1E8AF8-0206-4116-8E9C-BF57133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0.8160</a:t>
            </a:r>
          </a:p>
        </p:txBody>
      </p:sp>
      <p:sp>
        <p:nvSpPr>
          <p:cNvPr id="7" name="f1-stat-label">
            <a:extLst xmlns:a="http://schemas.openxmlformats.org/drawingml/2006/main">
              <a:ext uri="{FF2B5EF4-FFF2-40B4-BE49-F238E27FC236}">
                <a16:creationId xmlns:a16="http://schemas.microsoft.com/office/drawing/2014/main" id="{4CABE5B0-137B-4254-95A7-D435F1C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OOF F1</a:t>
            </a:r>
          </a:p>
        </p:txBody>
      </p:sp>
      <p:sp>
        <p:nvSpPr>
          <p:cNvPr id="8" name="f1-stat-detail">
            <a:extLst xmlns:a="http://schemas.openxmlformats.org/drawingml/2006/main">
              <a:ext uri="{FF2B5EF4-FFF2-40B4-BE49-F238E27FC236}">
                <a16:creationId xmlns:a16="http://schemas.microsoft.com/office/drawing/2014/main" id="{E3C233D3-E056-4EF1-A1D5-696195D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全712件をまとめて評価</a:t>
            </a:r>
          </a:p>
        </p:txBody>
      </p:sp>
      <p:sp>
        <p:nvSpPr>
          <p:cNvPr id="9" name="precision-stat-panel">
            <a:extLst xmlns:a="http://schemas.openxmlformats.org/drawingml/2006/main">
              <a:ext uri="{FF2B5EF4-FFF2-40B4-BE49-F238E27FC236}">
                <a16:creationId xmlns:a16="http://schemas.microsoft.com/office/drawing/2014/main" id="{8CBA6B72-3FC8-40AB-ACF5-CE22A2D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33337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recision-stat-value">
            <a:extLst xmlns:a="http://schemas.openxmlformats.org/drawingml/2006/main">
              <a:ext uri="{FF2B5EF4-FFF2-40B4-BE49-F238E27FC236}">
                <a16:creationId xmlns:a16="http://schemas.microsoft.com/office/drawing/2014/main" id="{E9F8F3D0-920C-44FA-9841-B5BD1055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0.8116</a:t>
            </a:r>
          </a:p>
        </p:txBody>
      </p:sp>
      <p:sp>
        <p:nvSpPr>
          <p:cNvPr id="11" name="precision-stat-label">
            <a:extLst xmlns:a="http://schemas.openxmlformats.org/drawingml/2006/main">
              <a:ext uri="{FF2B5EF4-FFF2-40B4-BE49-F238E27FC236}">
                <a16:creationId xmlns:a16="http://schemas.microsoft.com/office/drawing/2014/main" id="{83D939E3-1910-4204-BE9E-0299B70B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Precision</a:t>
            </a:r>
          </a:p>
        </p:txBody>
      </p:sp>
      <p:sp>
        <p:nvSpPr>
          <p:cNvPr id="12" name="precision-stat-detail">
            <a:extLst xmlns:a="http://schemas.openxmlformats.org/drawingml/2006/main">
              <a:ext uri="{FF2B5EF4-FFF2-40B4-BE49-F238E27FC236}">
                <a16:creationId xmlns:a16="http://schemas.microsoft.com/office/drawing/2014/main" id="{C4A62E41-9B00-47EA-A288-DFD9AEC1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480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生存予測のうち実際に生存</a:t>
            </a:r>
          </a:p>
        </p:txBody>
      </p:sp>
      <p:sp>
        <p:nvSpPr>
          <p:cNvPr id="13" name="recall-stat-panel">
            <a:extLst xmlns:a="http://schemas.openxmlformats.org/drawingml/2006/main">
              <a:ext uri="{FF2B5EF4-FFF2-40B4-BE49-F238E27FC236}">
                <a16:creationId xmlns:a16="http://schemas.microsoft.com/office/drawing/2014/main" id="{57D1FC71-970E-45D3-82C3-4AC5C57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9718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ecall-stat-value">
            <a:extLst xmlns:a="http://schemas.openxmlformats.org/drawingml/2006/main">
              <a:ext uri="{FF2B5EF4-FFF2-40B4-BE49-F238E27FC236}">
                <a16:creationId xmlns:a16="http://schemas.microsoft.com/office/drawing/2014/main" id="{BFEC3BD5-0D6B-429E-8038-5113B4EB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0.8205</a:t>
            </a:r>
          </a:p>
        </p:txBody>
      </p:sp>
      <p:sp>
        <p:nvSpPr>
          <p:cNvPr id="15" name="recall-stat-label">
            <a:extLst xmlns:a="http://schemas.openxmlformats.org/drawingml/2006/main">
              <a:ext uri="{FF2B5EF4-FFF2-40B4-BE49-F238E27FC236}">
                <a16:creationId xmlns:a16="http://schemas.microsoft.com/office/drawing/2014/main" id="{45204975-433B-4D73-934F-47AB20C2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Recall</a:t>
            </a:r>
          </a:p>
        </p:txBody>
      </p:sp>
      <p:sp>
        <p:nvSpPr>
          <p:cNvPr id="16" name="recall-stat-detail">
            <a:extLst xmlns:a="http://schemas.openxmlformats.org/drawingml/2006/main">
              <a:ext uri="{FF2B5EF4-FFF2-40B4-BE49-F238E27FC236}">
                <a16:creationId xmlns:a16="http://schemas.microsoft.com/office/drawing/2014/main" id="{F2DD898C-94AA-41EC-810A-9946D31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実際の生存者を拾えた割合</a:t>
            </a:r>
          </a:p>
        </p:txBody>
      </p:sp>
      <p:sp>
        <p:nvSpPr>
          <p:cNvPr id="17" name="threshold-label-left">
            <a:extLst xmlns:a="http://schemas.openxmlformats.org/drawingml/2006/main">
              <a:ext uri="{FF2B5EF4-FFF2-40B4-BE49-F238E27FC236}">
                <a16:creationId xmlns:a16="http://schemas.microsoft.com/office/drawing/2014/main" id="{5DC0716A-17BF-42FF-A83B-BFA64F8D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0.20</a:t>
            </a:r>
          </a:p>
        </p:txBody>
      </p:sp>
      <p:sp>
        <p:nvSpPr>
          <p:cNvPr id="18" name="threshold-label-right">
            <a:extLst xmlns:a="http://schemas.openxmlformats.org/drawingml/2006/main">
              <a:ext uri="{FF2B5EF4-FFF2-40B4-BE49-F238E27FC236}">
                <a16:creationId xmlns:a16="http://schemas.microsoft.com/office/drawing/2014/main" id="{D37BD9DD-443D-49AE-8EBF-DC71B35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48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0.80</a:t>
            </a:r>
          </a:p>
        </p:txBody>
      </p:sp>
      <p:sp>
        <p:nvSpPr>
          <p:cNvPr id="19" name="threshold-track">
            <a:extLst xmlns:a="http://schemas.openxmlformats.org/drawingml/2006/main">
              <a:ext uri="{FF2B5EF4-FFF2-40B4-BE49-F238E27FC236}">
                <a16:creationId xmlns:a16="http://schemas.microsoft.com/office/drawing/2014/main" id="{FBB58EE1-5360-4DBE-9F98-3D1239E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hreshold-before">
            <a:extLst xmlns:a="http://schemas.openxmlformats.org/drawingml/2006/main">
              <a:ext uri="{FF2B5EF4-FFF2-40B4-BE49-F238E27FC236}">
                <a16:creationId xmlns:a16="http://schemas.microsoft.com/office/drawing/2014/main" id="{3A6DBCD8-53B4-4EB6-AB74-7944CC09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5114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threshold-marker">
            <a:extLst xmlns:a="http://schemas.openxmlformats.org/drawingml/2006/main">
              <a:ext uri="{FF2B5EF4-FFF2-40B4-BE49-F238E27FC236}">
                <a16:creationId xmlns:a16="http://schemas.microsoft.com/office/drawing/2014/main" id="{0E027806-1AD4-4284-9B24-7AD7F33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9700"/>
            <a:ext cx="247650" cy="361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threshold-selected">
            <a:extLst xmlns:a="http://schemas.openxmlformats.org/drawingml/2006/main">
              <a:ext uri="{FF2B5EF4-FFF2-40B4-BE49-F238E27FC236}">
                <a16:creationId xmlns:a16="http://schemas.microsoft.com/office/drawing/2014/main" id="{374C0536-6544-42C6-A122-A769AF8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57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選択閾値 0.51</a:t>
            </a:r>
          </a:p>
        </p:txBody>
      </p:sp>
      <p:sp>
        <p:nvSpPr>
          <p:cNvPr id="23" name="threshold-fold">
            <a:extLst xmlns:a="http://schemas.openxmlformats.org/drawingml/2006/main">
              <a:ext uri="{FF2B5EF4-FFF2-40B4-BE49-F238E27FC236}">
                <a16:creationId xmlns:a16="http://schemas.microsoft.com/office/drawing/2014/main" id="{85A69F2F-CDC0-4C66-888A-8F320C40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fold平均 0.8163 / SD 0.0542</a:t>
            </a:r>
          </a:p>
        </p:txBody>
      </p:sp>
    </p:spTree>
    <p:extLst>
      <p:ext uri="{BB962C8B-B14F-4D97-AF65-F5344CB8AC3E}">
        <p14:creationId xmlns:p14="http://schemas.microsoft.com/office/powerpoint/2010/main" val="552592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A8ECE3E8-8640-468F-BB74-7633DCF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11A9297-F363-44FA-943D-DE2A92D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条件決定後、全trainで最終モデルを1個だけ学習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0653149D-EAE7-4CAF-8A35-977EA61A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4" name="final-explain">
            <a:extLst xmlns:a="http://schemas.openxmlformats.org/drawingml/2006/main">
              <a:ext uri="{FF2B5EF4-FFF2-40B4-BE49-F238E27FC236}">
                <a16:creationId xmlns:a16="http://schemas.microsoft.com/office/drawing/2014/main" id="{285DCFC4-3E39-418F-832D-A00F9917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交差検証は条件決定のため。提出に使うのは、全trainを使って学習し直した1個のXGBoost。</a:t>
            </a:r>
          </a:p>
        </p:txBody>
      </p:sp>
      <p:sp>
        <p:nvSpPr>
          <p:cNvPr id="5" name="final-rows-panel">
            <a:extLst xmlns:a="http://schemas.openxmlformats.org/drawingml/2006/main">
              <a:ext uri="{FF2B5EF4-FFF2-40B4-BE49-F238E27FC236}">
                <a16:creationId xmlns:a16="http://schemas.microsoft.com/office/drawing/2014/main" id="{0DED2845-C42D-4151-8164-583192A1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33337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inal-rows-value">
            <a:extLst xmlns:a="http://schemas.openxmlformats.org/drawingml/2006/main">
              <a:ext uri="{FF2B5EF4-FFF2-40B4-BE49-F238E27FC236}">
                <a16:creationId xmlns:a16="http://schemas.microsoft.com/office/drawing/2014/main" id="{B84BF88B-6A7E-4FEB-94A0-4DEB53BA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712</a:t>
            </a:r>
          </a:p>
        </p:txBody>
      </p:sp>
      <p:sp>
        <p:nvSpPr>
          <p:cNvPr id="7" name="final-rows-label">
            <a:extLst xmlns:a="http://schemas.openxmlformats.org/drawingml/2006/main">
              <a:ext uri="{FF2B5EF4-FFF2-40B4-BE49-F238E27FC236}">
                <a16:creationId xmlns:a16="http://schemas.microsoft.com/office/drawing/2014/main" id="{728E2BDD-5239-4EE3-816E-D7CBDB0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学習行数</a:t>
            </a:r>
          </a:p>
        </p:txBody>
      </p:sp>
      <p:sp>
        <p:nvSpPr>
          <p:cNvPr id="8" name="final-rows-detail">
            <a:extLst xmlns:a="http://schemas.openxmlformats.org/drawingml/2006/main">
              <a:ext uri="{FF2B5EF4-FFF2-40B4-BE49-F238E27FC236}">
                <a16:creationId xmlns:a16="http://schemas.microsoft.com/office/drawing/2014/main" id="{9B6D25AC-A80E-4EE1-85A3-72730CC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目的変数Survivedを含む全train</a:t>
            </a:r>
          </a:p>
        </p:txBody>
      </p:sp>
      <p:sp>
        <p:nvSpPr>
          <p:cNvPr id="9" name="final-cols-panel">
            <a:extLst xmlns:a="http://schemas.openxmlformats.org/drawingml/2006/main">
              <a:ext uri="{FF2B5EF4-FFF2-40B4-BE49-F238E27FC236}">
                <a16:creationId xmlns:a16="http://schemas.microsoft.com/office/drawing/2014/main" id="{03187E5A-48AE-491D-9E7B-12669A60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33337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inal-cols-value">
            <a:extLst xmlns:a="http://schemas.openxmlformats.org/drawingml/2006/main">
              <a:ext uri="{FF2B5EF4-FFF2-40B4-BE49-F238E27FC236}">
                <a16:creationId xmlns:a16="http://schemas.microsoft.com/office/drawing/2014/main" id="{AFA6C68A-4386-4F2C-9FDF-37CDE18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60</a:t>
            </a:r>
          </a:p>
        </p:txBody>
      </p:sp>
      <p:sp>
        <p:nvSpPr>
          <p:cNvPr id="11" name="final-cols-label">
            <a:extLst xmlns:a="http://schemas.openxmlformats.org/drawingml/2006/main">
              <a:ext uri="{FF2B5EF4-FFF2-40B4-BE49-F238E27FC236}">
                <a16:creationId xmlns:a16="http://schemas.microsoft.com/office/drawing/2014/main" id="{DF76B95B-1784-4141-8205-9FF475F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変換後の列数</a:t>
            </a:r>
          </a:p>
        </p:txBody>
      </p:sp>
      <p:sp>
        <p:nvSpPr>
          <p:cNvPr id="12" name="final-cols-detail">
            <a:extLst xmlns:a="http://schemas.openxmlformats.org/drawingml/2006/main">
              <a:ext uri="{FF2B5EF4-FFF2-40B4-BE49-F238E27FC236}">
                <a16:creationId xmlns:a16="http://schemas.microsoft.com/office/drawing/2014/main" id="{3723C32A-F41F-4C82-BE6E-D993583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全trainで前処理器をfit</a:t>
            </a:r>
          </a:p>
        </p:txBody>
      </p:sp>
      <p:sp>
        <p:nvSpPr>
          <p:cNvPr id="13" name="final-trees-panel">
            <a:extLst xmlns:a="http://schemas.openxmlformats.org/drawingml/2006/main">
              <a:ext uri="{FF2B5EF4-FFF2-40B4-BE49-F238E27FC236}">
                <a16:creationId xmlns:a16="http://schemas.microsoft.com/office/drawing/2014/main" id="{E684C4D9-DD2C-44BD-B041-D7913FD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9718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inal-trees-value">
            <a:extLst xmlns:a="http://schemas.openxmlformats.org/drawingml/2006/main">
              <a:ext uri="{FF2B5EF4-FFF2-40B4-BE49-F238E27FC236}">
                <a16:creationId xmlns:a16="http://schemas.microsoft.com/office/drawing/2014/main" id="{24E59802-5455-4B5C-8CED-C76A715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124</a:t>
            </a:r>
          </a:p>
        </p:txBody>
      </p:sp>
      <p:sp>
        <p:nvSpPr>
          <p:cNvPr id="15" name="final-trees-label">
            <a:extLst xmlns:a="http://schemas.openxmlformats.org/drawingml/2006/main">
              <a:ext uri="{FF2B5EF4-FFF2-40B4-BE49-F238E27FC236}">
                <a16:creationId xmlns:a16="http://schemas.microsoft.com/office/drawing/2014/main" id="{BF883F46-CDD9-41F7-B1B1-432A6EE5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木の本数</a:t>
            </a:r>
          </a:p>
        </p:txBody>
      </p:sp>
      <p:sp>
        <p:nvSpPr>
          <p:cNvPr id="16" name="final-trees-detail">
            <a:extLst xmlns:a="http://schemas.openxmlformats.org/drawingml/2006/main">
              <a:ext uri="{FF2B5EF4-FFF2-40B4-BE49-F238E27FC236}">
                <a16:creationId xmlns:a16="http://schemas.microsoft.com/office/drawing/2014/main" id="{04962F3C-7210-4295-89AA-42D56984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各fold best_iterationの中央値</a:t>
            </a:r>
          </a:p>
        </p:txBody>
      </p:sp>
      <p:sp>
        <p:nvSpPr>
          <p:cNvPr id="17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594E16BA-479D-42DA-A0A9-B014B19E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final-callout-text">
            <a:extLst xmlns:a="http://schemas.openxmlformats.org/drawingml/2006/main">
              <a:ext uri="{FF2B5EF4-FFF2-40B4-BE49-F238E27FC236}">
                <a16:creationId xmlns:a16="http://schemas.microsoft.com/office/drawing/2014/main" id="{ECC2E4C1-B01C-470B-A1E7-BDA1B989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32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final_model.fit(X_full_encoded, y)　→　testの生存確率を予測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閾値0.51以上を1、未満を0へ変換</a:t>
            </a:r>
          </a:p>
        </p:txBody>
      </p:sp>
    </p:spTree>
    <p:extLst>
      <p:ext uri="{BB962C8B-B14F-4D97-AF65-F5344CB8AC3E}">
        <p14:creationId xmlns:p14="http://schemas.microsoft.com/office/powerpoint/2010/main" val="2042135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7B3C8955-CF17-4148-8C33-FC53E4FB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44EF886-CAF4-4532-A269-C437C9A5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test予測をPassengerIdと2列CSVにまとめる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369F588-5E5C-42FB-857E-03B2DC02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" name="csv-sample-label">
            <a:extLst xmlns:a="http://schemas.openxmlformats.org/drawingml/2006/main">
              <a:ext uri="{FF2B5EF4-FFF2-40B4-BE49-F238E27FC236}">
                <a16:creationId xmlns:a16="http://schemas.microsoft.com/office/drawing/2014/main" id="{C81BFCC0-70CD-4CFE-BD0A-245D05C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出力例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57200" y="1847850"/>
          <a:ext xmlns:a="http://schemas.openxmlformats.org/drawingml/2006/main" cx="4953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0955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PassengerId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Survived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311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sv-check-title">
            <a:extLst xmlns:a="http://schemas.openxmlformats.org/drawingml/2006/main">
              <a:ext uri="{FF2B5EF4-FFF2-40B4-BE49-F238E27FC236}">
                <a16:creationId xmlns:a16="http://schemas.microsoft.com/office/drawing/2014/main" id="{8C3759E8-D27C-4E6B-85CA-6A0DCF7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保存前に確認すること</a:t>
            </a:r>
          </a:p>
        </p:txBody>
      </p:sp>
      <p:sp>
        <p:nvSpPr>
          <p:cNvPr id="7" name="csv-check-0">
            <a:extLst xmlns:a="http://schemas.openxmlformats.org/drawingml/2006/main">
              <a:ext uri="{FF2B5EF4-FFF2-40B4-BE49-F238E27FC236}">
                <a16:creationId xmlns:a16="http://schemas.microsoft.com/office/drawing/2014/main" id="{99155D87-E9DA-44AB-86B6-BEF3F62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1. 列順が PassengerId, Survived</a:t>
            </a:r>
          </a:p>
        </p:txBody>
      </p:sp>
      <p:sp>
        <p:nvSpPr>
          <p:cNvPr id="8" name="csv-check-1">
            <a:extLst xmlns:a="http://schemas.openxmlformats.org/drawingml/2006/main">
              <a:ext uri="{FF2B5EF4-FFF2-40B4-BE49-F238E27FC236}">
                <a16:creationId xmlns:a16="http://schemas.microsoft.com/office/drawing/2014/main" id="{ED8BC716-671C-417D-A0F8-0FFF0EF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2. testと同じ179行・同じ順番</a:t>
            </a:r>
          </a:p>
        </p:txBody>
      </p:sp>
      <p:sp>
        <p:nvSpPr>
          <p:cNvPr id="9" name="csv-check-2">
            <a:extLst xmlns:a="http://schemas.openxmlformats.org/drawingml/2006/main">
              <a:ext uri="{FF2B5EF4-FFF2-40B4-BE49-F238E27FC236}">
                <a16:creationId xmlns:a16="http://schemas.microsoft.com/office/drawing/2014/main" id="{D17779D7-F1FE-4E04-9A2D-9918DCC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3. PassengerIdに重複がない</a:t>
            </a:r>
          </a:p>
        </p:txBody>
      </p:sp>
      <p:sp>
        <p:nvSpPr>
          <p:cNvPr id="10" name="csv-check-3">
            <a:extLst xmlns:a="http://schemas.openxmlformats.org/drawingml/2006/main">
              <a:ext uri="{FF2B5EF4-FFF2-40B4-BE49-F238E27FC236}">
                <a16:creationId xmlns:a16="http://schemas.microsoft.com/office/drawing/2014/main" id="{1BE4A0D9-1E20-42F9-BF06-87EC8F91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4. Survivedは欠損なしで0/1</a:t>
            </a:r>
          </a:p>
        </p:txBody>
      </p:sp>
      <p:sp>
        <p:nvSpPr>
          <p:cNvPr id="11" name="csv-check-4">
            <a:extLst xmlns:a="http://schemas.openxmlformats.org/drawingml/2006/main">
              <a:ext uri="{FF2B5EF4-FFF2-40B4-BE49-F238E27FC236}">
                <a16:creationId xmlns:a16="http://schemas.microsoft.com/office/drawing/2014/main" id="{958E163C-ED65-409C-9270-31663FC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5. index=FalseでCSV保存</a:t>
            </a:r>
          </a:p>
        </p:txBody>
      </p:sp>
      <p:sp>
        <p:nvSpPr>
          <p:cNvPr id="12" name="csv-check-5">
            <a:extLst xmlns:a="http://schemas.openxmlformats.org/drawingml/2006/main">
              <a:ext uri="{FF2B5EF4-FFF2-40B4-BE49-F238E27FC236}">
                <a16:creationId xmlns:a16="http://schemas.microsoft.com/office/drawing/2014/main" id="{0A51903A-3D3B-4BA6-91F7-6A6C56A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38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6. 保存後に読み戻して一致確認</a:t>
            </a:r>
          </a:p>
        </p:txBody>
      </p:sp>
      <p:sp>
        <p:nvSpPr>
          <p:cNvPr id="13" name="csv-path">
            <a:extLst xmlns:a="http://schemas.openxmlformats.org/drawingml/2006/main">
              <a:ext uri="{FF2B5EF4-FFF2-40B4-BE49-F238E27FC236}">
                <a16:creationId xmlns:a16="http://schemas.microsoft.com/office/drawing/2014/main" id="{03272FF7-AF36-4FCF-A613-779C411B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pysemi8_xgboost_predictions.csv　｜　179行　0: 116 / 1: 63</a:t>
            </a:r>
          </a:p>
        </p:txBody>
      </p:sp>
    </p:spTree>
    <p:extLst>
      <p:ext uri="{BB962C8B-B14F-4D97-AF65-F5344CB8AC3E}">
        <p14:creationId xmlns:p14="http://schemas.microsoft.com/office/powerpoint/2010/main" val="1181759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69A55D90-52B7-4002-B301-2CBE181E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PYTHON SEMINAR #8 / TITANIC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5C52DEB-36BF-4EE4-8E84-03F7F79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答え合わせはPassengerIdで結合してF1を計算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133454AE-B235-4CC6-AAA7-B77ACD6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4" name="score-arrow-left">
            <a:extLst xmlns:a="http://schemas.openxmlformats.org/drawingml/2006/main">
              <a:ext uri="{FF2B5EF4-FFF2-40B4-BE49-F238E27FC236}">
                <a16:creationId xmlns:a16="http://schemas.microsoft.com/office/drawing/2014/main" id="{68B9F77B-B2AD-4E97-8D6D-738AF7E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162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core-arrow-right">
            <a:extLst xmlns:a="http://schemas.openxmlformats.org/drawingml/2006/main">
              <a:ext uri="{FF2B5EF4-FFF2-40B4-BE49-F238E27FC236}">
                <a16:creationId xmlns:a16="http://schemas.microsoft.com/office/drawing/2014/main" id="{40596E46-B2D5-47A5-A7A4-58903437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116205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score-arrow-down">
            <a:extLst xmlns:a="http://schemas.openxmlformats.org/drawingml/2006/main">
              <a:ext uri="{FF2B5EF4-FFF2-40B4-BE49-F238E27FC236}">
                <a16:creationId xmlns:a16="http://schemas.microsoft.com/office/drawing/2014/main" id="{10D08DC0-A8E8-49D5-9237-602EFEC8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40005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core-pred-panel">
            <a:extLst xmlns:a="http://schemas.openxmlformats.org/drawingml/2006/main">
              <a:ext uri="{FF2B5EF4-FFF2-40B4-BE49-F238E27FC236}">
                <a16:creationId xmlns:a16="http://schemas.microsoft.com/office/drawing/2014/main" id="{A1AD20AE-9914-4680-ABAA-C146046F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core-pred-title">
            <a:extLst xmlns:a="http://schemas.openxmlformats.org/drawingml/2006/main">
              <a:ext uri="{FF2B5EF4-FFF2-40B4-BE49-F238E27FC236}">
                <a16:creationId xmlns:a16="http://schemas.microsoft.com/office/drawing/2014/main" id="{BE21B2E8-D9FA-4CCF-AE1F-641FF8C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y_pred</a:t>
            </a:r>
          </a:p>
        </p:txBody>
      </p:sp>
      <p:sp>
        <p:nvSpPr>
          <p:cNvPr id="9" name="score-pred-body">
            <a:extLst xmlns:a="http://schemas.openxmlformats.org/drawingml/2006/main">
              <a:ext uri="{FF2B5EF4-FFF2-40B4-BE49-F238E27FC236}">
                <a16:creationId xmlns:a16="http://schemas.microsoft.com/office/drawing/2014/main" id="{5070D902-2846-47C6-A5A8-9FC9E83C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作成したCSV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PassengerId + 予測Survived</a:t>
            </a:r>
          </a:p>
        </p:txBody>
      </p:sp>
      <p:sp>
        <p:nvSpPr>
          <p:cNvPr id="10" name="score-merge-panel">
            <a:extLst xmlns:a="http://schemas.openxmlformats.org/drawingml/2006/main">
              <a:ext uri="{FF2B5EF4-FFF2-40B4-BE49-F238E27FC236}">
                <a16:creationId xmlns:a16="http://schemas.microsoft.com/office/drawing/2014/main" id="{28674F9D-AF1A-43D7-AD20-7A9BD26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3581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core-merge-title">
            <a:extLst xmlns:a="http://schemas.openxmlformats.org/drawingml/2006/main">
              <a:ext uri="{FF2B5EF4-FFF2-40B4-BE49-F238E27FC236}">
                <a16:creationId xmlns:a16="http://schemas.microsoft.com/office/drawing/2014/main" id="{122B1D0A-6A5A-4810-BB81-35FD048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1対1でmerge</a:t>
            </a:r>
          </a:p>
        </p:txBody>
      </p:sp>
      <p:sp>
        <p:nvSpPr>
          <p:cNvPr id="12" name="score-merge-body">
            <a:extLst xmlns:a="http://schemas.openxmlformats.org/drawingml/2006/main">
              <a:ext uri="{FF2B5EF4-FFF2-40B4-BE49-F238E27FC236}">
                <a16:creationId xmlns:a16="http://schemas.microsoft.com/office/drawing/2014/main" id="{2869467D-7A37-4E83-807C-EF273A9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on=PassengerId</a:t>
            </a:r>
          </a:p>
          <a:p xmlns:a="http://schemas.openxmlformats.org/drawingml/2006/main">
            <a:pPr algn="l">
              <a:def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不足・余分・重複IDはエラー</a:t>
            </a:r>
          </a:p>
        </p:txBody>
      </p:sp>
      <p:sp>
        <p:nvSpPr>
          <p:cNvPr id="13" name="score-answer-panel">
            <a:extLst xmlns:a="http://schemas.openxmlformats.org/drawingml/2006/main">
              <a:ext uri="{FF2B5EF4-FFF2-40B4-BE49-F238E27FC236}">
                <a16:creationId xmlns:a16="http://schemas.microsoft.com/office/drawing/2014/main" id="{BACBBFD9-9161-40AE-A49C-983B7031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30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core-answer-title">
            <a:extLst xmlns:a="http://schemas.openxmlformats.org/drawingml/2006/main">
              <a:ext uri="{FF2B5EF4-FFF2-40B4-BE49-F238E27FC236}">
                <a16:creationId xmlns:a16="http://schemas.microsoft.com/office/drawing/2014/main" id="{DF7FBD3A-95C0-4F18-A1E6-B0687CB8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y_answer</a:t>
            </a:r>
          </a:p>
        </p:txBody>
      </p:sp>
      <p:sp>
        <p:nvSpPr>
          <p:cNvPr id="15" name="score-answer-body">
            <a:extLst xmlns:a="http://schemas.openxmlformats.org/drawingml/2006/main">
              <a:ext uri="{FF2B5EF4-FFF2-40B4-BE49-F238E27FC236}">
                <a16:creationId xmlns:a16="http://schemas.microsoft.com/office/drawing/2014/main" id="{89DD9B82-8C9E-49D6-9078-B475570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当日配布の正解</a:t>
            </a:r>
          </a:p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PassengerId + 正解Survived</a:t>
            </a:r>
          </a:p>
        </p:txBody>
      </p:sp>
      <p:sp>
        <p:nvSpPr>
          <p:cNvPr id="16" name="score-result-panel">
            <a:extLst xmlns:a="http://schemas.openxmlformats.org/drawingml/2006/main">
              <a:ext uri="{FF2B5EF4-FFF2-40B4-BE49-F238E27FC236}">
                <a16:creationId xmlns:a16="http://schemas.microsoft.com/office/drawing/2014/main" id="{23E34251-4FC1-494E-A696-7847E06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core-result-title">
            <a:extLst xmlns:a="http://schemas.openxmlformats.org/drawingml/2006/main">
              <a:ext uri="{FF2B5EF4-FFF2-40B4-BE49-F238E27FC236}">
                <a16:creationId xmlns:a16="http://schemas.microsoft.com/office/drawing/2014/main" id="{500AD779-2A24-40B1-98AF-EE6EF8B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結合後にF1と混同行列を表示</a:t>
            </a:r>
          </a:p>
        </p:txBody>
      </p:sp>
      <p:sp>
        <p:nvSpPr>
          <p:cNvPr id="18" name="score-result-formula">
            <a:extLst xmlns:a="http://schemas.openxmlformats.org/drawingml/2006/main">
              <a:ext uri="{FF2B5EF4-FFF2-40B4-BE49-F238E27FC236}">
                <a16:creationId xmlns:a16="http://schemas.microsoft.com/office/drawing/2014/main" id="{1A2F29BF-70C2-46DA-887C-0153D7C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292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F1 = 2 × Precision × Recall ÷ (Precision + Recall)</a:t>
            </a:r>
          </a:p>
        </p:txBody>
      </p:sp>
      <p:sp>
        <p:nvSpPr>
          <p:cNvPr id="19" name="score-note">
            <a:extLst xmlns:a="http://schemas.openxmlformats.org/drawingml/2006/main">
              <a:ext uri="{FF2B5EF4-FFF2-40B4-BE49-F238E27FC236}">
                <a16:creationId xmlns:a16="http://schemas.microsoft.com/office/drawing/2014/main" id="{70292BF4-3E1C-4004-8D48-B6BE348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行順ではなくIDで突き合わせるため、予測を別の乗客へ誤対応させない。</a:t>
            </a:r>
          </a:p>
        </p:txBody>
      </p:sp>
    </p:spTree>
    <p:extLst>
      <p:ext uri="{BB962C8B-B14F-4D97-AF65-F5344CB8AC3E}">
        <p14:creationId xmlns:p14="http://schemas.microsoft.com/office/powerpoint/2010/main" val="876239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8673C7B-938D-43C2-B394-86C5D7D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今回の流れで守ること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5A367E2-1BA1-44A4-9276-4DE842F6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3つのルール</a:t>
            </a:r>
          </a:p>
        </p:txBody>
      </p:sp>
      <p:sp>
        <p:nvSpPr>
          <p:cNvPr id="3" name="close-no-0">
            <a:extLst xmlns:a="http://schemas.openxmlformats.org/drawingml/2006/main">
              <a:ext uri="{FF2B5EF4-FFF2-40B4-BE49-F238E27FC236}">
                <a16:creationId xmlns:a16="http://schemas.microsoft.com/office/drawing/2014/main" id="{1B2AFD83-E649-446F-A19F-4418FCCA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close-rule-0">
            <a:extLst xmlns:a="http://schemas.openxmlformats.org/drawingml/2006/main">
              <a:ext uri="{FF2B5EF4-FFF2-40B4-BE49-F238E27FC236}">
                <a16:creationId xmlns:a16="http://schemas.microsoft.com/office/drawing/2014/main" id="{C47F514B-CF22-4593-8145-00D9348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役割を分ける</a:t>
            </a:r>
          </a:p>
        </p:txBody>
      </p:sp>
      <p:sp>
        <p:nvSpPr>
          <p:cNvPr id="5" name="close-detail-0">
            <a:extLst xmlns:a="http://schemas.openxmlformats.org/drawingml/2006/main">
              <a:ext uri="{FF2B5EF4-FFF2-40B4-BE49-F238E27FC236}">
                <a16:creationId xmlns:a16="http://schemas.microsoft.com/office/drawing/2014/main" id="{F1C2EB32-7CA4-440E-8D59-CDF2E54C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Survived＝正解。PassengerId＝キー（特徴量外）。</a:t>
            </a:r>
          </a:p>
        </p:txBody>
      </p:sp>
      <p:sp>
        <p:nvSpPr>
          <p:cNvPr id="6" name="close-no-1">
            <a:extLst xmlns:a="http://schemas.openxmlformats.org/drawingml/2006/main">
              <a:ext uri="{FF2B5EF4-FFF2-40B4-BE49-F238E27FC236}">
                <a16:creationId xmlns:a16="http://schemas.microsoft.com/office/drawing/2014/main" id="{F9B57BD6-B46F-4F2B-B760-5A14E5C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close-rule-1">
            <a:extLst xmlns:a="http://schemas.openxmlformats.org/drawingml/2006/main">
              <a:ext uri="{FF2B5EF4-FFF2-40B4-BE49-F238E27FC236}">
                <a16:creationId xmlns:a16="http://schemas.microsoft.com/office/drawing/2014/main" id="{88339A07-8187-4140-8FCB-0106B8D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学習情報を漏らさない</a:t>
            </a:r>
          </a:p>
        </p:txBody>
      </p:sp>
      <p:sp>
        <p:nvSpPr>
          <p:cNvPr id="8" name="close-detail-1">
            <a:extLst xmlns:a="http://schemas.openxmlformats.org/drawingml/2006/main">
              <a:ext uri="{FF2B5EF4-FFF2-40B4-BE49-F238E27FC236}">
                <a16:creationId xmlns:a16="http://schemas.microsoft.com/office/drawing/2014/main" id="{3B51B9CC-CE1D-4F99-9FE0-4F2D9BC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中央値とOne-hotのカテゴリ一覧は学習foldだけでfitする。</a:t>
            </a:r>
          </a:p>
        </p:txBody>
      </p:sp>
      <p:sp>
        <p:nvSpPr>
          <p:cNvPr id="9" name="close-no-2">
            <a:extLst xmlns:a="http://schemas.openxmlformats.org/drawingml/2006/main">
              <a:ext uri="{FF2B5EF4-FFF2-40B4-BE49-F238E27FC236}">
                <a16:creationId xmlns:a16="http://schemas.microsoft.com/office/drawing/2014/main" id="{B19195FE-7536-4ECA-8587-4D41212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close-rule-2">
            <a:extLst xmlns:a="http://schemas.openxmlformats.org/drawingml/2006/main">
              <a:ext uri="{FF2B5EF4-FFF2-40B4-BE49-F238E27FC236}">
                <a16:creationId xmlns:a16="http://schemas.microsoft.com/office/drawing/2014/main" id="{7A28211C-FCF6-42F3-9763-292FCEE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F1で最後まで統一する</a:t>
            </a:r>
          </a:p>
        </p:txBody>
      </p:sp>
      <p:sp>
        <p:nvSpPr>
          <p:cNvPr id="11" name="close-detail-2">
            <a:extLst xmlns:a="http://schemas.openxmlformats.org/drawingml/2006/main">
              <a:ext uri="{FF2B5EF4-FFF2-40B4-BE49-F238E27FC236}">
                <a16:creationId xmlns:a16="http://schemas.microsoft.com/office/drawing/2014/main" id="{4B3D51E3-1985-4508-93DB-5C5EEDB2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5B616B"/>
                </a:solidFill>
                <a:latin typeface="Hiragino Sans"/>
                <a:ea typeface="Hiragino Sans"/>
                <a:cs typeface="Hiragino Sans"/>
              </a:rPr>
              <a:t>モデル候補・閾値・当日の答え合わせを同じ指標で評価する。</a:t>
            </a:r>
          </a:p>
        </p:txBody>
      </p:sp>
      <p:sp>
        <p:nvSpPr>
          <p:cNvPr id="1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10D4B429-C8E3-4143-B3D5-0DC2FDA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3" name="close-line">
            <a:extLst xmlns:a="http://schemas.openxmlformats.org/drawingml/2006/main">
              <a:ext uri="{FF2B5EF4-FFF2-40B4-BE49-F238E27FC236}">
                <a16:creationId xmlns:a16="http://schemas.microsoft.com/office/drawing/2014/main" id="{63ECA93C-10C7-4B5D-826D-85C697BC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コード → 予測CSV → PassengerIdで答え合わせ</a:t>
            </a:r>
          </a:p>
        </p:txBody>
      </p:sp>
    </p:spTree>
    <p:extLst>
      <p:ext uri="{BB962C8B-B14F-4D97-AF65-F5344CB8AC3E}">
        <p14:creationId xmlns:p14="http://schemas.microsoft.com/office/powerpoint/2010/main" val="2009946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2026-07-15T02:28:21.5800000Z</dcterms:created>
  <dcterms:modified xsi:type="dcterms:W3CDTF">2026-07-15T02:28:21.5800000Z</dcterms:modified>
</coreProperties>
</file>