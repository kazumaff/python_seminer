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D16330F-7858-4108-BD4C-5AA0D4ADDF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E5A2EF-AB7D-4A38-A439-9949D54463C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6667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FCD9238-D823-47FE-9477-387667375C23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第4回 Pythonセミナー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9412363-D63A-4F7C-8FB4-17A73D8D234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14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非線形回帰と検証設計を、ひとつの流れとして理解する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873387-BA35-47F8-A15E-7AA57305583E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981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非線形 / 非線形回帰モデル / SVR / クロスバリデーション / データリーク / seed / 特徴エンジニアリング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8C566E-DA91-40A8-944B-7E3DA6761D0B}"/>
              </a:ext>
            </a:extLst>
          </p:cNvPr>
          <p:cNvSpPr>
            <a:spLocks noGrp="1"/>
          </p:cNvSpPr>
          <p:nvPr/>
        </p:nvSpPr>
        <p:spPr>
          <a:xfrm>
            <a:off x="628650" y="3600450"/>
            <a:ext cx="1295400" cy="13525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22184F-8792-40C1-AA8B-BD9B597EA5E5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FF74E7D-6247-41C1-8FC0-2BC82872B0C2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E9262BB-0D61-43E3-8C78-C7E051262DC0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直線では足りない関係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1E20A1A-34AE-4CCA-9009-F98043A2E526}"/>
              </a:ext>
            </a:extLst>
          </p:cNvPr>
          <p:cNvSpPr>
            <a:spLocks noGrp="1"/>
          </p:cNvSpPr>
          <p:nvPr/>
        </p:nvSpPr>
        <p:spPr>
          <a:xfrm>
            <a:off x="19526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EF8469F-9BC1-49AA-AB6F-BA4152B2EF75}"/>
              </a:ext>
            </a:extLst>
          </p:cNvPr>
          <p:cNvSpPr>
            <a:spLocks noGrp="1"/>
          </p:cNvSpPr>
          <p:nvPr/>
        </p:nvSpPr>
        <p:spPr>
          <a:xfrm>
            <a:off x="2190750" y="3600450"/>
            <a:ext cx="1295400" cy="13525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A969CCD-B760-480A-BDBB-D88FE9AFB9B7}"/>
              </a:ext>
            </a:extLst>
          </p:cNvPr>
          <p:cNvSpPr>
            <a:spLocks noGrp="1"/>
          </p:cNvSpPr>
          <p:nvPr/>
        </p:nvSpPr>
        <p:spPr>
          <a:xfrm>
            <a:off x="23622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AEB0B35-197D-4291-B408-AF8A439FE076}"/>
              </a:ext>
            </a:extLst>
          </p:cNvPr>
          <p:cNvSpPr>
            <a:spLocks noGrp="1"/>
          </p:cNvSpPr>
          <p:nvPr/>
        </p:nvSpPr>
        <p:spPr>
          <a:xfrm>
            <a:off x="23622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非線形回帰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71331D-00AA-4E41-9974-7B420048B5F7}"/>
              </a:ext>
            </a:extLst>
          </p:cNvPr>
          <p:cNvSpPr>
            <a:spLocks noGrp="1"/>
          </p:cNvSpPr>
          <p:nvPr/>
        </p:nvSpPr>
        <p:spPr>
          <a:xfrm>
            <a:off x="23622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曲線・相互作用を学ぶ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5D5AE5F-8052-4A2C-94BF-2219B482C075}"/>
              </a:ext>
            </a:extLst>
          </p:cNvPr>
          <p:cNvSpPr>
            <a:spLocks noGrp="1"/>
          </p:cNvSpPr>
          <p:nvPr/>
        </p:nvSpPr>
        <p:spPr>
          <a:xfrm>
            <a:off x="35147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E3FA57B-717D-43DC-9909-B841B7397D83}"/>
              </a:ext>
            </a:extLst>
          </p:cNvPr>
          <p:cNvSpPr>
            <a:spLocks noGrp="1"/>
          </p:cNvSpPr>
          <p:nvPr/>
        </p:nvSpPr>
        <p:spPr>
          <a:xfrm>
            <a:off x="3752850" y="3600450"/>
            <a:ext cx="1295400" cy="13525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35E3A3-2FEA-48E3-A2E8-CA66CC634C94}"/>
              </a:ext>
            </a:extLst>
          </p:cNvPr>
          <p:cNvSpPr>
            <a:spLocks noGrp="1"/>
          </p:cNvSpPr>
          <p:nvPr/>
        </p:nvSpPr>
        <p:spPr>
          <a:xfrm>
            <a:off x="39243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4A09765-F274-4854-91B2-CB93FC860D6E}"/>
              </a:ext>
            </a:extLst>
          </p:cNvPr>
          <p:cNvSpPr>
            <a:spLocks noGrp="1"/>
          </p:cNvSpPr>
          <p:nvPr/>
        </p:nvSpPr>
        <p:spPr>
          <a:xfrm>
            <a:off x="39243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SVR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B064D44-67E3-4239-A460-2AFE62CABED1}"/>
              </a:ext>
            </a:extLst>
          </p:cNvPr>
          <p:cNvSpPr>
            <a:spLocks noGrp="1"/>
          </p:cNvSpPr>
          <p:nvPr/>
        </p:nvSpPr>
        <p:spPr>
          <a:xfrm>
            <a:off x="39243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epsilon幅とカーネル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34A4940-F7F7-4B9A-8F72-06339DD78F32}"/>
              </a:ext>
            </a:extLst>
          </p:cNvPr>
          <p:cNvSpPr>
            <a:spLocks noGrp="1"/>
          </p:cNvSpPr>
          <p:nvPr/>
        </p:nvSpPr>
        <p:spPr>
          <a:xfrm>
            <a:off x="50768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971ADCD-4B42-42AA-9F33-FA2F370A6BF1}"/>
              </a:ext>
            </a:extLst>
          </p:cNvPr>
          <p:cNvSpPr>
            <a:spLocks noGrp="1"/>
          </p:cNvSpPr>
          <p:nvPr/>
        </p:nvSpPr>
        <p:spPr>
          <a:xfrm>
            <a:off x="5314950" y="3600450"/>
            <a:ext cx="1295400" cy="13525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0ED2A8B-F1C8-402B-A09F-89B55E8FBDCA}"/>
              </a:ext>
            </a:extLst>
          </p:cNvPr>
          <p:cNvSpPr>
            <a:spLocks noGrp="1"/>
          </p:cNvSpPr>
          <p:nvPr/>
        </p:nvSpPr>
        <p:spPr>
          <a:xfrm>
            <a:off x="54864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4BA63D6-5D43-4BDE-90BA-C68E9E67BC24}"/>
              </a:ext>
            </a:extLst>
          </p:cNvPr>
          <p:cNvSpPr>
            <a:spLocks noGrp="1"/>
          </p:cNvSpPr>
          <p:nvPr/>
        </p:nvSpPr>
        <p:spPr>
          <a:xfrm>
            <a:off x="54864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CV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56BA021-A7DD-415B-B4F2-8A2B9F5146CC}"/>
              </a:ext>
            </a:extLst>
          </p:cNvPr>
          <p:cNvSpPr>
            <a:spLocks noGrp="1"/>
          </p:cNvSpPr>
          <p:nvPr/>
        </p:nvSpPr>
        <p:spPr>
          <a:xfrm>
            <a:off x="54864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分割を替えて評価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FF4AA48-C2A2-4859-A6C6-0D6E2FD5FB8D}"/>
              </a:ext>
            </a:extLst>
          </p:cNvPr>
          <p:cNvSpPr>
            <a:spLocks noGrp="1"/>
          </p:cNvSpPr>
          <p:nvPr/>
        </p:nvSpPr>
        <p:spPr>
          <a:xfrm>
            <a:off x="66389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AD841AD-E57C-42F8-96FD-26AF66BB514C}"/>
              </a:ext>
            </a:extLst>
          </p:cNvPr>
          <p:cNvSpPr>
            <a:spLocks noGrp="1"/>
          </p:cNvSpPr>
          <p:nvPr/>
        </p:nvSpPr>
        <p:spPr>
          <a:xfrm>
            <a:off x="6877050" y="3600450"/>
            <a:ext cx="1295400" cy="13525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CABE853-2B8F-4CFD-8C1B-0E124287F749}"/>
              </a:ext>
            </a:extLst>
          </p:cNvPr>
          <p:cNvSpPr>
            <a:spLocks noGrp="1"/>
          </p:cNvSpPr>
          <p:nvPr/>
        </p:nvSpPr>
        <p:spPr>
          <a:xfrm>
            <a:off x="70485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AB7CCFE-29CF-46A6-B412-F2F1E440E65C}"/>
              </a:ext>
            </a:extLst>
          </p:cNvPr>
          <p:cNvSpPr>
            <a:spLocks noGrp="1"/>
          </p:cNvSpPr>
          <p:nvPr/>
        </p:nvSpPr>
        <p:spPr>
          <a:xfrm>
            <a:off x="70485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リーク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BC769AB-09C0-4411-BC4F-EBC5007CF0B1}"/>
              </a:ext>
            </a:extLst>
          </p:cNvPr>
          <p:cNvSpPr>
            <a:spLocks noGrp="1"/>
          </p:cNvSpPr>
          <p:nvPr/>
        </p:nvSpPr>
        <p:spPr>
          <a:xfrm>
            <a:off x="70485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評価を汚さない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2E6AE38-7941-4D6A-AE6D-B8B45B34F799}"/>
              </a:ext>
            </a:extLst>
          </p:cNvPr>
          <p:cNvSpPr>
            <a:spLocks noGrp="1"/>
          </p:cNvSpPr>
          <p:nvPr/>
        </p:nvSpPr>
        <p:spPr>
          <a:xfrm>
            <a:off x="82010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EFE4E6B-F347-4BEB-9EC9-ACBE87F75087}"/>
              </a:ext>
            </a:extLst>
          </p:cNvPr>
          <p:cNvSpPr>
            <a:spLocks noGrp="1"/>
          </p:cNvSpPr>
          <p:nvPr/>
        </p:nvSpPr>
        <p:spPr>
          <a:xfrm>
            <a:off x="8439150" y="3600450"/>
            <a:ext cx="1295400" cy="135255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C0C1D73-8F69-4FF8-830E-3860F37FD9D5}"/>
              </a:ext>
            </a:extLst>
          </p:cNvPr>
          <p:cNvSpPr>
            <a:spLocks noGrp="1"/>
          </p:cNvSpPr>
          <p:nvPr/>
        </p:nvSpPr>
        <p:spPr>
          <a:xfrm>
            <a:off x="86106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B520A45-5061-466E-9564-102D0034377F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seed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6DFBAE7-E8C7-4355-976A-1D2AC3314B23}"/>
              </a:ext>
            </a:extLst>
          </p:cNvPr>
          <p:cNvSpPr>
            <a:spLocks noGrp="1"/>
          </p:cNvSpPr>
          <p:nvPr/>
        </p:nvSpPr>
        <p:spPr>
          <a:xfrm>
            <a:off x="86106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同じ条件を再現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0F05076-94A2-4596-ACA8-D980EEE4AE0D}"/>
              </a:ext>
            </a:extLst>
          </p:cNvPr>
          <p:cNvSpPr>
            <a:spLocks noGrp="1"/>
          </p:cNvSpPr>
          <p:nvPr/>
        </p:nvSpPr>
        <p:spPr>
          <a:xfrm>
            <a:off x="9763125" y="40957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F43310A-4077-44F6-9A92-162A8339111D}"/>
              </a:ext>
            </a:extLst>
          </p:cNvPr>
          <p:cNvSpPr>
            <a:spLocks noGrp="1"/>
          </p:cNvSpPr>
          <p:nvPr/>
        </p:nvSpPr>
        <p:spPr>
          <a:xfrm>
            <a:off x="10001250" y="3600450"/>
            <a:ext cx="1295400" cy="135255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B40AD7F-FAD3-4602-B83F-D4F54AB3D9D8}"/>
              </a:ext>
            </a:extLst>
          </p:cNvPr>
          <p:cNvSpPr>
            <a:spLocks noGrp="1"/>
          </p:cNvSpPr>
          <p:nvPr/>
        </p:nvSpPr>
        <p:spPr>
          <a:xfrm>
            <a:off x="10172700" y="37338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53609ED-E4BB-44A1-8E17-2E7D49C57CB5}"/>
              </a:ext>
            </a:extLst>
          </p:cNvPr>
          <p:cNvSpPr>
            <a:spLocks noGrp="1"/>
          </p:cNvSpPr>
          <p:nvPr/>
        </p:nvSpPr>
        <p:spPr>
          <a:xfrm>
            <a:off x="10172700" y="396240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特徴量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2684AE3-5D36-4ED7-ABD2-1F8560289A5C}"/>
              </a:ext>
            </a:extLst>
          </p:cNvPr>
          <p:cNvSpPr>
            <a:spLocks noGrp="1"/>
          </p:cNvSpPr>
          <p:nvPr/>
        </p:nvSpPr>
        <p:spPr>
          <a:xfrm>
            <a:off x="10172700" y="4286250"/>
            <a:ext cx="95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入力を学びやすくする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7450C3A-D426-4562-8194-5F51EF89691B}"/>
              </a:ext>
            </a:extLst>
          </p:cNvPr>
          <p:cNvSpPr>
            <a:spLocks noGrp="1"/>
          </p:cNvSpPr>
          <p:nvPr/>
        </p:nvSpPr>
        <p:spPr>
          <a:xfrm>
            <a:off x="628650" y="5657850"/>
            <a:ext cx="981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目的: モデルを複雑にするだけでなく、未知データで信頼できる評価手順まで説明できるようにする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B48D600-637F-4149-A3A7-F5EEA396018B}"/>
              </a:ext>
            </a:extLst>
          </p:cNvPr>
          <p:cNvSpPr>
            <a:spLocks noGrp="1"/>
          </p:cNvSpPr>
          <p:nvPr/>
        </p:nvSpPr>
        <p:spPr>
          <a:xfrm>
            <a:off x="62865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157EE09-BD68-4745-B0DB-4169D7A1AB90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55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BE839A1-79DA-4AB9-A3FC-2102CDB676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4F56A8-EE79-4A32-9F4E-024EC7F62B46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3F5F71-6E4C-4C70-AD29-7E77935DEB69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NONLINEAR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67AD28-5568-4A2C-A7EC-75F1EC4FF1DD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非線形とは、傾きや効果が場所によって変わる関係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CC8489-694B-4B7F-B6C1-747FEE8BF9FA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4B2DCA5-F3C6-4130-9E23-A8A558AA967C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pic>
        <p:nvPicPr>
          <p:cNvPr id="7" name="グラフィックス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6750" y="1676400"/>
            <a:ext cx="4953000" cy="30099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0AA17AC-BB16-4B46-8857-B413F54D370D}"/>
              </a:ext>
            </a:extLst>
          </p:cNvPr>
          <p:cNvSpPr>
            <a:spLocks noGrp="1"/>
          </p:cNvSpPr>
          <p:nvPr/>
        </p:nvSpPr>
        <p:spPr>
          <a:xfrm>
            <a:off x="876300" y="48006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灰色の直線では、曲がった構造を拾いきれない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FC85E05-D389-4C37-A2E7-C8A8EBCD0B84}"/>
              </a:ext>
            </a:extLst>
          </p:cNvPr>
          <p:cNvSpPr>
            <a:spLocks noGrp="1"/>
          </p:cNvSpPr>
          <p:nvPr/>
        </p:nvSpPr>
        <p:spPr>
          <a:xfrm>
            <a:off x="6286500" y="1638300"/>
            <a:ext cx="2171700" cy="11239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70A087B-A8DC-4D6B-A034-8F40D1ADC842}"/>
              </a:ext>
            </a:extLst>
          </p:cNvPr>
          <p:cNvSpPr>
            <a:spLocks noGrp="1"/>
          </p:cNvSpPr>
          <p:nvPr/>
        </p:nvSpPr>
        <p:spPr>
          <a:xfrm>
            <a:off x="6457950" y="17716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曲線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BA07367-875F-4E30-87E3-0E11F60BDD06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1828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傾きが変わる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2A768C-E547-487C-B2B2-E4CBD1767F44}"/>
              </a:ext>
            </a:extLst>
          </p:cNvPr>
          <p:cNvSpPr>
            <a:spLocks noGrp="1"/>
          </p:cNvSpPr>
          <p:nvPr/>
        </p:nvSpPr>
        <p:spPr>
          <a:xfrm>
            <a:off x="6457950" y="23241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xが増えても、yの増え方が一定ではない。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9B8CBC-09E0-4E2E-B680-601D2F3219DA}"/>
              </a:ext>
            </a:extLst>
          </p:cNvPr>
          <p:cNvSpPr>
            <a:spLocks noGrp="1"/>
          </p:cNvSpPr>
          <p:nvPr/>
        </p:nvSpPr>
        <p:spPr>
          <a:xfrm>
            <a:off x="8782050" y="1638300"/>
            <a:ext cx="2171700" cy="11239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2CA9E84-397E-4B3A-BA83-86EB05EDEDCC}"/>
              </a:ext>
            </a:extLst>
          </p:cNvPr>
          <p:cNvSpPr>
            <a:spLocks noGrp="1"/>
          </p:cNvSpPr>
          <p:nvPr/>
        </p:nvSpPr>
        <p:spPr>
          <a:xfrm>
            <a:off x="8953500" y="17716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飽和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83CA3F-7CAB-4F77-A3EC-79F8FDDB9F9B}"/>
              </a:ext>
            </a:extLst>
          </p:cNvPr>
          <p:cNvSpPr>
            <a:spLocks noGrp="1"/>
          </p:cNvSpPr>
          <p:nvPr/>
        </p:nvSpPr>
        <p:spPr>
          <a:xfrm>
            <a:off x="8953500" y="2000250"/>
            <a:ext cx="1828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効果が頭打ち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EB0A748-244C-4948-986B-C9968696FBD9}"/>
              </a:ext>
            </a:extLst>
          </p:cNvPr>
          <p:cNvSpPr>
            <a:spLocks noGrp="1"/>
          </p:cNvSpPr>
          <p:nvPr/>
        </p:nvSpPr>
        <p:spPr>
          <a:xfrm>
            <a:off x="8953500" y="23241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ある範囲から変化が小さくなる。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EAA5A60-47DF-440F-A770-B0C9D2A87587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2171700" cy="112395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3CCF9A0-BA8E-4635-ADE3-27714889381B}"/>
              </a:ext>
            </a:extLst>
          </p:cNvPr>
          <p:cNvSpPr>
            <a:spLocks noGrp="1"/>
          </p:cNvSpPr>
          <p:nvPr/>
        </p:nvSpPr>
        <p:spPr>
          <a:xfrm>
            <a:off x="6457950" y="32194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相互作用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6562598-DC5C-4C30-89A3-0BC635EC6E9A}"/>
              </a:ext>
            </a:extLst>
          </p:cNvPr>
          <p:cNvSpPr>
            <a:spLocks noGrp="1"/>
          </p:cNvSpPr>
          <p:nvPr/>
        </p:nvSpPr>
        <p:spPr>
          <a:xfrm>
            <a:off x="6457950" y="3448050"/>
            <a:ext cx="1828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組み合わせで効く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53972A-2597-4CF1-AB55-EB92C3E3F722}"/>
              </a:ext>
            </a:extLst>
          </p:cNvPr>
          <p:cNvSpPr>
            <a:spLocks noGrp="1"/>
          </p:cNvSpPr>
          <p:nvPr/>
        </p:nvSpPr>
        <p:spPr>
          <a:xfrm>
            <a:off x="6457950" y="37719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x1だけでなく、x1×x2が効く。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5DD2090-B7FE-408D-94F4-16810B04528D}"/>
              </a:ext>
            </a:extLst>
          </p:cNvPr>
          <p:cNvSpPr>
            <a:spLocks noGrp="1"/>
          </p:cNvSpPr>
          <p:nvPr/>
        </p:nvSpPr>
        <p:spPr>
          <a:xfrm>
            <a:off x="8782050" y="3086100"/>
            <a:ext cx="2171700" cy="11239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0372895-7DDA-4F7D-B0DE-4DF359C1C0A6}"/>
              </a:ext>
            </a:extLst>
          </p:cNvPr>
          <p:cNvSpPr>
            <a:spLocks noGrp="1"/>
          </p:cNvSpPr>
          <p:nvPr/>
        </p:nvSpPr>
        <p:spPr>
          <a:xfrm>
            <a:off x="8953500" y="32194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閾値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9E07E78-3699-4252-9952-67AAB8E51A99}"/>
              </a:ext>
            </a:extLst>
          </p:cNvPr>
          <p:cNvSpPr>
            <a:spLocks noGrp="1"/>
          </p:cNvSpPr>
          <p:nvPr/>
        </p:nvSpPr>
        <p:spPr>
          <a:xfrm>
            <a:off x="8953500" y="3448050"/>
            <a:ext cx="1828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急に変化する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97C1CFB-CB2D-4B2C-8A95-DE00FFC82477}"/>
              </a:ext>
            </a:extLst>
          </p:cNvPr>
          <p:cNvSpPr>
            <a:spLocks noGrp="1"/>
          </p:cNvSpPr>
          <p:nvPr/>
        </p:nvSpPr>
        <p:spPr>
          <a:xfrm>
            <a:off x="8953500" y="37719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一定値を超えたときだけ反応する。</a:t>
            </a: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7495DF18-33D1-4A2B-85E2-52F2FE42B9DC}"/>
              </a:ext>
            </a:extLst>
          </p:cNvPr>
          <p:cNvSpPr>
            <a:spLocks noGrp="1"/>
          </p:cNvSpPr>
          <p:nvPr/>
        </p:nvSpPr>
        <p:spPr>
          <a:xfrm>
            <a:off x="6334125" y="4857750"/>
            <a:ext cx="85725" cy="8572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7E72911-CC7E-40EB-93BE-58861E907995}"/>
              </a:ext>
            </a:extLst>
          </p:cNvPr>
          <p:cNvSpPr>
            <a:spLocks noGrp="1"/>
          </p:cNvSpPr>
          <p:nvPr/>
        </p:nvSpPr>
        <p:spPr>
          <a:xfrm>
            <a:off x="6543675" y="4781550"/>
            <a:ext cx="4552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線形: y = ax + b のように、変化の割合が一定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76B39637-58C3-4BE1-88B3-4EA086991DC7}"/>
              </a:ext>
            </a:extLst>
          </p:cNvPr>
          <p:cNvSpPr>
            <a:spLocks noGrp="1"/>
          </p:cNvSpPr>
          <p:nvPr/>
        </p:nvSpPr>
        <p:spPr>
          <a:xfrm>
            <a:off x="6334125" y="5219700"/>
            <a:ext cx="85725" cy="8572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7A16FF3-C581-4092-A993-EFC2EA8E5D0B}"/>
              </a:ext>
            </a:extLst>
          </p:cNvPr>
          <p:cNvSpPr>
            <a:spLocks noGrp="1"/>
          </p:cNvSpPr>
          <p:nvPr/>
        </p:nvSpPr>
        <p:spPr>
          <a:xfrm>
            <a:off x="6543675" y="5143500"/>
            <a:ext cx="4552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非線形: 二乗、対数、指数、周期、相互作用などで曲がる</a:t>
            </a:r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id="{46DB2C4D-35C3-406C-A31B-F9246D4A7B6F}"/>
              </a:ext>
            </a:extLst>
          </p:cNvPr>
          <p:cNvSpPr>
            <a:spLocks noGrp="1"/>
          </p:cNvSpPr>
          <p:nvPr/>
        </p:nvSpPr>
        <p:spPr>
          <a:xfrm>
            <a:off x="6334125" y="5581650"/>
            <a:ext cx="85725" cy="8572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638C63D-F9EF-4117-97AA-3503DAED1442}"/>
              </a:ext>
            </a:extLst>
          </p:cNvPr>
          <p:cNvSpPr>
            <a:spLocks noGrp="1"/>
          </p:cNvSpPr>
          <p:nvPr/>
        </p:nvSpPr>
        <p:spPr>
          <a:xfrm>
            <a:off x="6543675" y="5505450"/>
            <a:ext cx="4552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モデル選択では、まず散布図や残差を見て形を疑う</a:t>
            </a:r>
          </a:p>
        </p:txBody>
      </p:sp>
    </p:spTree>
    <p:extLst>
      <p:ext uri="{BB962C8B-B14F-4D97-AF65-F5344CB8AC3E}">
        <p14:creationId xmlns:p14="http://schemas.microsoft.com/office/powerpoint/2010/main" val="200422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C3ED146-13A0-4277-98DB-795BFE4DBC53}"/>
              </a:ext>
            </a:extLst>
          </p:cNvPr>
          <p:cNvSpPr>
            <a:spLocks noGrp="1"/>
          </p:cNvSpPr>
          <p:nvPr/>
        </p:nvSpPr>
        <p:spPr>
          <a:xfrm>
            <a:off x="0" y="1204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016F64-6E99-4AB7-AE3A-8023FB4DD13B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BC2C0F-689B-46C1-8FB0-5BFEF304196D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REGRESSION MODEL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047EE1-D068-41F7-9607-BA17D810D276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非線形回帰モデルは f(X) の形を広げる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DEAE8D9-C34D-4F7C-B2A1-A36216453BE1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2CB27C-A024-44D6-9E95-3C0DB2ED7A85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D5CE74-4988-4C46-84E6-C622E3DCFBC3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3581400" cy="14668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A87429-6591-451E-B1FE-FC2CC969A714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基本形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FEAA7D5-5581-4BCE-A58A-C0F37EAAE208}"/>
              </a:ext>
            </a:extLst>
          </p:cNvPr>
          <p:cNvSpPr>
            <a:spLocks noGrp="1"/>
          </p:cNvSpPr>
          <p:nvPr/>
        </p:nvSpPr>
        <p:spPr>
          <a:xfrm>
            <a:off x="895350" y="20574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y = f(X) + ε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0436D16-370A-4819-BE6A-F416B4D36BC8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3238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線形回帰では f(X) を直線・平面として考える。非線形回帰では、曲線、局所構造、相互作用を表現できるようにする。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1488D4B-0A21-44D0-99EA-61570DE59FF0}"/>
              </a:ext>
            </a:extLst>
          </p:cNvPr>
          <p:cNvSpPr>
            <a:spLocks noGrp="1"/>
          </p:cNvSpPr>
          <p:nvPr/>
        </p:nvSpPr>
        <p:spPr>
          <a:xfrm>
            <a:off x="5143500" y="1714500"/>
            <a:ext cx="1695450" cy="10668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4C14BD-E8C2-420C-BDA5-DA4CBAA5DADD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多項式回帰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8A5E3B1-AA85-4AE6-A079-E4BC752D8FF3}"/>
              </a:ext>
            </a:extLst>
          </p:cNvPr>
          <p:cNvSpPr>
            <a:spLocks noGrp="1"/>
          </p:cNvSpPr>
          <p:nvPr/>
        </p:nvSpPr>
        <p:spPr>
          <a:xfrm>
            <a:off x="5314950" y="226695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x², x1x2を追加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74AD86F-401C-4A96-A3F9-1412582FA889}"/>
              </a:ext>
            </a:extLst>
          </p:cNvPr>
          <p:cNvSpPr>
            <a:spLocks noGrp="1"/>
          </p:cNvSpPr>
          <p:nvPr/>
        </p:nvSpPr>
        <p:spPr>
          <a:xfrm>
            <a:off x="7143750" y="1714500"/>
            <a:ext cx="1695450" cy="10668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3DF1C07-EC86-4C96-8709-5D91137CB959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SVR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C8E9501-60EF-4B3E-B8C2-A379BD392DA7}"/>
              </a:ext>
            </a:extLst>
          </p:cNvPr>
          <p:cNvSpPr>
            <a:spLocks noGrp="1"/>
          </p:cNvSpPr>
          <p:nvPr/>
        </p:nvSpPr>
        <p:spPr>
          <a:xfrm>
            <a:off x="7315200" y="226695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epsilon幅 + kernel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985D12A-B9DE-44A6-A96D-F545EB7F6DD8}"/>
              </a:ext>
            </a:extLst>
          </p:cNvPr>
          <p:cNvSpPr>
            <a:spLocks noGrp="1"/>
          </p:cNvSpPr>
          <p:nvPr/>
        </p:nvSpPr>
        <p:spPr>
          <a:xfrm>
            <a:off x="9144000" y="1714500"/>
            <a:ext cx="1695450" cy="10668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723DA9B-91AF-4FF9-90B5-223E0BD00C29}"/>
              </a:ext>
            </a:extLst>
          </p:cNvPr>
          <p:cNvSpPr>
            <a:spLocks noGrp="1"/>
          </p:cNvSpPr>
          <p:nvPr/>
        </p:nvSpPr>
        <p:spPr>
          <a:xfrm>
            <a:off x="9315450" y="188595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決定木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A5149CE-D4E4-452E-BB1C-37CA035A65C7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条件分岐で空間分割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2101ED5-85A1-4437-B245-73825B18631B}"/>
              </a:ext>
            </a:extLst>
          </p:cNvPr>
          <p:cNvSpPr>
            <a:spLocks noGrp="1"/>
          </p:cNvSpPr>
          <p:nvPr/>
        </p:nvSpPr>
        <p:spPr>
          <a:xfrm>
            <a:off x="5143500" y="3181350"/>
            <a:ext cx="1695450" cy="10668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A666A5E-A2D8-4AEA-8672-1369B6A80A79}"/>
              </a:ext>
            </a:extLst>
          </p:cNvPr>
          <p:cNvSpPr>
            <a:spLocks noGrp="1"/>
          </p:cNvSpPr>
          <p:nvPr/>
        </p:nvSpPr>
        <p:spPr>
          <a:xfrm>
            <a:off x="5314950" y="335280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Random Forest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4C8330C-7F59-4E0D-93F9-3EF8618F85C7}"/>
              </a:ext>
            </a:extLst>
          </p:cNvPr>
          <p:cNvSpPr>
            <a:spLocks noGrp="1"/>
          </p:cNvSpPr>
          <p:nvPr/>
        </p:nvSpPr>
        <p:spPr>
          <a:xfrm>
            <a:off x="5314950" y="3838074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dirty="0" err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木を多数平均</a:t>
            </a:r>
            <a:endParaRPr sz="1050" b="0" dirty="0">
              <a:solidFill>
                <a:srgbClr val="5B6573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8E225F5-230D-4977-B8F4-D1A987350BAE}"/>
              </a:ext>
            </a:extLst>
          </p:cNvPr>
          <p:cNvSpPr>
            <a:spLocks noGrp="1"/>
          </p:cNvSpPr>
          <p:nvPr/>
        </p:nvSpPr>
        <p:spPr>
          <a:xfrm>
            <a:off x="7143750" y="3181350"/>
            <a:ext cx="1695450" cy="10668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C4AF363-97ED-4365-8995-F54DDE178244}"/>
              </a:ext>
            </a:extLst>
          </p:cNvPr>
          <p:cNvSpPr>
            <a:spLocks noGrp="1"/>
          </p:cNvSpPr>
          <p:nvPr/>
        </p:nvSpPr>
        <p:spPr>
          <a:xfrm>
            <a:off x="7315200" y="335280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GBDT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D0AD386-B7E6-41D2-B480-E42E9844751F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誤差を順に補正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8336BE5-ECC7-462A-8291-B4DC108CAB6D}"/>
              </a:ext>
            </a:extLst>
          </p:cNvPr>
          <p:cNvSpPr>
            <a:spLocks noGrp="1"/>
          </p:cNvSpPr>
          <p:nvPr/>
        </p:nvSpPr>
        <p:spPr>
          <a:xfrm>
            <a:off x="9144000" y="3181350"/>
            <a:ext cx="1695450" cy="106680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A96FD06-3004-4293-87C8-3BB350C69616}"/>
              </a:ext>
            </a:extLst>
          </p:cNvPr>
          <p:cNvSpPr>
            <a:spLocks noGrp="1"/>
          </p:cNvSpPr>
          <p:nvPr/>
        </p:nvSpPr>
        <p:spPr>
          <a:xfrm>
            <a:off x="9315450" y="335280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Neural Net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6BF562-6A44-4A1C-A6DB-C9A4C37D34FE}"/>
              </a:ext>
            </a:extLst>
          </p:cNvPr>
          <p:cNvSpPr>
            <a:spLocks noGrp="1"/>
          </p:cNvSpPr>
          <p:nvPr/>
        </p:nvSpPr>
        <p:spPr>
          <a:xfrm>
            <a:off x="9315450" y="37338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多層の非線形変換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90FA4AB-7460-4659-8371-1FE1313C2627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3143250" cy="76200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2AD26FD-3731-422F-B271-D260B1A4B3F1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12001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C829AC4-86F0-4A81-A400-EE33F026BEBD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単純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E4CB1F9-BF6C-40B0-BFD9-056E9F64D66E}"/>
              </a:ext>
            </a:extLst>
          </p:cNvPr>
          <p:cNvSpPr>
            <a:spLocks noGrp="1"/>
          </p:cNvSpPr>
          <p:nvPr/>
        </p:nvSpPr>
        <p:spPr>
          <a:xfrm>
            <a:off x="3476625" y="43624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複雑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27654C3-9BB7-4063-831E-8024A24EDA75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371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表現力が上がるほど、過学習・解釈性・計算量の管理が重要になる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397D94E-EB32-4F43-8653-542D0E9A3FB9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970FC58-1A39-4272-AC36-DF5BA74F3797}"/>
              </a:ext>
            </a:extLst>
          </p:cNvPr>
          <p:cNvSpPr>
            <a:spLocks noGrp="1"/>
          </p:cNvSpPr>
          <p:nvPr/>
        </p:nvSpPr>
        <p:spPr>
          <a:xfrm>
            <a:off x="5143500" y="4762500"/>
            <a:ext cx="571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モデル単体ではなく、CVとリーク防止まで含めて性能を判断する</a:t>
            </a:r>
          </a:p>
        </p:txBody>
      </p:sp>
    </p:spTree>
    <p:extLst>
      <p:ext uri="{BB962C8B-B14F-4D97-AF65-F5344CB8AC3E}">
        <p14:creationId xmlns:p14="http://schemas.microsoft.com/office/powerpoint/2010/main" val="122105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5636F50-47A1-42B0-8FD4-9B82376059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BA0B36-54C3-41D7-9134-2C96487FF7E1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24C182-0924-46D5-911D-80F0E5748EC3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COMPLEXITY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7994916-6072-49D7-BB04-878326530795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非線形モデルは強いが、複雑すぎると汎化しない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1BEEE0-0A3F-496D-85C2-2C5788FCAEC9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0C588D-AF26-41CD-9574-73261A29A6A9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pic>
        <p:nvPicPr>
          <p:cNvPr id="7" name="グラフィックス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8200" y="1695450"/>
            <a:ext cx="2952750" cy="20955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71C25F6-67DC-421F-A6E7-218529D28D2E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単純すぎる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D09A68A-2ED1-4A15-B744-F24EE7996CD9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訓練も検証も悪い</a:t>
            </a:r>
          </a:p>
        </p:txBody>
      </p:sp>
      <p:pic>
        <p:nvPicPr>
          <p:cNvPr id="10" name="グラフィックス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2950" y="1695450"/>
            <a:ext cx="2952750" cy="209550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7D7930-9554-48E4-8C3A-2305500F0D2D}"/>
              </a:ext>
            </a:extLst>
          </p:cNvPr>
          <p:cNvSpPr>
            <a:spLocks noGrp="1"/>
          </p:cNvSpPr>
          <p:nvPr/>
        </p:nvSpPr>
        <p:spPr>
          <a:xfrm>
            <a:off x="4724400" y="39624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ちょうどよい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169BC07-4EC7-4E08-9FC5-D4865296FC8B}"/>
              </a:ext>
            </a:extLst>
          </p:cNvPr>
          <p:cNvSpPr>
            <a:spLocks noGrp="1"/>
          </p:cNvSpPr>
          <p:nvPr/>
        </p:nvSpPr>
        <p:spPr>
          <a:xfrm>
            <a:off x="4648200" y="43053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未知データにも近い</a:t>
            </a:r>
          </a:p>
        </p:txBody>
      </p:sp>
      <p:pic>
        <p:nvPicPr>
          <p:cNvPr id="13" name="グラフィックス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67700" y="1695450"/>
            <a:ext cx="2952750" cy="209550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1B39BD8-1C48-4B07-9514-F557C5A0897A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複雑すぎる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660A58F-0B62-4BC0-850D-A7E1EA98A001}"/>
              </a:ext>
            </a:extLst>
          </p:cNvPr>
          <p:cNvSpPr>
            <a:spLocks noGrp="1"/>
          </p:cNvSpPr>
          <p:nvPr/>
        </p:nvSpPr>
        <p:spPr>
          <a:xfrm>
            <a:off x="8362950" y="43053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訓練だけ良くなる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9BD5CBA-F25B-4DD4-9DDB-BA42B753FBC9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9525000" cy="9715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B55D174-AB2B-4527-9C8E-43AA30A6F78C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918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判断の軸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C98B304-74AC-4837-A9B3-5D40DB2E9968}"/>
              </a:ext>
            </a:extLst>
          </p:cNvPr>
          <p:cNvSpPr>
            <a:spLocks noGrp="1"/>
          </p:cNvSpPr>
          <p:nvPr/>
        </p:nvSpPr>
        <p:spPr>
          <a:xfrm>
            <a:off x="1504950" y="5600700"/>
            <a:ext cx="918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訓練スコアだけでなく、クロスバリデーションの平均とばらつきを見る。非線形化は「精度が上がったか」ではなく「未知データで安定したか」で判断する。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33287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877DC8B-2249-4CB9-89C9-87F2B6C45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09FF88-33A4-4EA9-B6E8-57697D2834B4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B8BE65-1760-4B85-A9DE-5F0403938F10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SVR PRINCIPLE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71FDAA0-8D1D-4B3A-BEC7-BACE09E336F5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SVRはepsilon幅の内側の誤差を無視して、重要な点で曲線を決める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85BC91-9FB8-4D4F-8882-A898A1886991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ECCB95-1AED-4099-BE3C-BF31DE51692D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pic>
        <p:nvPicPr>
          <p:cNvPr id="7" name="グラフィックス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6750" y="1581150"/>
            <a:ext cx="5810250" cy="3429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14AD01-6AC7-4C60-8CF9-ADF5B6DDE4FD}"/>
              </a:ext>
            </a:extLst>
          </p:cNvPr>
          <p:cNvSpPr>
            <a:spLocks noGrp="1"/>
          </p:cNvSpPr>
          <p:nvPr/>
        </p:nvSpPr>
        <p:spPr>
          <a:xfrm>
            <a:off x="7067550" y="1524000"/>
            <a:ext cx="3429000" cy="9525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BC2239-3B31-4C68-9946-4EC8710B45E6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308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epsilon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215458-A441-453A-972D-3CFAB5FB621E}"/>
              </a:ext>
            </a:extLst>
          </p:cNvPr>
          <p:cNvSpPr>
            <a:spLocks noGrp="1"/>
          </p:cNvSpPr>
          <p:nvPr/>
        </p:nvSpPr>
        <p:spPr>
          <a:xfrm>
            <a:off x="7239000" y="18859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許容誤差のチューブ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7971D92-C41B-43A2-8ED9-337A6F32C1DF}"/>
              </a:ext>
            </a:extLst>
          </p:cNvPr>
          <p:cNvSpPr>
            <a:spLocks noGrp="1"/>
          </p:cNvSpPr>
          <p:nvPr/>
        </p:nvSpPr>
        <p:spPr>
          <a:xfrm>
            <a:off x="7239000" y="2209800"/>
            <a:ext cx="30861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チューブ内の点は、基本的に損失0として扱う。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907A1B-1196-43F2-9326-8251F02174E5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3429000" cy="9525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0C25725-0497-4541-A683-0E401C460B37}"/>
              </a:ext>
            </a:extLst>
          </p:cNvPr>
          <p:cNvSpPr>
            <a:spLocks noGrp="1"/>
          </p:cNvSpPr>
          <p:nvPr/>
        </p:nvSpPr>
        <p:spPr>
          <a:xfrm>
            <a:off x="7239000" y="2838450"/>
            <a:ext cx="308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support vectors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570A6B-7D4B-445A-AFC9-CB3B874775D0}"/>
              </a:ext>
            </a:extLst>
          </p:cNvPr>
          <p:cNvSpPr>
            <a:spLocks noGrp="1"/>
          </p:cNvSpPr>
          <p:nvPr/>
        </p:nvSpPr>
        <p:spPr>
          <a:xfrm>
            <a:off x="7239000" y="30670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外側や境界の点が効く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8C79E3A-15ED-44EA-9397-BA3F38A719CB}"/>
              </a:ext>
            </a:extLst>
          </p:cNvPr>
          <p:cNvSpPr>
            <a:spLocks noGrp="1"/>
          </p:cNvSpPr>
          <p:nvPr/>
        </p:nvSpPr>
        <p:spPr>
          <a:xfrm>
            <a:off x="7239000" y="3390900"/>
            <a:ext cx="30861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関数の形に強く影響する点だけが残る。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3AEE32B-A3F2-444A-8E4E-BE18F337FC7C}"/>
              </a:ext>
            </a:extLst>
          </p:cNvPr>
          <p:cNvSpPr>
            <a:spLocks noGrp="1"/>
          </p:cNvSpPr>
          <p:nvPr/>
        </p:nvSpPr>
        <p:spPr>
          <a:xfrm>
            <a:off x="7067550" y="3886200"/>
            <a:ext cx="3429000" cy="9525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722BE32-4966-4685-9FDF-44DCB23088B8}"/>
              </a:ext>
            </a:extLst>
          </p:cNvPr>
          <p:cNvSpPr>
            <a:spLocks noGrp="1"/>
          </p:cNvSpPr>
          <p:nvPr/>
        </p:nvSpPr>
        <p:spPr>
          <a:xfrm>
            <a:off x="7239000" y="4019550"/>
            <a:ext cx="308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robustness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A3CF71-57F5-4C3D-8D84-14FE94CEA95E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ノイズに合わせすぎない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9895E0-B3C1-4A71-AE2C-36D1BB07CEF5}"/>
              </a:ext>
            </a:extLst>
          </p:cNvPr>
          <p:cNvSpPr>
            <a:spLocks noGrp="1"/>
          </p:cNvSpPr>
          <p:nvPr/>
        </p:nvSpPr>
        <p:spPr>
          <a:xfrm>
            <a:off x="7239000" y="4572000"/>
            <a:ext cx="30861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小さな誤差を全部追いかけない設計。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4983173-B872-4830-A7ED-C2218F7C815F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epsilon-insensitive loss:  Lε(y, ŷ) = max(0, |y - ŷ| - ε)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CAD12B9-4951-4966-8AE4-9E655E8BD3F2}"/>
              </a:ext>
            </a:extLst>
          </p:cNvPr>
          <p:cNvSpPr>
            <a:spLocks noGrp="1"/>
          </p:cNvSpPr>
          <p:nvPr/>
        </p:nvSpPr>
        <p:spPr>
          <a:xfrm>
            <a:off x="7067550" y="5124450"/>
            <a:ext cx="3657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ただし、特徴量の尺度がそろっていないと距離計算が崩れるため、StandardScalerなどをPipelineに入れる。</a:t>
            </a:r>
          </a:p>
        </p:txBody>
      </p:sp>
    </p:spTree>
    <p:extLst>
      <p:ext uri="{BB962C8B-B14F-4D97-AF65-F5344CB8AC3E}">
        <p14:creationId xmlns:p14="http://schemas.microsoft.com/office/powerpoint/2010/main" val="19054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0C75B94-64AC-4191-9232-6242ED7EF7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061FEE-B2D0-49D9-8821-CF2D6FC63B05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1FA3C3E-055D-4328-8BC3-928A18B29239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SVR HYPERPARAMETERS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4866388-A9A4-4920-983F-0098FB1E2786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C・epsilon・gammaは、滑らかさと訓練データへの追従を調整する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8BA9A4-2BAB-4D10-B972-D17BF13A4017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E2DC58F-1468-4AFD-8584-A2248EB266F0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38616E-BA62-4FB8-8252-74ACC7C144CF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4857750" cy="13716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29F16B-E9EA-4CF6-B136-61C376A2E366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目的関数のイメージ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DD707F7-92A2-4BF4-8065-A47628E96650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451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1/2 ||w||² + C Σ(ξᵢ + ξᵢ*)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9DBF7A-FECD-4B55-AB37-7276E8A34781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4514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第1項は関数を滑らかに保つ。第2項はepsilonチューブ外にはみ出した量を罰する。</a:t>
            </a:r>
          </a:p>
        </p:txBody>
      </p:sp>
      <p:pic>
        <p:nvPicPr>
          <p:cNvPr id="11" name="グラフィックス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0" y="1447800"/>
            <a:ext cx="3619500" cy="21336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383D48-679C-4C03-8045-F2D9B93C5EA7}"/>
              </a:ext>
            </a:extLst>
          </p:cNvPr>
          <p:cNvSpPr>
            <a:spLocks noGrp="1"/>
          </p:cNvSpPr>
          <p:nvPr/>
        </p:nvSpPr>
        <p:spPr>
          <a:xfrm>
            <a:off x="7429500" y="36004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epsilon幅の内側では損失0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5338CB0-B629-47E8-B067-51C7E6F77175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85B0B1D-5718-44E0-9B87-E07138A98446}"/>
              </a:ext>
            </a:extLst>
          </p:cNvPr>
          <p:cNvSpPr>
            <a:spLocks noGrp="1"/>
          </p:cNvSpPr>
          <p:nvPr/>
        </p:nvSpPr>
        <p:spPr>
          <a:xfrm>
            <a:off x="2438400" y="3819525"/>
            <a:ext cx="2571750" cy="476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98CBB4-40B3-4366-BD30-F916959D22FE}"/>
              </a:ext>
            </a:extLst>
          </p:cNvPr>
          <p:cNvSpPr>
            <a:spLocks noGrp="1"/>
          </p:cNvSpPr>
          <p:nvPr/>
        </p:nvSpPr>
        <p:spPr>
          <a:xfrm>
            <a:off x="2438400" y="3819525"/>
            <a:ext cx="185166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43F201A2-7F70-4362-9FF4-CCFB7FDCADD6}"/>
              </a:ext>
            </a:extLst>
          </p:cNvPr>
          <p:cNvSpPr>
            <a:spLocks noGrp="1"/>
          </p:cNvSpPr>
          <p:nvPr/>
        </p:nvSpPr>
        <p:spPr>
          <a:xfrm>
            <a:off x="4194810" y="3743325"/>
            <a:ext cx="209550" cy="2095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B2345C4-0F25-455A-BB09-7EFF5B0479AF}"/>
              </a:ext>
            </a:extLst>
          </p:cNvPr>
          <p:cNvSpPr>
            <a:spLocks noGrp="1"/>
          </p:cNvSpPr>
          <p:nvPr/>
        </p:nvSpPr>
        <p:spPr>
          <a:xfrm>
            <a:off x="2438400" y="401955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滑らか優先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6EB6186-0171-4F42-A508-C9509578ACAC}"/>
              </a:ext>
            </a:extLst>
          </p:cNvPr>
          <p:cNvSpPr>
            <a:spLocks noGrp="1"/>
          </p:cNvSpPr>
          <p:nvPr/>
        </p:nvSpPr>
        <p:spPr>
          <a:xfrm>
            <a:off x="4010025" y="401955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誤差を強く罰する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A2A3163-186C-4C25-8CD2-3D7D66121344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epsilon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168408D-CF61-44E3-96A2-DEBF28582F7E}"/>
              </a:ext>
            </a:extLst>
          </p:cNvPr>
          <p:cNvSpPr>
            <a:spLocks noGrp="1"/>
          </p:cNvSpPr>
          <p:nvPr/>
        </p:nvSpPr>
        <p:spPr>
          <a:xfrm>
            <a:off x="2438400" y="4638675"/>
            <a:ext cx="2571750" cy="476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6FADC07-945F-44EF-A489-C7F3521C1038}"/>
              </a:ext>
            </a:extLst>
          </p:cNvPr>
          <p:cNvSpPr>
            <a:spLocks noGrp="1"/>
          </p:cNvSpPr>
          <p:nvPr/>
        </p:nvSpPr>
        <p:spPr>
          <a:xfrm>
            <a:off x="2438400" y="4638675"/>
            <a:ext cx="113157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B18F90B8-0C6A-4B6A-B4EB-B3E4F6D047CE}"/>
              </a:ext>
            </a:extLst>
          </p:cNvPr>
          <p:cNvSpPr>
            <a:spLocks noGrp="1"/>
          </p:cNvSpPr>
          <p:nvPr/>
        </p:nvSpPr>
        <p:spPr>
          <a:xfrm>
            <a:off x="3474720" y="4562475"/>
            <a:ext cx="209550" cy="20955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9FE1786-B06E-41AC-8405-356C7732B038}"/>
              </a:ext>
            </a:extLst>
          </p:cNvPr>
          <p:cNvSpPr>
            <a:spLocks noGrp="1"/>
          </p:cNvSpPr>
          <p:nvPr/>
        </p:nvSpPr>
        <p:spPr>
          <a:xfrm>
            <a:off x="2438400" y="483870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細かく合わせる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EFB858C-E01D-4E91-9094-0F8C1D83E8DC}"/>
              </a:ext>
            </a:extLst>
          </p:cNvPr>
          <p:cNvSpPr>
            <a:spLocks noGrp="1"/>
          </p:cNvSpPr>
          <p:nvPr/>
        </p:nvSpPr>
        <p:spPr>
          <a:xfrm>
            <a:off x="4010025" y="483870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誤差を広く許す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44D937-2710-4928-9AAC-BB97A994654F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gamma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501CDED-B1CD-42CC-9920-B78AE4B82530}"/>
              </a:ext>
            </a:extLst>
          </p:cNvPr>
          <p:cNvSpPr>
            <a:spLocks noGrp="1"/>
          </p:cNvSpPr>
          <p:nvPr/>
        </p:nvSpPr>
        <p:spPr>
          <a:xfrm>
            <a:off x="2438400" y="5457825"/>
            <a:ext cx="2571750" cy="476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532EB51-E539-4B5E-929E-F5CDC0FAB1A5}"/>
              </a:ext>
            </a:extLst>
          </p:cNvPr>
          <p:cNvSpPr>
            <a:spLocks noGrp="1"/>
          </p:cNvSpPr>
          <p:nvPr/>
        </p:nvSpPr>
        <p:spPr>
          <a:xfrm>
            <a:off x="2438400" y="5457825"/>
            <a:ext cx="15430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5247C777-C796-46D6-A090-71ADE61166EC}"/>
              </a:ext>
            </a:extLst>
          </p:cNvPr>
          <p:cNvSpPr>
            <a:spLocks noGrp="1"/>
          </p:cNvSpPr>
          <p:nvPr/>
        </p:nvSpPr>
        <p:spPr>
          <a:xfrm>
            <a:off x="3886200" y="5381625"/>
            <a:ext cx="209550" cy="20955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92C7DF0-276B-4299-BFB1-5E82EA781D71}"/>
              </a:ext>
            </a:extLst>
          </p:cNvPr>
          <p:cNvSpPr>
            <a:spLocks noGrp="1"/>
          </p:cNvSpPr>
          <p:nvPr/>
        </p:nvSpPr>
        <p:spPr>
          <a:xfrm>
            <a:off x="2438400" y="565785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広くなめらか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1B4491B-8D85-4E78-B7F4-2B0FA2A68ACE}"/>
              </a:ext>
            </a:extLst>
          </p:cNvPr>
          <p:cNvSpPr>
            <a:spLocks noGrp="1"/>
          </p:cNvSpPr>
          <p:nvPr/>
        </p:nvSpPr>
        <p:spPr>
          <a:xfrm>
            <a:off x="4010025" y="5657850"/>
            <a:ext cx="1000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局所的に曲がる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84C2676-C94C-4E85-832D-7458B69F38E6}"/>
              </a:ext>
            </a:extLst>
          </p:cNvPr>
          <p:cNvSpPr>
            <a:spLocks noGrp="1"/>
          </p:cNvSpPr>
          <p:nvPr/>
        </p:nvSpPr>
        <p:spPr>
          <a:xfrm>
            <a:off x="6858000" y="4229100"/>
            <a:ext cx="3905250" cy="116205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DAFF04D-E450-4368-ABA1-561166740DA2}"/>
              </a:ext>
            </a:extLst>
          </p:cNvPr>
          <p:cNvSpPr>
            <a:spLocks noGrp="1"/>
          </p:cNvSpPr>
          <p:nvPr/>
        </p:nvSpPr>
        <p:spPr>
          <a:xfrm>
            <a:off x="7029450" y="4362450"/>
            <a:ext cx="3562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注意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EDB9F38-40B0-4C3C-9BF2-2D555B4B6E86}"/>
              </a:ext>
            </a:extLst>
          </p:cNvPr>
          <p:cNvSpPr>
            <a:spLocks noGrp="1"/>
          </p:cNvSpPr>
          <p:nvPr/>
        </p:nvSpPr>
        <p:spPr>
          <a:xfrm>
            <a:off x="7029450" y="4591050"/>
            <a:ext cx="3562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スケーリングなしのSVRは危険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7314EF7-E80A-4901-A56E-6863B40E32C9}"/>
              </a:ext>
            </a:extLst>
          </p:cNvPr>
          <p:cNvSpPr>
            <a:spLocks noGrp="1"/>
          </p:cNvSpPr>
          <p:nvPr/>
        </p:nvSpPr>
        <p:spPr>
          <a:xfrm>
            <a:off x="7029450" y="4914900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RBFカーネルは距離を使うため、単位や桁が大きい特徴量に支配されやすい。</a:t>
            </a:r>
          </a:p>
        </p:txBody>
      </p:sp>
    </p:spTree>
    <p:extLst>
      <p:ext uri="{BB962C8B-B14F-4D97-AF65-F5344CB8AC3E}">
        <p14:creationId xmlns:p14="http://schemas.microsoft.com/office/powerpoint/2010/main" val="78001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CFE8348-85F9-40A1-96FA-7504779E9E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4669257-F9F1-42C2-B8F2-BF82F6EEFDF3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1077A7-A447-4D01-9AA6-6E10218BF2AD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KERNEL TRICK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EA7746-9139-42A5-99A3-9B4350FD768F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カーネルは「高次元で線形」を、元空間では非線形に見せる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DF2899-14CF-4BEA-A402-A1FF63DF983A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A7964E-C880-442D-AA7D-92AD93F4FC4A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73B997-F6B7-4B83-B00D-E8C672CAED31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095500" cy="11049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BE88C1-8E2B-4826-8C7A-E88D69B18175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input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1A6E81-4AFC-4B43-BA1D-A4CCDA194968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元の特徴空間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63218B3-4CD3-4F62-BC19-07AC0E8717DA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x1, x2 では直線で分けにくい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EDA841-E227-4FEB-B31A-C21A3E9FEEBB}"/>
              </a:ext>
            </a:extLst>
          </p:cNvPr>
          <p:cNvSpPr>
            <a:spLocks noGrp="1"/>
          </p:cNvSpPr>
          <p:nvPr/>
        </p:nvSpPr>
        <p:spPr>
          <a:xfrm>
            <a:off x="2971800" y="22098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4F651E-9A99-4606-B257-73263F4DB631}"/>
              </a:ext>
            </a:extLst>
          </p:cNvPr>
          <p:cNvSpPr>
            <a:spLocks noGrp="1"/>
          </p:cNvSpPr>
          <p:nvPr/>
        </p:nvSpPr>
        <p:spPr>
          <a:xfrm>
            <a:off x="3486150" y="1809750"/>
            <a:ext cx="2209800" cy="1104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0E360D2-2B9D-49A9-AAD0-E42DAA6B099F}"/>
              </a:ext>
            </a:extLst>
          </p:cNvPr>
          <p:cNvSpPr>
            <a:spLocks noGrp="1"/>
          </p:cNvSpPr>
          <p:nvPr/>
        </p:nvSpPr>
        <p:spPr>
          <a:xfrm>
            <a:off x="3657600" y="194310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kernel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2074BED-9D87-4CD0-8542-39342C7A7FD8}"/>
              </a:ext>
            </a:extLst>
          </p:cNvPr>
          <p:cNvSpPr>
            <a:spLocks noGrp="1"/>
          </p:cNvSpPr>
          <p:nvPr/>
        </p:nvSpPr>
        <p:spPr>
          <a:xfrm>
            <a:off x="3657600" y="21717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K(xᵢ, xⱼ)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5F50D8-D81E-4842-8F2A-35F1711B7A4E}"/>
              </a:ext>
            </a:extLst>
          </p:cNvPr>
          <p:cNvSpPr>
            <a:spLocks noGrp="1"/>
          </p:cNvSpPr>
          <p:nvPr/>
        </p:nvSpPr>
        <p:spPr>
          <a:xfrm>
            <a:off x="3657600" y="249555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明示的に高次元座標を作らず、類似度を計算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463F799-C6A2-4781-A625-8F5E55A3E0C2}"/>
              </a:ext>
            </a:extLst>
          </p:cNvPr>
          <p:cNvSpPr>
            <a:spLocks noGrp="1"/>
          </p:cNvSpPr>
          <p:nvPr/>
        </p:nvSpPr>
        <p:spPr>
          <a:xfrm>
            <a:off x="5867400" y="22098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8A08933-F1C0-40FD-8942-8CA31F8DF038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095500" cy="11049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B15384A-F54C-4DC5-8218-2A554EC94CA0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feature space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D30E753-6C75-4265-8DF2-8FA6A26D9FFF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高次元で線形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3BFA44C-E1F5-4B51-A986-D5EFDEE8A56C}"/>
              </a:ext>
            </a:extLst>
          </p:cNvPr>
          <p:cNvSpPr>
            <a:spLocks noGrp="1"/>
          </p:cNvSpPr>
          <p:nvPr/>
        </p:nvSpPr>
        <p:spPr>
          <a:xfrm>
            <a:off x="6572250" y="24955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線形SVRのように扱える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191A392-A0D3-466E-BF51-EB65154E954B}"/>
              </a:ext>
            </a:extLst>
          </p:cNvPr>
          <p:cNvSpPr>
            <a:spLocks noGrp="1"/>
          </p:cNvSpPr>
          <p:nvPr/>
        </p:nvSpPr>
        <p:spPr>
          <a:xfrm>
            <a:off x="8667750" y="22098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AA0B251-6E56-401D-B1A1-A4EA2833C989}"/>
              </a:ext>
            </a:extLst>
          </p:cNvPr>
          <p:cNvSpPr>
            <a:spLocks noGrp="1"/>
          </p:cNvSpPr>
          <p:nvPr/>
        </p:nvSpPr>
        <p:spPr>
          <a:xfrm>
            <a:off x="9201150" y="1809750"/>
            <a:ext cx="2095500" cy="11049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4CC5FD0-B6DD-4E98-8FF7-FF1A3731D40D}"/>
              </a:ext>
            </a:extLst>
          </p:cNvPr>
          <p:cNvSpPr>
            <a:spLocks noGrp="1"/>
          </p:cNvSpPr>
          <p:nvPr/>
        </p:nvSpPr>
        <p:spPr>
          <a:xfrm>
            <a:off x="9372600" y="19431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result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FD6782A-F09B-4925-8CC7-8EB42A05C558}"/>
              </a:ext>
            </a:extLst>
          </p:cNvPr>
          <p:cNvSpPr>
            <a:spLocks noGrp="1"/>
          </p:cNvSpPr>
          <p:nvPr/>
        </p:nvSpPr>
        <p:spPr>
          <a:xfrm>
            <a:off x="9372600" y="21717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元空間で曲線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326A3ED-D917-4E76-86AB-34DADD84305C}"/>
              </a:ext>
            </a:extLst>
          </p:cNvPr>
          <p:cNvSpPr>
            <a:spLocks noGrp="1"/>
          </p:cNvSpPr>
          <p:nvPr/>
        </p:nvSpPr>
        <p:spPr>
          <a:xfrm>
            <a:off x="9372600" y="24955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非線形な回帰関数になる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5B3748D-D407-4691-9A7E-FCD7BE09DF37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4762500" cy="16573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AE5B79B-099E-4F6B-91F0-E3BDB6588519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RBFカーネル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3445E3C-523E-4432-BDF8-70E18B209967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K(xᵢ, xⱼ) = exp(-γ ||xᵢ - xⱼ||²)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F9F0743-CE81-4E3E-BFB5-3BE4B4693A0E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近い点ほど影響が大きい。gammaが大きいほど、影響範囲は狭く局所的になる。</a:t>
            </a:r>
          </a:p>
        </p:txBody>
      </p:sp>
      <p:pic>
        <p:nvPicPr>
          <p:cNvPr id="30" name="グラフィックス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953250" y="3467100"/>
            <a:ext cx="3143250" cy="2324100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AA979F9-B5B6-4EDC-9341-6C0A9826D63A}"/>
              </a:ext>
            </a:extLst>
          </p:cNvPr>
          <p:cNvSpPr>
            <a:spLocks noGrp="1"/>
          </p:cNvSpPr>
          <p:nvPr/>
        </p:nvSpPr>
        <p:spPr>
          <a:xfrm>
            <a:off x="7162800" y="59055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中心に近いほど類似度が高い</a:t>
            </a:r>
          </a:p>
        </p:txBody>
      </p:sp>
    </p:spTree>
    <p:extLst>
      <p:ext uri="{BB962C8B-B14F-4D97-AF65-F5344CB8AC3E}">
        <p14:creationId xmlns:p14="http://schemas.microsoft.com/office/powerpoint/2010/main" val="93924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9FAF2EA-920B-458E-B954-1E495FD09C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A121D1-7197-459A-94F3-841FDE7B2EB2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2A931A-1C01-4E08-BF3F-083B2DDD007F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SAFE WORKFLOW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38E411-8822-4550-8F58-167471EAA3F1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安全な単位は、前処理とモデルをまとめたPipeline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A105D6-9B3D-4AB4-AE58-B211684372ED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7F4F9E9-3C96-4D19-A870-3D9F4C4DC74D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5200064-7998-4C18-8C66-7D1F9467AF22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171450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CAF6E5-E6BA-46EC-8887-61DFD951E2CF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全データ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581743-B399-4264-B193-A794FE894DFD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X, y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44A40AD-AC7F-4A62-88C3-1E4417ACB0E1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4772AA-B4C3-486E-802A-8701C6413C51}"/>
              </a:ext>
            </a:extLst>
          </p:cNvPr>
          <p:cNvSpPr>
            <a:spLocks noGrp="1"/>
          </p:cNvSpPr>
          <p:nvPr/>
        </p:nvSpPr>
        <p:spPr>
          <a:xfrm>
            <a:off x="3257550" y="1924050"/>
            <a:ext cx="2000250" cy="8572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025BEC-A582-4D78-B2D7-61E78357914B}"/>
              </a:ext>
            </a:extLst>
          </p:cNvPr>
          <p:cNvSpPr>
            <a:spLocks noGrp="1"/>
          </p:cNvSpPr>
          <p:nvPr/>
        </p:nvSpPr>
        <p:spPr>
          <a:xfrm>
            <a:off x="3429000" y="209550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 / test分割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DAA8FD9-BBA9-497F-8408-2AFC5FE684F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1657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testは最後まで触らない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6090298-D4A5-41C9-AC04-0A7DA6ADE0BD}"/>
              </a:ext>
            </a:extLst>
          </p:cNvPr>
          <p:cNvSpPr>
            <a:spLocks noGrp="1"/>
          </p:cNvSpPr>
          <p:nvPr/>
        </p:nvSpPr>
        <p:spPr>
          <a:xfrm>
            <a:off x="6019800" y="1466850"/>
            <a:ext cx="5334000" cy="192405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7CCCBD-2017-4247-8EF4-680B9DCD9244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train側だけでCV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071AABF-61AB-42C6-909F-7A6CD8AC1DEE}"/>
              </a:ext>
            </a:extLst>
          </p:cNvPr>
          <p:cNvSpPr>
            <a:spLocks noGrp="1"/>
          </p:cNvSpPr>
          <p:nvPr/>
        </p:nvSpPr>
        <p:spPr>
          <a:xfrm>
            <a:off x="6286500" y="2171700"/>
            <a:ext cx="12001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A95553-FD6E-458E-AFF0-9AB0307E1670}"/>
              </a:ext>
            </a:extLst>
          </p:cNvPr>
          <p:cNvSpPr>
            <a:spLocks noGrp="1"/>
          </p:cNvSpPr>
          <p:nvPr/>
        </p:nvSpPr>
        <p:spPr>
          <a:xfrm>
            <a:off x="6457950" y="2343150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前処理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4373B48-3258-45AC-A9FF-B19961644D57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8572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fit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F73A13D-6389-417D-8BBB-0EBF6DFD4277}"/>
              </a:ext>
            </a:extLst>
          </p:cNvPr>
          <p:cNvSpPr>
            <a:spLocks noGrp="1"/>
          </p:cNvSpPr>
          <p:nvPr/>
        </p:nvSpPr>
        <p:spPr>
          <a:xfrm>
            <a:off x="7620000" y="24003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084CF4C-B50B-4EC6-87A8-85AD395C6930}"/>
              </a:ext>
            </a:extLst>
          </p:cNvPr>
          <p:cNvSpPr>
            <a:spLocks noGrp="1"/>
          </p:cNvSpPr>
          <p:nvPr/>
        </p:nvSpPr>
        <p:spPr>
          <a:xfrm>
            <a:off x="8096250" y="2171700"/>
            <a:ext cx="12001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700E0D3-CCB6-42F5-B963-7E6B4613DD1B}"/>
              </a:ext>
            </a:extLst>
          </p:cNvPr>
          <p:cNvSpPr>
            <a:spLocks noGrp="1"/>
          </p:cNvSpPr>
          <p:nvPr/>
        </p:nvSpPr>
        <p:spPr>
          <a:xfrm>
            <a:off x="8267700" y="2343150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変換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B50D29F-60FD-44FA-8377-9B39E4CD1FE4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8572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transform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5077505-283F-485C-AAED-30DF798B4452}"/>
              </a:ext>
            </a:extLst>
          </p:cNvPr>
          <p:cNvSpPr>
            <a:spLocks noGrp="1"/>
          </p:cNvSpPr>
          <p:nvPr/>
        </p:nvSpPr>
        <p:spPr>
          <a:xfrm>
            <a:off x="9429750" y="24003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B364A2C-47A1-4FC3-A9CB-5370D143254A}"/>
              </a:ext>
            </a:extLst>
          </p:cNvPr>
          <p:cNvSpPr>
            <a:spLocks noGrp="1"/>
          </p:cNvSpPr>
          <p:nvPr/>
        </p:nvSpPr>
        <p:spPr>
          <a:xfrm>
            <a:off x="9906000" y="2171700"/>
            <a:ext cx="12001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9072DE-E84A-4229-AD32-A962F596BA2F}"/>
              </a:ext>
            </a:extLst>
          </p:cNvPr>
          <p:cNvSpPr>
            <a:spLocks noGrp="1"/>
          </p:cNvSpPr>
          <p:nvPr/>
        </p:nvSpPr>
        <p:spPr>
          <a:xfrm>
            <a:off x="10077450" y="2343150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SVR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5875D14-85AC-47CE-AE8F-A948F280EC65}"/>
              </a:ext>
            </a:extLst>
          </p:cNvPr>
          <p:cNvSpPr>
            <a:spLocks noGrp="1"/>
          </p:cNvSpPr>
          <p:nvPr/>
        </p:nvSpPr>
        <p:spPr>
          <a:xfrm>
            <a:off x="10077450" y="2724150"/>
            <a:ext cx="8572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fit / predict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CE33968-D83F-4416-9AD4-1CB497124198}"/>
              </a:ext>
            </a:extLst>
          </p:cNvPr>
          <p:cNvSpPr>
            <a:spLocks noGrp="1"/>
          </p:cNvSpPr>
          <p:nvPr/>
        </p:nvSpPr>
        <p:spPr>
          <a:xfrm>
            <a:off x="6229350" y="4057650"/>
            <a:ext cx="4324350" cy="8763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9DA3594-670E-4F79-91E2-738D3AA416A1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398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最終評価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818D44A-642B-4E79-961F-741C9AF27EA7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981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testは最後に1回だけ評価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A874611-F8F8-4702-9803-D95460FA7BB8}"/>
              </a:ext>
            </a:extLst>
          </p:cNvPr>
          <p:cNvSpPr>
            <a:spLocks noGrp="1"/>
          </p:cNvSpPr>
          <p:nvPr/>
        </p:nvSpPr>
        <p:spPr>
          <a:xfrm>
            <a:off x="6400800" y="4743450"/>
            <a:ext cx="39814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チューニングにtestスコアを使うと、testもリークする。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1818143-741F-4E5C-A175-A809776CE392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462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Pipeline([('scaler', StandardScaler()), ('svr', SVR())])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74BDD7-2DC7-4977-B47A-801A5A7048DB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46291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Pipelineに入れると、CVの各foldで訓練部分だけを使ってfitされる。これはSVRのような距離ベースのモデルで特に重要。</a:t>
            </a:r>
          </a:p>
        </p:txBody>
      </p:sp>
    </p:spTree>
    <p:extLst>
      <p:ext uri="{BB962C8B-B14F-4D97-AF65-F5344CB8AC3E}">
        <p14:creationId xmlns:p14="http://schemas.microsoft.com/office/powerpoint/2010/main" val="188162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0D303FC0-F8A6-415D-A4B8-3EC790DF3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6D8DA6-3C29-4067-BDA1-A473A3C6C540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F326EC5-E15C-4C3E-BBB2-2FB580A22258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CROSS VALIDATION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96AAE71-C234-4190-AEB8-7ADDE900CA10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クロスバリデーションは分割の偶然を平均する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3336F4-284F-41CC-B9CB-AE7CD0884D80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8846C0-E82D-4443-933C-4D09C3A186C1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F8780F-FBAF-44B3-8EEA-025137C18941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 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58044A-8ADE-44B2-BE54-5A6E7443B5E4}"/>
              </a:ext>
            </a:extLst>
          </p:cNvPr>
          <p:cNvSpPr>
            <a:spLocks noGrp="1"/>
          </p:cNvSpPr>
          <p:nvPr/>
        </p:nvSpPr>
        <p:spPr>
          <a:xfrm>
            <a:off x="1562100" y="1809750"/>
            <a:ext cx="12573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97F3A70-6E9B-487C-96AB-D03021A8D22F}"/>
              </a:ext>
            </a:extLst>
          </p:cNvPr>
          <p:cNvSpPr>
            <a:spLocks noGrp="1"/>
          </p:cNvSpPr>
          <p:nvPr/>
        </p:nvSpPr>
        <p:spPr>
          <a:xfrm>
            <a:off x="1562100" y="19335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F544E3-E9FF-4477-BAC2-D3D166C845AA}"/>
              </a:ext>
            </a:extLst>
          </p:cNvPr>
          <p:cNvSpPr>
            <a:spLocks noGrp="1"/>
          </p:cNvSpPr>
          <p:nvPr/>
        </p:nvSpPr>
        <p:spPr>
          <a:xfrm>
            <a:off x="3028950" y="18097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189481F-30F7-48A7-90C7-874A87AD0595}"/>
              </a:ext>
            </a:extLst>
          </p:cNvPr>
          <p:cNvSpPr>
            <a:spLocks noGrp="1"/>
          </p:cNvSpPr>
          <p:nvPr/>
        </p:nvSpPr>
        <p:spPr>
          <a:xfrm>
            <a:off x="3028950" y="19335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25479DC-DD9A-47A0-8EB6-7DAAF59BE6DA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210E056-9CAE-42E9-9F3A-C2FDB343BE59}"/>
              </a:ext>
            </a:extLst>
          </p:cNvPr>
          <p:cNvSpPr>
            <a:spLocks noGrp="1"/>
          </p:cNvSpPr>
          <p:nvPr/>
        </p:nvSpPr>
        <p:spPr>
          <a:xfrm>
            <a:off x="4495800" y="19335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A7A031-4FAA-4EF8-8AC0-1E07D36EF8BC}"/>
              </a:ext>
            </a:extLst>
          </p:cNvPr>
          <p:cNvSpPr>
            <a:spLocks noGrp="1"/>
          </p:cNvSpPr>
          <p:nvPr/>
        </p:nvSpPr>
        <p:spPr>
          <a:xfrm>
            <a:off x="5962650" y="18097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4700D71-35D6-4780-9FC8-8D573B12FDC0}"/>
              </a:ext>
            </a:extLst>
          </p:cNvPr>
          <p:cNvSpPr>
            <a:spLocks noGrp="1"/>
          </p:cNvSpPr>
          <p:nvPr/>
        </p:nvSpPr>
        <p:spPr>
          <a:xfrm>
            <a:off x="5962650" y="19335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5E72D43-43DB-40BA-A419-EA2EA2BD96F8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A17A81D-39F2-4AB8-8D53-C3BF0144B13B}"/>
              </a:ext>
            </a:extLst>
          </p:cNvPr>
          <p:cNvSpPr>
            <a:spLocks noGrp="1"/>
          </p:cNvSpPr>
          <p:nvPr/>
        </p:nvSpPr>
        <p:spPr>
          <a:xfrm>
            <a:off x="7429500" y="19335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C55205-A971-4316-BA1E-F1E680406410}"/>
              </a:ext>
            </a:extLst>
          </p:cNvPr>
          <p:cNvSpPr>
            <a:spLocks noGrp="1"/>
          </p:cNvSpPr>
          <p:nvPr/>
        </p:nvSpPr>
        <p:spPr>
          <a:xfrm>
            <a:off x="704850" y="266700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 2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63DB2A-B2D2-48B8-9313-97D2756CDB4D}"/>
              </a:ext>
            </a:extLst>
          </p:cNvPr>
          <p:cNvSpPr>
            <a:spLocks noGrp="1"/>
          </p:cNvSpPr>
          <p:nvPr/>
        </p:nvSpPr>
        <p:spPr>
          <a:xfrm>
            <a:off x="1562100" y="25146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5F548E6-D9E5-48CE-A2EF-DB6EE7362FCA}"/>
              </a:ext>
            </a:extLst>
          </p:cNvPr>
          <p:cNvSpPr>
            <a:spLocks noGrp="1"/>
          </p:cNvSpPr>
          <p:nvPr/>
        </p:nvSpPr>
        <p:spPr>
          <a:xfrm>
            <a:off x="1562100" y="26384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43B6CA-D2B3-4643-8441-79DFB0FAE721}"/>
              </a:ext>
            </a:extLst>
          </p:cNvPr>
          <p:cNvSpPr>
            <a:spLocks noGrp="1"/>
          </p:cNvSpPr>
          <p:nvPr/>
        </p:nvSpPr>
        <p:spPr>
          <a:xfrm>
            <a:off x="3028950" y="2514600"/>
            <a:ext cx="12573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BE6E24A-788E-4A56-8879-8130C3DDBC3B}"/>
              </a:ext>
            </a:extLst>
          </p:cNvPr>
          <p:cNvSpPr>
            <a:spLocks noGrp="1"/>
          </p:cNvSpPr>
          <p:nvPr/>
        </p:nvSpPr>
        <p:spPr>
          <a:xfrm>
            <a:off x="3028950" y="26384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6052CFC-C34F-4064-B8C8-E95ACD7F7BBF}"/>
              </a:ext>
            </a:extLst>
          </p:cNvPr>
          <p:cNvSpPr>
            <a:spLocks noGrp="1"/>
          </p:cNvSpPr>
          <p:nvPr/>
        </p:nvSpPr>
        <p:spPr>
          <a:xfrm>
            <a:off x="4495800" y="25146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2085BA9-9AFB-42A4-88B0-A99C4FDA9F74}"/>
              </a:ext>
            </a:extLst>
          </p:cNvPr>
          <p:cNvSpPr>
            <a:spLocks noGrp="1"/>
          </p:cNvSpPr>
          <p:nvPr/>
        </p:nvSpPr>
        <p:spPr>
          <a:xfrm>
            <a:off x="4495800" y="26384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4DABCB4-EA4E-4255-A5F5-CED7B2F2F64A}"/>
              </a:ext>
            </a:extLst>
          </p:cNvPr>
          <p:cNvSpPr>
            <a:spLocks noGrp="1"/>
          </p:cNvSpPr>
          <p:nvPr/>
        </p:nvSpPr>
        <p:spPr>
          <a:xfrm>
            <a:off x="5962650" y="25146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7BC9938-7EE0-43CE-9417-A66315AA8908}"/>
              </a:ext>
            </a:extLst>
          </p:cNvPr>
          <p:cNvSpPr>
            <a:spLocks noGrp="1"/>
          </p:cNvSpPr>
          <p:nvPr/>
        </p:nvSpPr>
        <p:spPr>
          <a:xfrm>
            <a:off x="5962650" y="26384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4526449-F545-4E66-8C74-CCA665232C98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15D127F-2526-4820-B2E4-04A83D670CA1}"/>
              </a:ext>
            </a:extLst>
          </p:cNvPr>
          <p:cNvSpPr>
            <a:spLocks noGrp="1"/>
          </p:cNvSpPr>
          <p:nvPr/>
        </p:nvSpPr>
        <p:spPr>
          <a:xfrm>
            <a:off x="7429500" y="26384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DDCDEE6-CC4E-4A57-96BC-698F9BE0AD3F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 3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4C25842-F49C-4BBD-B7CF-0F6C28902F6E}"/>
              </a:ext>
            </a:extLst>
          </p:cNvPr>
          <p:cNvSpPr>
            <a:spLocks noGrp="1"/>
          </p:cNvSpPr>
          <p:nvPr/>
        </p:nvSpPr>
        <p:spPr>
          <a:xfrm>
            <a:off x="1562100" y="32194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1C7C667-A2F0-44CA-A87D-DE7B5DF48246}"/>
              </a:ext>
            </a:extLst>
          </p:cNvPr>
          <p:cNvSpPr>
            <a:spLocks noGrp="1"/>
          </p:cNvSpPr>
          <p:nvPr/>
        </p:nvSpPr>
        <p:spPr>
          <a:xfrm>
            <a:off x="1562100" y="33432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A90C96F-B094-4332-BBE2-9B9DAF0689B8}"/>
              </a:ext>
            </a:extLst>
          </p:cNvPr>
          <p:cNvSpPr>
            <a:spLocks noGrp="1"/>
          </p:cNvSpPr>
          <p:nvPr/>
        </p:nvSpPr>
        <p:spPr>
          <a:xfrm>
            <a:off x="3028950" y="32194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5544FD7-9026-45E2-8698-D471118B5C29}"/>
              </a:ext>
            </a:extLst>
          </p:cNvPr>
          <p:cNvSpPr>
            <a:spLocks noGrp="1"/>
          </p:cNvSpPr>
          <p:nvPr/>
        </p:nvSpPr>
        <p:spPr>
          <a:xfrm>
            <a:off x="3028950" y="33432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6D78182-C3A3-4470-B611-A527DD43CBF0}"/>
              </a:ext>
            </a:extLst>
          </p:cNvPr>
          <p:cNvSpPr>
            <a:spLocks noGrp="1"/>
          </p:cNvSpPr>
          <p:nvPr/>
        </p:nvSpPr>
        <p:spPr>
          <a:xfrm>
            <a:off x="4495800" y="3219450"/>
            <a:ext cx="12573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99079A1-5204-47EA-9B28-0C02A6C2BFCF}"/>
              </a:ext>
            </a:extLst>
          </p:cNvPr>
          <p:cNvSpPr>
            <a:spLocks noGrp="1"/>
          </p:cNvSpPr>
          <p:nvPr/>
        </p:nvSpPr>
        <p:spPr>
          <a:xfrm>
            <a:off x="4495800" y="33432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824616D-8020-4C4A-BE9C-C864B152072C}"/>
              </a:ext>
            </a:extLst>
          </p:cNvPr>
          <p:cNvSpPr>
            <a:spLocks noGrp="1"/>
          </p:cNvSpPr>
          <p:nvPr/>
        </p:nvSpPr>
        <p:spPr>
          <a:xfrm>
            <a:off x="5962650" y="32194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E326D4D-3FA4-445D-AB3C-AFEC1C080573}"/>
              </a:ext>
            </a:extLst>
          </p:cNvPr>
          <p:cNvSpPr>
            <a:spLocks noGrp="1"/>
          </p:cNvSpPr>
          <p:nvPr/>
        </p:nvSpPr>
        <p:spPr>
          <a:xfrm>
            <a:off x="5962650" y="33432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8DD50B0-A3DD-454C-8FA2-9B4DC95E5D88}"/>
              </a:ext>
            </a:extLst>
          </p:cNvPr>
          <p:cNvSpPr>
            <a:spLocks noGrp="1"/>
          </p:cNvSpPr>
          <p:nvPr/>
        </p:nvSpPr>
        <p:spPr>
          <a:xfrm>
            <a:off x="7429500" y="32194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B3D6021-85BB-4430-AE98-2E25C05A338A}"/>
              </a:ext>
            </a:extLst>
          </p:cNvPr>
          <p:cNvSpPr>
            <a:spLocks noGrp="1"/>
          </p:cNvSpPr>
          <p:nvPr/>
        </p:nvSpPr>
        <p:spPr>
          <a:xfrm>
            <a:off x="7429500" y="33432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32E088D-489B-4AFE-8E60-002D85F0B27B}"/>
              </a:ext>
            </a:extLst>
          </p:cNvPr>
          <p:cNvSpPr>
            <a:spLocks noGrp="1"/>
          </p:cNvSpPr>
          <p:nvPr/>
        </p:nvSpPr>
        <p:spPr>
          <a:xfrm>
            <a:off x="704850" y="407670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 4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56D8B13-93A2-4E31-9A05-4ED5EFBA5D6D}"/>
              </a:ext>
            </a:extLst>
          </p:cNvPr>
          <p:cNvSpPr>
            <a:spLocks noGrp="1"/>
          </p:cNvSpPr>
          <p:nvPr/>
        </p:nvSpPr>
        <p:spPr>
          <a:xfrm>
            <a:off x="1562100" y="39243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70C99B6-2B89-4D7A-A54D-88BD30741651}"/>
              </a:ext>
            </a:extLst>
          </p:cNvPr>
          <p:cNvSpPr>
            <a:spLocks noGrp="1"/>
          </p:cNvSpPr>
          <p:nvPr/>
        </p:nvSpPr>
        <p:spPr>
          <a:xfrm>
            <a:off x="1562100" y="40481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30B0545-3DF4-44FF-832F-3967D6163AA9}"/>
              </a:ext>
            </a:extLst>
          </p:cNvPr>
          <p:cNvSpPr>
            <a:spLocks noGrp="1"/>
          </p:cNvSpPr>
          <p:nvPr/>
        </p:nvSpPr>
        <p:spPr>
          <a:xfrm>
            <a:off x="3028950" y="39243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70B729F-9889-46FA-9F1D-4651DCDB55B9}"/>
              </a:ext>
            </a:extLst>
          </p:cNvPr>
          <p:cNvSpPr>
            <a:spLocks noGrp="1"/>
          </p:cNvSpPr>
          <p:nvPr/>
        </p:nvSpPr>
        <p:spPr>
          <a:xfrm>
            <a:off x="3028950" y="40481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6130D02-1403-4095-A443-9C3F14E9E362}"/>
              </a:ext>
            </a:extLst>
          </p:cNvPr>
          <p:cNvSpPr>
            <a:spLocks noGrp="1"/>
          </p:cNvSpPr>
          <p:nvPr/>
        </p:nvSpPr>
        <p:spPr>
          <a:xfrm>
            <a:off x="4495800" y="39243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7281268-4F98-412C-A5B4-2EE7C2CCEA27}"/>
              </a:ext>
            </a:extLst>
          </p:cNvPr>
          <p:cNvSpPr>
            <a:spLocks noGrp="1"/>
          </p:cNvSpPr>
          <p:nvPr/>
        </p:nvSpPr>
        <p:spPr>
          <a:xfrm>
            <a:off x="4495800" y="40481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E6C078F-1DCE-43C4-9F32-4DEFC138618B}"/>
              </a:ext>
            </a:extLst>
          </p:cNvPr>
          <p:cNvSpPr>
            <a:spLocks noGrp="1"/>
          </p:cNvSpPr>
          <p:nvPr/>
        </p:nvSpPr>
        <p:spPr>
          <a:xfrm>
            <a:off x="5962650" y="3924300"/>
            <a:ext cx="12573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2640C95-19C5-48FB-9424-1D25900823CF}"/>
              </a:ext>
            </a:extLst>
          </p:cNvPr>
          <p:cNvSpPr>
            <a:spLocks noGrp="1"/>
          </p:cNvSpPr>
          <p:nvPr/>
        </p:nvSpPr>
        <p:spPr>
          <a:xfrm>
            <a:off x="5962650" y="40481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91280A9-84B1-4B7A-89C0-AF94586FEF50}"/>
              </a:ext>
            </a:extLst>
          </p:cNvPr>
          <p:cNvSpPr>
            <a:spLocks noGrp="1"/>
          </p:cNvSpPr>
          <p:nvPr/>
        </p:nvSpPr>
        <p:spPr>
          <a:xfrm>
            <a:off x="7429500" y="392430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C11214F-A0B9-42A0-89DE-AA8E3C869FEA}"/>
              </a:ext>
            </a:extLst>
          </p:cNvPr>
          <p:cNvSpPr>
            <a:spLocks noGrp="1"/>
          </p:cNvSpPr>
          <p:nvPr/>
        </p:nvSpPr>
        <p:spPr>
          <a:xfrm>
            <a:off x="7429500" y="40481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8978B226-4FA1-48A4-BC84-843C97991F89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 5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3429966-9550-4DA3-A811-DBFBCD23D8BC}"/>
              </a:ext>
            </a:extLst>
          </p:cNvPr>
          <p:cNvSpPr>
            <a:spLocks noGrp="1"/>
          </p:cNvSpPr>
          <p:nvPr/>
        </p:nvSpPr>
        <p:spPr>
          <a:xfrm>
            <a:off x="1562100" y="46291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1206545-6E7A-4BA5-B449-909966F862EE}"/>
              </a:ext>
            </a:extLst>
          </p:cNvPr>
          <p:cNvSpPr>
            <a:spLocks noGrp="1"/>
          </p:cNvSpPr>
          <p:nvPr/>
        </p:nvSpPr>
        <p:spPr>
          <a:xfrm>
            <a:off x="1562100" y="47529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F2A211E-8817-4D9F-A6D7-657D0B864218}"/>
              </a:ext>
            </a:extLst>
          </p:cNvPr>
          <p:cNvSpPr>
            <a:spLocks noGrp="1"/>
          </p:cNvSpPr>
          <p:nvPr/>
        </p:nvSpPr>
        <p:spPr>
          <a:xfrm>
            <a:off x="3028950" y="46291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EAFEF74-BAE2-414B-B431-2EEC19AB5157}"/>
              </a:ext>
            </a:extLst>
          </p:cNvPr>
          <p:cNvSpPr>
            <a:spLocks noGrp="1"/>
          </p:cNvSpPr>
          <p:nvPr/>
        </p:nvSpPr>
        <p:spPr>
          <a:xfrm>
            <a:off x="3028950" y="47529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6C3B8E9-F9B1-49C3-88E2-BAA26C916E65}"/>
              </a:ext>
            </a:extLst>
          </p:cNvPr>
          <p:cNvSpPr>
            <a:spLocks noGrp="1"/>
          </p:cNvSpPr>
          <p:nvPr/>
        </p:nvSpPr>
        <p:spPr>
          <a:xfrm>
            <a:off x="4495800" y="46291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DF416D1-AA00-4740-B537-B5F3E21015D8}"/>
              </a:ext>
            </a:extLst>
          </p:cNvPr>
          <p:cNvSpPr>
            <a:spLocks noGrp="1"/>
          </p:cNvSpPr>
          <p:nvPr/>
        </p:nvSpPr>
        <p:spPr>
          <a:xfrm>
            <a:off x="4495800" y="47529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628B92E-6264-49E0-BBC8-EC650B5731BE}"/>
              </a:ext>
            </a:extLst>
          </p:cNvPr>
          <p:cNvSpPr>
            <a:spLocks noGrp="1"/>
          </p:cNvSpPr>
          <p:nvPr/>
        </p:nvSpPr>
        <p:spPr>
          <a:xfrm>
            <a:off x="5962650" y="4629150"/>
            <a:ext cx="12573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9664EBF-A63F-4CCC-BECD-F3B92203869A}"/>
              </a:ext>
            </a:extLst>
          </p:cNvPr>
          <p:cNvSpPr>
            <a:spLocks noGrp="1"/>
          </p:cNvSpPr>
          <p:nvPr/>
        </p:nvSpPr>
        <p:spPr>
          <a:xfrm>
            <a:off x="5962650" y="47529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B6A929F5-FA42-431A-B1DB-4A13FE500E46}"/>
              </a:ext>
            </a:extLst>
          </p:cNvPr>
          <p:cNvSpPr>
            <a:spLocks noGrp="1"/>
          </p:cNvSpPr>
          <p:nvPr/>
        </p:nvSpPr>
        <p:spPr>
          <a:xfrm>
            <a:off x="7429500" y="4629150"/>
            <a:ext cx="12573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E715345D-CA11-450A-946A-E32D62A19B95}"/>
              </a:ext>
            </a:extLst>
          </p:cNvPr>
          <p:cNvSpPr>
            <a:spLocks noGrp="1"/>
          </p:cNvSpPr>
          <p:nvPr/>
        </p:nvSpPr>
        <p:spPr>
          <a:xfrm>
            <a:off x="7429500" y="475297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38140CB8-5EA8-4746-A378-B32782611227}"/>
              </a:ext>
            </a:extLst>
          </p:cNvPr>
          <p:cNvSpPr>
            <a:spLocks noGrp="1"/>
          </p:cNvSpPr>
          <p:nvPr/>
        </p:nvSpPr>
        <p:spPr>
          <a:xfrm>
            <a:off x="9296400" y="1828800"/>
            <a:ext cx="180975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8A1C013-7B1B-4CBF-8DA8-FD8713B3D13D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trainで学習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A7FD3CF-F076-428F-B750-F3139D9F9E2F}"/>
              </a:ext>
            </a:extLst>
          </p:cNvPr>
          <p:cNvSpPr>
            <a:spLocks noGrp="1"/>
          </p:cNvSpPr>
          <p:nvPr/>
        </p:nvSpPr>
        <p:spPr>
          <a:xfrm>
            <a:off x="9296400" y="2514600"/>
            <a:ext cx="180975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98ED5E4-F89C-4557-87E4-B980763AC413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validで評価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429688E0-E896-43E2-93BE-E037D2767B44}"/>
              </a:ext>
            </a:extLst>
          </p:cNvPr>
          <p:cNvSpPr>
            <a:spLocks noGrp="1"/>
          </p:cNvSpPr>
          <p:nvPr/>
        </p:nvSpPr>
        <p:spPr>
          <a:xfrm>
            <a:off x="9124950" y="35242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5回のスコアを平均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29F503A-687A-4523-ACCC-F9662C44952F}"/>
              </a:ext>
            </a:extLst>
          </p:cNvPr>
          <p:cNvSpPr>
            <a:spLocks noGrp="1"/>
          </p:cNvSpPr>
          <p:nvPr/>
        </p:nvSpPr>
        <p:spPr>
          <a:xfrm>
            <a:off x="9124950" y="3962400"/>
            <a:ext cx="2247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平均: 性能の目安</a:t>
            </a:r>
          </a:p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標準偏差: 分割への敏感さ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55701A7-F6EA-42E5-9F6C-F7F3CE3C7460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回帰では KFold / RepeatedKFold、グループがある場合は GroupKFold、時系列なら TimeSeriesSplit を選ぶ。</a:t>
            </a:r>
          </a:p>
        </p:txBody>
      </p:sp>
    </p:spTree>
    <p:extLst>
      <p:ext uri="{BB962C8B-B14F-4D97-AF65-F5344CB8AC3E}">
        <p14:creationId xmlns:p14="http://schemas.microsoft.com/office/powerpoint/2010/main" val="80078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86A99C1-0C06-459A-9D7A-275DF06A25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6F7D30-A74C-421B-8BF1-53F15021D900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4E8AA4-023A-44DF-8D7E-44F3FAFAE3A3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DATA LEAKAGE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81925C-1541-4088-8B44-2E052AF7417C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データリークは、評価スコアを実力以上に良く見せる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A6B42F-31FF-4263-B84B-346D5769FDE1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1CBDF8-E2C5-4C5F-A8CB-3720940A9E5D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2CFE45-C54A-4A32-A7C2-144BF9FB1D98}"/>
              </a:ext>
            </a:extLst>
          </p:cNvPr>
          <p:cNvSpPr>
            <a:spLocks noGrp="1"/>
          </p:cNvSpPr>
          <p:nvPr/>
        </p:nvSpPr>
        <p:spPr>
          <a:xfrm>
            <a:off x="1200150" y="16383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悪い例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C5F4765-092B-4A7E-A9D7-04621D39C17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4686300" cy="27051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E85DDD-1031-43B4-8A2B-B14E8CDA9C02}"/>
              </a:ext>
            </a:extLst>
          </p:cNvPr>
          <p:cNvSpPr>
            <a:spLocks noGrp="1"/>
          </p:cNvSpPr>
          <p:nvPr/>
        </p:nvSpPr>
        <p:spPr>
          <a:xfrm>
            <a:off x="1200150" y="2381250"/>
            <a:ext cx="12763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80F8A2E-1E26-4412-8B9A-2E1F27B9B5BA}"/>
              </a:ext>
            </a:extLst>
          </p:cNvPr>
          <p:cNvSpPr>
            <a:spLocks noGrp="1"/>
          </p:cNvSpPr>
          <p:nvPr/>
        </p:nvSpPr>
        <p:spPr>
          <a:xfrm>
            <a:off x="1371600" y="25527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全データ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F19C317-F894-455D-8642-FB30007789BF}"/>
              </a:ext>
            </a:extLst>
          </p:cNvPr>
          <p:cNvSpPr>
            <a:spLocks noGrp="1"/>
          </p:cNvSpPr>
          <p:nvPr/>
        </p:nvSpPr>
        <p:spPr>
          <a:xfrm>
            <a:off x="1371600" y="2933700"/>
            <a:ext cx="9334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train+valid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3E420B4-DE20-475C-9A3B-0A560EE3630F}"/>
              </a:ext>
            </a:extLst>
          </p:cNvPr>
          <p:cNvSpPr>
            <a:spLocks noGrp="1"/>
          </p:cNvSpPr>
          <p:nvPr/>
        </p:nvSpPr>
        <p:spPr>
          <a:xfrm>
            <a:off x="2647950" y="25527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807586B-521F-4806-96DB-974596ADA978}"/>
              </a:ext>
            </a:extLst>
          </p:cNvPr>
          <p:cNvSpPr>
            <a:spLocks noGrp="1"/>
          </p:cNvSpPr>
          <p:nvPr/>
        </p:nvSpPr>
        <p:spPr>
          <a:xfrm>
            <a:off x="3105150" y="2381250"/>
            <a:ext cx="15430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FAA4A97-285C-4064-9B73-1641A3C20D5B}"/>
              </a:ext>
            </a:extLst>
          </p:cNvPr>
          <p:cNvSpPr>
            <a:spLocks noGrp="1"/>
          </p:cNvSpPr>
          <p:nvPr/>
        </p:nvSpPr>
        <p:spPr>
          <a:xfrm>
            <a:off x="3276600" y="255270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Scaler fit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B01B92-E63A-4D65-B916-FA40F5A3009A}"/>
              </a:ext>
            </a:extLst>
          </p:cNvPr>
          <p:cNvSpPr>
            <a:spLocks noGrp="1"/>
          </p:cNvSpPr>
          <p:nvPr/>
        </p:nvSpPr>
        <p:spPr>
          <a:xfrm>
            <a:off x="3276600" y="2933700"/>
            <a:ext cx="12001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valid情報も混ざる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D0CC84B-C134-4D44-B8E2-CA861C357FDF}"/>
              </a:ext>
            </a:extLst>
          </p:cNvPr>
          <p:cNvSpPr>
            <a:spLocks noGrp="1"/>
          </p:cNvSpPr>
          <p:nvPr/>
        </p:nvSpPr>
        <p:spPr>
          <a:xfrm>
            <a:off x="3562350" y="32766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93A1B9-FE45-4037-83BD-E8A130F655A9}"/>
              </a:ext>
            </a:extLst>
          </p:cNvPr>
          <p:cNvSpPr>
            <a:spLocks noGrp="1"/>
          </p:cNvSpPr>
          <p:nvPr/>
        </p:nvSpPr>
        <p:spPr>
          <a:xfrm>
            <a:off x="2190750" y="36385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9216F96-6906-4CC4-AAB4-48A57BACB3F9}"/>
              </a:ext>
            </a:extLst>
          </p:cNvPr>
          <p:cNvSpPr>
            <a:spLocks noGrp="1"/>
          </p:cNvSpPr>
          <p:nvPr/>
        </p:nvSpPr>
        <p:spPr>
          <a:xfrm>
            <a:off x="2362200" y="381000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CV評価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233EFE6-63F8-429A-AA70-CF01DC16D8D5}"/>
              </a:ext>
            </a:extLst>
          </p:cNvPr>
          <p:cNvSpPr>
            <a:spLocks noGrp="1"/>
          </p:cNvSpPr>
          <p:nvPr/>
        </p:nvSpPr>
        <p:spPr>
          <a:xfrm>
            <a:off x="2362200" y="4191000"/>
            <a:ext cx="13525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スコアが過大評価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08A20F9-6B3E-48BF-9BB0-D4E9D7FD0A0A}"/>
              </a:ext>
            </a:extLst>
          </p:cNvPr>
          <p:cNvSpPr>
            <a:spLocks noGrp="1"/>
          </p:cNvSpPr>
          <p:nvPr/>
        </p:nvSpPr>
        <p:spPr>
          <a:xfrm>
            <a:off x="6858000" y="16383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良い例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EECA4D6-7A2E-4FE0-9721-2FCDE5677874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686300" cy="27051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8FAD27E-0E5F-469C-B6FF-BCC395D49F7A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12763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0D06858-C874-40D1-B196-8D84AACEB980}"/>
              </a:ext>
            </a:extLst>
          </p:cNvPr>
          <p:cNvSpPr>
            <a:spLocks noGrp="1"/>
          </p:cNvSpPr>
          <p:nvPr/>
        </p:nvSpPr>
        <p:spPr>
          <a:xfrm>
            <a:off x="6877050" y="25527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fold train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52612F7-85A7-4FC9-A929-BC658B7DE58F}"/>
              </a:ext>
            </a:extLst>
          </p:cNvPr>
          <p:cNvSpPr>
            <a:spLocks noGrp="1"/>
          </p:cNvSpPr>
          <p:nvPr/>
        </p:nvSpPr>
        <p:spPr>
          <a:xfrm>
            <a:off x="6877050" y="2933700"/>
            <a:ext cx="9334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訓練部分だけ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06627A8-7BA6-471A-8EC3-910DED4496D2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BC75294-877F-4316-821E-371D5B079140}"/>
              </a:ext>
            </a:extLst>
          </p:cNvPr>
          <p:cNvSpPr>
            <a:spLocks noGrp="1"/>
          </p:cNvSpPr>
          <p:nvPr/>
        </p:nvSpPr>
        <p:spPr>
          <a:xfrm>
            <a:off x="8629650" y="2381250"/>
            <a:ext cx="15430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66AEA30-0090-4AB9-9C7B-CCA890CF9148}"/>
              </a:ext>
            </a:extLst>
          </p:cNvPr>
          <p:cNvSpPr>
            <a:spLocks noGrp="1"/>
          </p:cNvSpPr>
          <p:nvPr/>
        </p:nvSpPr>
        <p:spPr>
          <a:xfrm>
            <a:off x="8801100" y="255270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Scaler fit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EAC02B8-3DA9-4E9A-A629-670FF5405D12}"/>
              </a:ext>
            </a:extLst>
          </p:cNvPr>
          <p:cNvSpPr>
            <a:spLocks noGrp="1"/>
          </p:cNvSpPr>
          <p:nvPr/>
        </p:nvSpPr>
        <p:spPr>
          <a:xfrm>
            <a:off x="8801100" y="2933700"/>
            <a:ext cx="12001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trainだけでfit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0158864-9A44-4996-8EF8-436A057334B1}"/>
              </a:ext>
            </a:extLst>
          </p:cNvPr>
          <p:cNvSpPr>
            <a:spLocks noGrp="1"/>
          </p:cNvSpPr>
          <p:nvPr/>
        </p:nvSpPr>
        <p:spPr>
          <a:xfrm>
            <a:off x="9105900" y="32766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56B7531-4D4D-424B-88AA-41AF1E421D98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16954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28CEBD9-7ED8-410F-95E1-25A5A52F0E00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valid評価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2536BC7-6AAA-409A-B024-B661260F016B}"/>
              </a:ext>
            </a:extLst>
          </p:cNvPr>
          <p:cNvSpPr>
            <a:spLocks noGrp="1"/>
          </p:cNvSpPr>
          <p:nvPr/>
        </p:nvSpPr>
        <p:spPr>
          <a:xfrm>
            <a:off x="7886700" y="4191000"/>
            <a:ext cx="13525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transformだけ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64B9953-00C9-4473-B21B-709B2C2B0006}"/>
              </a:ext>
            </a:extLst>
          </p:cNvPr>
          <p:cNvSpPr>
            <a:spLocks noGrp="1"/>
          </p:cNvSpPr>
          <p:nvPr/>
        </p:nvSpPr>
        <p:spPr>
          <a:xfrm>
            <a:off x="1352550" y="5219700"/>
            <a:ext cx="9429750" cy="6477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40C0834-4BDE-4169-B338-8A8935DB5675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08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防止策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AD255FD-88EB-4AA1-8C76-69815A3EE679}"/>
              </a:ext>
            </a:extLst>
          </p:cNvPr>
          <p:cNvSpPr>
            <a:spLocks noGrp="1"/>
          </p:cNvSpPr>
          <p:nvPr/>
        </p:nvSpPr>
        <p:spPr>
          <a:xfrm>
            <a:off x="1524000" y="5772150"/>
            <a:ext cx="90868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前処理・特徴選択・次元削減・モデルをPipelineに入れる。testデータは最後の1回だけ使う。</a:t>
            </a:r>
          </a:p>
        </p:txBody>
      </p:sp>
    </p:spTree>
    <p:extLst>
      <p:ext uri="{BB962C8B-B14F-4D97-AF65-F5344CB8AC3E}">
        <p14:creationId xmlns:p14="http://schemas.microsoft.com/office/powerpoint/2010/main" val="17116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C899A7-B55F-4D4D-BD19-6D2F78A3DD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E67A98-6C75-4450-B19D-6C91F10A2BD5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84940C4-353F-4B4A-9AE3-94D41B4B9F38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REPRODUCIBILITY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9B7E663-20A8-4A9F-9533-0B64CAD5C7C9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seedは乱数を固定し、同じ条件の結果を再現しやすくする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01DC68-8E5D-46AA-8D6C-3F155E5FA2C4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CA7B72-94DF-41C1-A717-CCA000069B80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778BB975-5E26-4D0E-82BD-A4CCEE1AA143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2000250" cy="200025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30E44C-E1D5-4D3A-93C9-1BD2D129B5BB}"/>
              </a:ext>
            </a:extLst>
          </p:cNvPr>
          <p:cNvSpPr>
            <a:spLocks noGrp="1"/>
          </p:cNvSpPr>
          <p:nvPr/>
        </p:nvSpPr>
        <p:spPr>
          <a:xfrm>
            <a:off x="5219700" y="27241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SEED = 42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24806E9-7815-4207-AF06-D4B17BB4AD6B}"/>
              </a:ext>
            </a:extLst>
          </p:cNvPr>
          <p:cNvSpPr>
            <a:spLocks noGrp="1"/>
          </p:cNvSpPr>
          <p:nvPr/>
        </p:nvSpPr>
        <p:spPr>
          <a:xfrm>
            <a:off x="5286375" y="31623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乱数の起点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782180-DD1A-4A68-BE00-E17E1B6A4F59}"/>
              </a:ext>
            </a:extLst>
          </p:cNvPr>
          <p:cNvSpPr>
            <a:spLocks noGrp="1"/>
          </p:cNvSpPr>
          <p:nvPr/>
        </p:nvSpPr>
        <p:spPr>
          <a:xfrm>
            <a:off x="1276350" y="1771650"/>
            <a:ext cx="2381250" cy="8763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A3E6E9-B717-4D39-9A01-D330C73059F5}"/>
              </a:ext>
            </a:extLst>
          </p:cNvPr>
          <p:cNvSpPr>
            <a:spLocks noGrp="1"/>
          </p:cNvSpPr>
          <p:nvPr/>
        </p:nvSpPr>
        <p:spPr>
          <a:xfrm>
            <a:off x="1447800" y="194310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train_test_split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B844A0-08C1-4D43-9604-5AFDD7B885B6}"/>
              </a:ext>
            </a:extLst>
          </p:cNvPr>
          <p:cNvSpPr>
            <a:spLocks noGrp="1"/>
          </p:cNvSpPr>
          <p:nvPr/>
        </p:nvSpPr>
        <p:spPr>
          <a:xfrm>
            <a:off x="1447800" y="232410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シャッフル分割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9BDD3EB-AC04-4C8B-853C-4F22243D1BDA}"/>
              </a:ext>
            </a:extLst>
          </p:cNvPr>
          <p:cNvSpPr>
            <a:spLocks noGrp="1"/>
          </p:cNvSpPr>
          <p:nvPr/>
        </p:nvSpPr>
        <p:spPr>
          <a:xfrm>
            <a:off x="1276350" y="4038600"/>
            <a:ext cx="2381250" cy="8763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7112A51-7702-4671-977A-21C2A0C43B0D}"/>
              </a:ext>
            </a:extLst>
          </p:cNvPr>
          <p:cNvSpPr>
            <a:spLocks noGrp="1"/>
          </p:cNvSpPr>
          <p:nvPr/>
        </p:nvSpPr>
        <p:spPr>
          <a:xfrm>
            <a:off x="1447800" y="421005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KFold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813DB5B-C178-4439-BEE9-8C8BE01E0D5D}"/>
              </a:ext>
            </a:extLst>
          </p:cNvPr>
          <p:cNvSpPr>
            <a:spLocks noGrp="1"/>
          </p:cNvSpPr>
          <p:nvPr/>
        </p:nvSpPr>
        <p:spPr>
          <a:xfrm>
            <a:off x="1447800" y="459105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foldのシャッフル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73C94DF-9A57-44AD-9279-B690FD2FE927}"/>
              </a:ext>
            </a:extLst>
          </p:cNvPr>
          <p:cNvSpPr>
            <a:spLocks noGrp="1"/>
          </p:cNvSpPr>
          <p:nvPr/>
        </p:nvSpPr>
        <p:spPr>
          <a:xfrm>
            <a:off x="7772400" y="1771650"/>
            <a:ext cx="2381250" cy="8763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274377E-2909-43F9-AEB5-919D9A5A7486}"/>
              </a:ext>
            </a:extLst>
          </p:cNvPr>
          <p:cNvSpPr>
            <a:spLocks noGrp="1"/>
          </p:cNvSpPr>
          <p:nvPr/>
        </p:nvSpPr>
        <p:spPr>
          <a:xfrm>
            <a:off x="7943850" y="194310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RandomizedSearch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762BD3B-382E-47D3-A9D6-BCA5BDD9EB37}"/>
              </a:ext>
            </a:extLst>
          </p:cNvPr>
          <p:cNvSpPr>
            <a:spLocks noGrp="1"/>
          </p:cNvSpPr>
          <p:nvPr/>
        </p:nvSpPr>
        <p:spPr>
          <a:xfrm>
            <a:off x="7943850" y="232410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候補のサンプリング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5DA5A6-9506-4096-ABCF-8FF55AA3E46F}"/>
              </a:ext>
            </a:extLst>
          </p:cNvPr>
          <p:cNvSpPr>
            <a:spLocks noGrp="1"/>
          </p:cNvSpPr>
          <p:nvPr/>
        </p:nvSpPr>
        <p:spPr>
          <a:xfrm>
            <a:off x="7772400" y="4038600"/>
            <a:ext cx="2381250" cy="8763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54670D4-4204-4FC2-A6A4-E9C5E29FDF0D}"/>
              </a:ext>
            </a:extLst>
          </p:cNvPr>
          <p:cNvSpPr>
            <a:spLocks noGrp="1"/>
          </p:cNvSpPr>
          <p:nvPr/>
        </p:nvSpPr>
        <p:spPr>
          <a:xfrm>
            <a:off x="7943850" y="4210050"/>
            <a:ext cx="2038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モデル初期値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6D80B99-4328-42FE-8676-9EE1E9A39FC2}"/>
              </a:ext>
            </a:extLst>
          </p:cNvPr>
          <p:cNvSpPr>
            <a:spLocks noGrp="1"/>
          </p:cNvSpPr>
          <p:nvPr/>
        </p:nvSpPr>
        <p:spPr>
          <a:xfrm>
            <a:off x="7943850" y="459105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RF / NNなど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B7CACEF-E4E4-432E-BA31-E17BA389C106}"/>
              </a:ext>
            </a:extLst>
          </p:cNvPr>
          <p:cNvSpPr>
            <a:spLocks noGrp="1"/>
          </p:cNvSpPr>
          <p:nvPr/>
        </p:nvSpPr>
        <p:spPr>
          <a:xfrm>
            <a:off x="3905250" y="23050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2938C56-64DB-4C91-9DF7-EE07E15ACEAC}"/>
              </a:ext>
            </a:extLst>
          </p:cNvPr>
          <p:cNvSpPr>
            <a:spLocks noGrp="1"/>
          </p:cNvSpPr>
          <p:nvPr/>
        </p:nvSpPr>
        <p:spPr>
          <a:xfrm>
            <a:off x="3905250" y="43053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3B90F58-BA06-4CF0-8E2B-AD2161002C0B}"/>
              </a:ext>
            </a:extLst>
          </p:cNvPr>
          <p:cNvSpPr>
            <a:spLocks noGrp="1"/>
          </p:cNvSpPr>
          <p:nvPr/>
        </p:nvSpPr>
        <p:spPr>
          <a:xfrm>
            <a:off x="7334250" y="23050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EB8B4B1-99A6-445E-BF06-EDF53D41B1DF}"/>
              </a:ext>
            </a:extLst>
          </p:cNvPr>
          <p:cNvSpPr>
            <a:spLocks noGrp="1"/>
          </p:cNvSpPr>
          <p:nvPr/>
        </p:nvSpPr>
        <p:spPr>
          <a:xfrm>
            <a:off x="7334250" y="430530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E144E4F-D88F-4257-8E81-8EBF3BAAE0A5}"/>
              </a:ext>
            </a:extLst>
          </p:cNvPr>
          <p:cNvSpPr>
            <a:spLocks noGrp="1"/>
          </p:cNvSpPr>
          <p:nvPr/>
        </p:nvSpPr>
        <p:spPr>
          <a:xfrm>
            <a:off x="1219200" y="5372100"/>
            <a:ext cx="9620250" cy="5143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60B262F-2523-4DFE-855F-0D1A3F3936C5}"/>
              </a:ext>
            </a:extLst>
          </p:cNvPr>
          <p:cNvSpPr>
            <a:spLocks noGrp="1"/>
          </p:cNvSpPr>
          <p:nvPr/>
        </p:nvSpPr>
        <p:spPr>
          <a:xfrm>
            <a:off x="1466850" y="5514975"/>
            <a:ext cx="908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seedだけでは完全再現できない場合もある。Python・ライブラリ・データ・分割方法・評価指標も記録する。</a:t>
            </a:r>
          </a:p>
        </p:txBody>
      </p:sp>
    </p:spTree>
    <p:extLst>
      <p:ext uri="{BB962C8B-B14F-4D97-AF65-F5344CB8AC3E}">
        <p14:creationId xmlns:p14="http://schemas.microsoft.com/office/powerpoint/2010/main" val="164946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94DD64C-0773-471E-A11D-EA4E54E17F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D10227-8C64-4694-8A81-0297C196D1F6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FE1A2C-61BC-4EB0-868D-B581B57A3C08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FEATURE ENGINEERING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30EE47-E8DE-4B39-B86C-C1688A2A00B7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特徴エンジニアリングは、モデルが学びやすい入力を作る作業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07EE63-30EB-4F63-9D0C-839CD3DD7984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71742E-400B-409B-B418-05ABF5BD2CD1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05886ED-8B24-4340-B831-B85876372739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1581150" cy="9144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C451005-F643-4A43-932E-377035E93B96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元データ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DCA66C-B643-4A58-8602-728521D22F3C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数値 / カテゴリ / 欠損 / 外れ値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C5CF859-743A-49C2-99D4-5F746359C971}"/>
              </a:ext>
            </a:extLst>
          </p:cNvPr>
          <p:cNvSpPr>
            <a:spLocks noGrp="1"/>
          </p:cNvSpPr>
          <p:nvPr/>
        </p:nvSpPr>
        <p:spPr>
          <a:xfrm>
            <a:off x="2476500" y="29908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F6E038C-48AE-4AB7-B3E3-0279BCED04DB}"/>
              </a:ext>
            </a:extLst>
          </p:cNvPr>
          <p:cNvSpPr>
            <a:spLocks noGrp="1"/>
          </p:cNvSpPr>
          <p:nvPr/>
        </p:nvSpPr>
        <p:spPr>
          <a:xfrm>
            <a:off x="3162300" y="2095500"/>
            <a:ext cx="1390650" cy="8572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1D6483B-F3A0-4819-B0E5-8B073925D4B6}"/>
              </a:ext>
            </a:extLst>
          </p:cNvPr>
          <p:cNvSpPr>
            <a:spLocks noGrp="1"/>
          </p:cNvSpPr>
          <p:nvPr/>
        </p:nvSpPr>
        <p:spPr>
          <a:xfrm>
            <a:off x="3333750" y="22288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変換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094C17-8F1D-4398-A1B9-88889CFCE152}"/>
              </a:ext>
            </a:extLst>
          </p:cNvPr>
          <p:cNvSpPr>
            <a:spLocks noGrp="1"/>
          </p:cNvSpPr>
          <p:nvPr/>
        </p:nvSpPr>
        <p:spPr>
          <a:xfrm>
            <a:off x="3333750" y="24574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標準化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DFA8884-D0A2-46AF-BB20-B2E1E0BDECEB}"/>
              </a:ext>
            </a:extLst>
          </p:cNvPr>
          <p:cNvSpPr>
            <a:spLocks noGrp="1"/>
          </p:cNvSpPr>
          <p:nvPr/>
        </p:nvSpPr>
        <p:spPr>
          <a:xfrm>
            <a:off x="3333750" y="2781300"/>
            <a:ext cx="10477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StandardScaler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3C9F741-967D-45F8-8F03-AE1AB7DF994C}"/>
              </a:ext>
            </a:extLst>
          </p:cNvPr>
          <p:cNvSpPr>
            <a:spLocks noGrp="1"/>
          </p:cNvSpPr>
          <p:nvPr/>
        </p:nvSpPr>
        <p:spPr>
          <a:xfrm>
            <a:off x="4876800" y="3295650"/>
            <a:ext cx="1390650" cy="85725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2ACDAA7-7185-4029-854B-7E2030E69F1C}"/>
              </a:ext>
            </a:extLst>
          </p:cNvPr>
          <p:cNvSpPr>
            <a:spLocks noGrp="1"/>
          </p:cNvSpPr>
          <p:nvPr/>
        </p:nvSpPr>
        <p:spPr>
          <a:xfrm>
            <a:off x="5048250" y="34290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変換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60BFA16-2161-4D5A-8F67-89F1468AB105}"/>
              </a:ext>
            </a:extLst>
          </p:cNvPr>
          <p:cNvSpPr>
            <a:spLocks noGrp="1"/>
          </p:cNvSpPr>
          <p:nvPr/>
        </p:nvSpPr>
        <p:spPr>
          <a:xfrm>
            <a:off x="5048250" y="36576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対数変換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86742E5-87EA-4E8C-A798-06F1A873E0E5}"/>
              </a:ext>
            </a:extLst>
          </p:cNvPr>
          <p:cNvSpPr>
            <a:spLocks noGrp="1"/>
          </p:cNvSpPr>
          <p:nvPr/>
        </p:nvSpPr>
        <p:spPr>
          <a:xfrm>
            <a:off x="5048250" y="3981450"/>
            <a:ext cx="10477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log(x + 1)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73216D2-9746-4C88-9302-BF82B5F34133}"/>
              </a:ext>
            </a:extLst>
          </p:cNvPr>
          <p:cNvSpPr>
            <a:spLocks noGrp="1"/>
          </p:cNvSpPr>
          <p:nvPr/>
        </p:nvSpPr>
        <p:spPr>
          <a:xfrm>
            <a:off x="6591300" y="2095500"/>
            <a:ext cx="1390650" cy="8572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72916B6-A36E-4C75-8BD0-501B35DE52BB}"/>
              </a:ext>
            </a:extLst>
          </p:cNvPr>
          <p:cNvSpPr>
            <a:spLocks noGrp="1"/>
          </p:cNvSpPr>
          <p:nvPr/>
        </p:nvSpPr>
        <p:spPr>
          <a:xfrm>
            <a:off x="6762750" y="22288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変換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17491D9-6C7A-4BEE-8D34-4BFFB9DDF957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相互作用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532D224-8462-40E2-8CF9-67FDBC7B089B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10477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x1 × x2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5EED8DB-F913-4C07-803B-EB0B14436CCB}"/>
              </a:ext>
            </a:extLst>
          </p:cNvPr>
          <p:cNvSpPr>
            <a:spLocks noGrp="1"/>
          </p:cNvSpPr>
          <p:nvPr/>
        </p:nvSpPr>
        <p:spPr>
          <a:xfrm>
            <a:off x="8305800" y="3295650"/>
            <a:ext cx="1390650" cy="85725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73C351C-AF84-46EA-B0DD-7B1DC24BBFA2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7C3AED"/>
                </a:solidFill>
                <a:latin typeface="Hiragino Sans"/>
                <a:ea typeface="Hiragino Sans"/>
                <a:cs typeface="Hiragino Sans"/>
              </a:rPr>
              <a:t>変換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0FD84DA-0D9D-4544-8B8E-BC8AF2633520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カテゴリ変換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9C8EF70-6B0F-4B61-95A9-7B1F58603471}"/>
              </a:ext>
            </a:extLst>
          </p:cNvPr>
          <p:cNvSpPr>
            <a:spLocks noGrp="1"/>
          </p:cNvSpPr>
          <p:nvPr/>
        </p:nvSpPr>
        <p:spPr>
          <a:xfrm>
            <a:off x="8477250" y="3981450"/>
            <a:ext cx="10477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One-hot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BEA2398-55D1-46E8-8BF7-5861E5FCACF3}"/>
              </a:ext>
            </a:extLst>
          </p:cNvPr>
          <p:cNvSpPr>
            <a:spLocks noGrp="1"/>
          </p:cNvSpPr>
          <p:nvPr/>
        </p:nvSpPr>
        <p:spPr>
          <a:xfrm>
            <a:off x="10001250" y="2990850"/>
            <a:ext cx="323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D324270-25B1-44DC-B556-F793B9BAA135}"/>
              </a:ext>
            </a:extLst>
          </p:cNvPr>
          <p:cNvSpPr>
            <a:spLocks noGrp="1"/>
          </p:cNvSpPr>
          <p:nvPr/>
        </p:nvSpPr>
        <p:spPr>
          <a:xfrm>
            <a:off x="10382250" y="2705100"/>
            <a:ext cx="1143000" cy="9144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0997929-76B7-44B0-AB84-BD31CB539E5A}"/>
              </a:ext>
            </a:extLst>
          </p:cNvPr>
          <p:cNvSpPr>
            <a:spLocks noGrp="1"/>
          </p:cNvSpPr>
          <p:nvPr/>
        </p:nvSpPr>
        <p:spPr>
          <a:xfrm>
            <a:off x="10553700" y="287655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モデル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B855FBB-423B-4FCF-BA0B-9CCA11C2D6E9}"/>
              </a:ext>
            </a:extLst>
          </p:cNvPr>
          <p:cNvSpPr>
            <a:spLocks noGrp="1"/>
          </p:cNvSpPr>
          <p:nvPr/>
        </p:nvSpPr>
        <p:spPr>
          <a:xfrm>
            <a:off x="10553700" y="325755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SVRなど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ADF58CF-C4ED-444B-90F3-5C825E873A9E}"/>
              </a:ext>
            </a:extLst>
          </p:cNvPr>
          <p:cNvSpPr>
            <a:spLocks noGrp="1"/>
          </p:cNvSpPr>
          <p:nvPr/>
        </p:nvSpPr>
        <p:spPr>
          <a:xfrm>
            <a:off x="2819400" y="4762500"/>
            <a:ext cx="685800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EB292F8-E022-44B7-B520-3656CB6E83D5}"/>
              </a:ext>
            </a:extLst>
          </p:cNvPr>
          <p:cNvSpPr>
            <a:spLocks noGrp="1"/>
          </p:cNvSpPr>
          <p:nvPr/>
        </p:nvSpPr>
        <p:spPr>
          <a:xfrm>
            <a:off x="3086100" y="4914900"/>
            <a:ext cx="628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注意: 特徴量のfitはCVの訓練fold内で行う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B555ADF-42BB-4413-8D6F-8CB328D5569C}"/>
              </a:ext>
            </a:extLst>
          </p:cNvPr>
          <p:cNvSpPr>
            <a:spLocks noGrp="1"/>
          </p:cNvSpPr>
          <p:nvPr/>
        </p:nvSpPr>
        <p:spPr>
          <a:xfrm>
            <a:off x="3086100" y="521970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全データで特徴選択やスケーリングをすると、検証データの情報が混ざる。</a:t>
            </a:r>
          </a:p>
        </p:txBody>
      </p:sp>
    </p:spTree>
    <p:extLst>
      <p:ext uri="{BB962C8B-B14F-4D97-AF65-F5344CB8AC3E}">
        <p14:creationId xmlns:p14="http://schemas.microsoft.com/office/powerpoint/2010/main" val="144110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2D527E2-C19F-4BED-A0F5-196570EA3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AB6C72D-BAF5-46F8-BB62-0A81F42F4E47}"/>
              </a:ext>
            </a:extLst>
          </p:cNvPr>
          <p:cNvSpPr>
            <a:spLocks noGrp="1"/>
          </p:cNvSpPr>
          <p:nvPr/>
        </p:nvSpPr>
        <p:spPr>
          <a:xfrm>
            <a:off x="495300" y="476250"/>
            <a:ext cx="438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F695C1-0BBD-41E4-9F0E-386AFDDD7D0E}"/>
              </a:ext>
            </a:extLst>
          </p:cNvPr>
          <p:cNvSpPr>
            <a:spLocks noGrp="1"/>
          </p:cNvSpPr>
          <p:nvPr/>
        </p:nvSpPr>
        <p:spPr>
          <a:xfrm>
            <a:off x="10668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CHECKLIST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1CE248-07C5-49E4-86B0-2CA158AD3B2E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課題では、モデル精度より先に評価手順の信頼性を守る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BFAB2E4-2233-4C3C-88A7-FCB58EE5C76A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第4回 Pythonセミナー | 非線形回帰と検証設計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A96C22-9F65-4BC8-B486-207139284DA4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B6573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8AD6C2-5D5A-43A8-9D5F-27803A91E12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895850" cy="41148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FC0A4A7-1945-44D9-8290-00E64D9D1E19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55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6A34A"/>
                </a:solidFill>
                <a:latin typeface="Hiragino Sans"/>
                <a:ea typeface="Hiragino Sans"/>
                <a:cs typeface="Hiragino Sans"/>
              </a:rPr>
              <a:t>やること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821DB8-8BF2-438E-8FE9-5397590294C6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実装チェック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7461ED15-4F81-4FC7-8633-C71A07AD946C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4B7C09C-6DDA-4D2F-9789-A200EE89BE3F}"/>
              </a:ext>
            </a:extLst>
          </p:cNvPr>
          <p:cNvSpPr>
            <a:spLocks noGrp="1"/>
          </p:cNvSpPr>
          <p:nvPr/>
        </p:nvSpPr>
        <p:spPr>
          <a:xfrm>
            <a:off x="1066800" y="24669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39DEE9A-E516-438C-B1EF-5AFEA539E526}"/>
              </a:ext>
            </a:extLst>
          </p:cNvPr>
          <p:cNvSpPr>
            <a:spLocks noGrp="1"/>
          </p:cNvSpPr>
          <p:nvPr/>
        </p:nvSpPr>
        <p:spPr>
          <a:xfrm>
            <a:off x="1428750" y="24574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目的変数 y と特徴量 X を分ける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F13D0241-8857-4F25-BDD1-2F83375BADDC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1A09E43-B5EA-4E38-940D-9259BD8BB219}"/>
              </a:ext>
            </a:extLst>
          </p:cNvPr>
          <p:cNvSpPr>
            <a:spLocks noGrp="1"/>
          </p:cNvSpPr>
          <p:nvPr/>
        </p:nvSpPr>
        <p:spPr>
          <a:xfrm>
            <a:off x="1066800" y="29241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EF7DED4-0DED-42B6-93A3-9EADFEB5BBA5}"/>
              </a:ext>
            </a:extLst>
          </p:cNvPr>
          <p:cNvSpPr>
            <a:spLocks noGrp="1"/>
          </p:cNvSpPr>
          <p:nvPr/>
        </p:nvSpPr>
        <p:spPr>
          <a:xfrm>
            <a:off x="1428750" y="29146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train/test splitを先に行う</a:t>
            </a: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E8203713-F590-4A9E-9A43-7F8CBADB663B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9576239-9403-47DC-BFEA-0AD7E3C6D0C5}"/>
              </a:ext>
            </a:extLst>
          </p:cNvPr>
          <p:cNvSpPr>
            <a:spLocks noGrp="1"/>
          </p:cNvSpPr>
          <p:nvPr/>
        </p:nvSpPr>
        <p:spPr>
          <a:xfrm>
            <a:off x="1066800" y="33813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31E2E5B-6B1A-4275-811B-CFA8D4D09741}"/>
              </a:ext>
            </a:extLst>
          </p:cNvPr>
          <p:cNvSpPr>
            <a:spLocks noGrp="1"/>
          </p:cNvSpPr>
          <p:nvPr/>
        </p:nvSpPr>
        <p:spPr>
          <a:xfrm>
            <a:off x="1428750" y="33718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前処理とSVRをPipeline化する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8F4CF0F2-27AD-41FE-9974-75769607FCBC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52442E5-5F4D-4F34-A218-94AA79E56A9C}"/>
              </a:ext>
            </a:extLst>
          </p:cNvPr>
          <p:cNvSpPr>
            <a:spLocks noGrp="1"/>
          </p:cNvSpPr>
          <p:nvPr/>
        </p:nvSpPr>
        <p:spPr>
          <a:xfrm>
            <a:off x="1066800" y="38385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01F408-B0EB-4E50-B81A-8710BB45EFA9}"/>
              </a:ext>
            </a:extLst>
          </p:cNvPr>
          <p:cNvSpPr>
            <a:spLocks noGrp="1"/>
          </p:cNvSpPr>
          <p:nvPr/>
        </p:nvSpPr>
        <p:spPr>
          <a:xfrm>
            <a:off x="1428750" y="38290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CVでハイパーパラメータを探す</a:t>
            </a: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3A0CDD40-A5CB-4A47-AF14-53B4DE9DD833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621E70-3B20-4020-81CE-DA56ABE11CD1}"/>
              </a:ext>
            </a:extLst>
          </p:cNvPr>
          <p:cNvSpPr>
            <a:spLocks noGrp="1"/>
          </p:cNvSpPr>
          <p:nvPr/>
        </p:nvSpPr>
        <p:spPr>
          <a:xfrm>
            <a:off x="1066800" y="42957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4500C3F-F8FD-4037-AB71-57360ED3EF68}"/>
              </a:ext>
            </a:extLst>
          </p:cNvPr>
          <p:cNvSpPr>
            <a:spLocks noGrp="1"/>
          </p:cNvSpPr>
          <p:nvPr/>
        </p:nvSpPr>
        <p:spPr>
          <a:xfrm>
            <a:off x="1428750" y="42862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best modelをtrain全体で再学習する</a:t>
            </a: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168135A8-6B24-46EC-B208-354B01821BA9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F38EAE3-1150-4428-B279-9A5190B97694}"/>
              </a:ext>
            </a:extLst>
          </p:cNvPr>
          <p:cNvSpPr>
            <a:spLocks noGrp="1"/>
          </p:cNvSpPr>
          <p:nvPr/>
        </p:nvSpPr>
        <p:spPr>
          <a:xfrm>
            <a:off x="1066800" y="47529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ED99B1E-5144-4713-B6CE-8ABD3CA9822D}"/>
              </a:ext>
            </a:extLst>
          </p:cNvPr>
          <p:cNvSpPr>
            <a:spLocks noGrp="1"/>
          </p:cNvSpPr>
          <p:nvPr/>
        </p:nvSpPr>
        <p:spPr>
          <a:xfrm>
            <a:off x="1428750" y="47434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testは最後に1回だけ評価する</a:t>
            </a:r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60317B54-7EB4-4027-B8E8-4DCE670B495B}"/>
              </a:ext>
            </a:extLst>
          </p:cNvPr>
          <p:cNvSpPr>
            <a:spLocks noGrp="1"/>
          </p:cNvSpPr>
          <p:nvPr/>
        </p:nvSpPr>
        <p:spPr>
          <a:xfrm>
            <a:off x="1028700" y="5238750"/>
            <a:ext cx="247650" cy="24765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96A52CF-61AA-4400-B97D-687BD7A11EFE}"/>
              </a:ext>
            </a:extLst>
          </p:cNvPr>
          <p:cNvSpPr>
            <a:spLocks noGrp="1"/>
          </p:cNvSpPr>
          <p:nvPr/>
        </p:nvSpPr>
        <p:spPr>
          <a:xfrm>
            <a:off x="1066800" y="5210175"/>
            <a:ext cx="171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9EE4CB4-EB1D-47F4-AC16-61B870847CFD}"/>
              </a:ext>
            </a:extLst>
          </p:cNvPr>
          <p:cNvSpPr>
            <a:spLocks noGrp="1"/>
          </p:cNvSpPr>
          <p:nvPr/>
        </p:nvSpPr>
        <p:spPr>
          <a:xfrm>
            <a:off x="1428750" y="52006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seed・分割・指標・環境を記録する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3CCBEFC-63A1-4A10-B516-16434AAE366A}"/>
              </a:ext>
            </a:extLst>
          </p:cNvPr>
          <p:cNvSpPr>
            <a:spLocks noGrp="1"/>
          </p:cNvSpPr>
          <p:nvPr/>
        </p:nvSpPr>
        <p:spPr>
          <a:xfrm>
            <a:off x="6477000" y="1581150"/>
            <a:ext cx="4895850" cy="3429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2C06A7F-F3B6-4131-B124-AE669AE1F1B4}"/>
              </a:ext>
            </a:extLst>
          </p:cNvPr>
          <p:cNvSpPr>
            <a:spLocks noGrp="1"/>
          </p:cNvSpPr>
          <p:nvPr/>
        </p:nvSpPr>
        <p:spPr>
          <a:xfrm>
            <a:off x="6648450" y="1714500"/>
            <a:ext cx="455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避けること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2961F6B-F085-481D-8150-8AF3D6CD5C86}"/>
              </a:ext>
            </a:extLst>
          </p:cNvPr>
          <p:cNvSpPr>
            <a:spLocks noGrp="1"/>
          </p:cNvSpPr>
          <p:nvPr/>
        </p:nvSpPr>
        <p:spPr>
          <a:xfrm>
            <a:off x="6648450" y="1943100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よくあるミス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8186A19-FD4F-4116-9A8D-702D84723A32}"/>
              </a:ext>
            </a:extLst>
          </p:cNvPr>
          <p:cNvSpPr>
            <a:spLocks noGrp="1"/>
          </p:cNvSpPr>
          <p:nvPr/>
        </p:nvSpPr>
        <p:spPr>
          <a:xfrm>
            <a:off x="6819900" y="2571750"/>
            <a:ext cx="247650" cy="2476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D66CB09-7AA1-4DCE-8A3A-F8693F974254}"/>
              </a:ext>
            </a:extLst>
          </p:cNvPr>
          <p:cNvSpPr>
            <a:spLocks noGrp="1"/>
          </p:cNvSpPr>
          <p:nvPr/>
        </p:nvSpPr>
        <p:spPr>
          <a:xfrm>
            <a:off x="6858000" y="2552700"/>
            <a:ext cx="17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C752F9C-937B-4A29-8636-2E61B6C0E23A}"/>
              </a:ext>
            </a:extLst>
          </p:cNvPr>
          <p:cNvSpPr>
            <a:spLocks noGrp="1"/>
          </p:cNvSpPr>
          <p:nvPr/>
        </p:nvSpPr>
        <p:spPr>
          <a:xfrm>
            <a:off x="7219950" y="254317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全データでScalerをfitしてからCVする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1DC7491-C349-4BAF-8446-5EEA38688D2D}"/>
              </a:ext>
            </a:extLst>
          </p:cNvPr>
          <p:cNvSpPr>
            <a:spLocks noGrp="1"/>
          </p:cNvSpPr>
          <p:nvPr/>
        </p:nvSpPr>
        <p:spPr>
          <a:xfrm>
            <a:off x="6819900" y="3048000"/>
            <a:ext cx="247650" cy="2476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62AAD24-12FD-4A97-A15E-E0F59359BE3C}"/>
              </a:ext>
            </a:extLst>
          </p:cNvPr>
          <p:cNvSpPr>
            <a:spLocks noGrp="1"/>
          </p:cNvSpPr>
          <p:nvPr/>
        </p:nvSpPr>
        <p:spPr>
          <a:xfrm>
            <a:off x="6858000" y="3028950"/>
            <a:ext cx="17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C0C9B56-B938-4B64-8EB1-FC2ECE15A2DD}"/>
              </a:ext>
            </a:extLst>
          </p:cNvPr>
          <p:cNvSpPr>
            <a:spLocks noGrp="1"/>
          </p:cNvSpPr>
          <p:nvPr/>
        </p:nvSpPr>
        <p:spPr>
          <a:xfrm>
            <a:off x="7219950" y="301942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テストスコアを見ながら調整する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3957497-79F9-492D-9FD3-1DAF9215A62A}"/>
              </a:ext>
            </a:extLst>
          </p:cNvPr>
          <p:cNvSpPr>
            <a:spLocks noGrp="1"/>
          </p:cNvSpPr>
          <p:nvPr/>
        </p:nvSpPr>
        <p:spPr>
          <a:xfrm>
            <a:off x="6819900" y="3524250"/>
            <a:ext cx="247650" cy="2476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75D14B4-B898-4097-A53B-791A1FC06FE6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17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A445845-1D4A-4798-A34C-AEE0AD4CD56B}"/>
              </a:ext>
            </a:extLst>
          </p:cNvPr>
          <p:cNvSpPr>
            <a:spLocks noGrp="1"/>
          </p:cNvSpPr>
          <p:nvPr/>
        </p:nvSpPr>
        <p:spPr>
          <a:xfrm>
            <a:off x="7219950" y="349567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seedなしで結果を比較する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1A5687D-BE42-4863-B8A3-92B0DE28EE96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247650" cy="2476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2164A27-4027-4459-8860-C537048AFC04}"/>
              </a:ext>
            </a:extLst>
          </p:cNvPr>
          <p:cNvSpPr>
            <a:spLocks noGrp="1"/>
          </p:cNvSpPr>
          <p:nvPr/>
        </p:nvSpPr>
        <p:spPr>
          <a:xfrm>
            <a:off x="6858000" y="3981450"/>
            <a:ext cx="17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82D338C-615B-4CD2-9CBB-55727E3480EA}"/>
              </a:ext>
            </a:extLst>
          </p:cNvPr>
          <p:cNvSpPr>
            <a:spLocks noGrp="1"/>
          </p:cNvSpPr>
          <p:nvPr/>
        </p:nvSpPr>
        <p:spPr>
          <a:xfrm>
            <a:off x="7219950" y="397192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訓練スコアだけでモデルを選ぶ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BB58420-E891-480C-A5DC-A370BF7228B3}"/>
              </a:ext>
            </a:extLst>
          </p:cNvPr>
          <p:cNvSpPr>
            <a:spLocks noGrp="1"/>
          </p:cNvSpPr>
          <p:nvPr/>
        </p:nvSpPr>
        <p:spPr>
          <a:xfrm>
            <a:off x="6819900" y="4476750"/>
            <a:ext cx="247650" cy="2476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6F5366AF-5BDB-4DAD-A011-5AA5DEC4F5DA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17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6F6E400-61BD-4D25-9542-37B959A5C10F}"/>
              </a:ext>
            </a:extLst>
          </p:cNvPr>
          <p:cNvSpPr>
            <a:spLocks noGrp="1"/>
          </p:cNvSpPr>
          <p:nvPr/>
        </p:nvSpPr>
        <p:spPr>
          <a:xfrm>
            <a:off x="7219950" y="4448175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スコアが良すぎるのにリークを確認しない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5BAB914-2374-489A-85AD-EC3730D03CB5}"/>
              </a:ext>
            </a:extLst>
          </p:cNvPr>
          <p:cNvSpPr>
            <a:spLocks noGrp="1"/>
          </p:cNvSpPr>
          <p:nvPr/>
        </p:nvSpPr>
        <p:spPr>
          <a:xfrm>
            <a:off x="6477000" y="5219700"/>
            <a:ext cx="4895850" cy="5524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1F863F5A-BA99-409D-B93D-B03679E2A456}"/>
              </a:ext>
            </a:extLst>
          </p:cNvPr>
          <p:cNvSpPr>
            <a:spLocks noGrp="1"/>
          </p:cNvSpPr>
          <p:nvPr/>
        </p:nvSpPr>
        <p:spPr>
          <a:xfrm>
            <a:off x="6762750" y="5334000"/>
            <a:ext cx="432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結論: 非線形モデルは強い。だからこそ、評価設計を丁寧に。</a:t>
            </a:r>
          </a:p>
        </p:txBody>
      </p:sp>
    </p:spTree>
    <p:extLst>
      <p:ext uri="{BB962C8B-B14F-4D97-AF65-F5344CB8AC3E}">
        <p14:creationId xmlns:p14="http://schemas.microsoft.com/office/powerpoint/2010/main" val="13927200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Microsoft Macintosh PowerPoint</Application>
  <DocSecurity>0</DocSecurity>
  <PresentationFormat>ワイド画面</PresentationFormat>
  <Paragraphs>310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Hiragino Sans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Fujii Kazuma</cp:lastModifiedBy>
  <cp:revision>1</cp:revision>
  <dcterms:created xsi:type="dcterms:W3CDTF">2026-06-10T11:15:41Z</dcterms:created>
  <dcterms:modified xsi:type="dcterms:W3CDTF">2026-06-11T01:50:33Z</dcterms:modified>
</cp:coreProperties>
</file>