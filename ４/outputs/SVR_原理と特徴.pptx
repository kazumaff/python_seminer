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e5a746481804da2" /><Relationship Type="http://schemas.openxmlformats.org/officeDocument/2006/relationships/extended-properties" Target="/docProps/app.xml" Id="Rf9b3c4f46f4d48ce" /><Relationship Type="http://schemas.openxmlformats.org/officeDocument/2006/relationships/officeDocument" Target="/ppt/presentation.xml" Id="R02bf51d2a82048c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054041524fe4cf6"/>
  </p:sldMasterIdLst>
  <p:notesMasterIdLst>
    <p:notesMasterId xmlns:r="http://schemas.openxmlformats.org/officeDocument/2006/relationships" r:id="R6a93c24dbb9f4c25"/>
  </p:notesMasterIdLst>
  <p:sldIdLst>
    <p:sldId xmlns:r="http://schemas.openxmlformats.org/officeDocument/2006/relationships" id="256" r:id="Ra21c3211d4724b5f"/>
    <p:sldId xmlns:r="http://schemas.openxmlformats.org/officeDocument/2006/relationships" id="257" r:id="Rd3268028d6a1450b"/>
    <p:sldId xmlns:r="http://schemas.openxmlformats.org/officeDocument/2006/relationships" id="258" r:id="R0bc8dc5298b3461b"/>
    <p:sldId xmlns:r="http://schemas.openxmlformats.org/officeDocument/2006/relationships" id="259" r:id="Rb6f20fd731c54a9c"/>
    <p:sldId xmlns:r="http://schemas.openxmlformats.org/officeDocument/2006/relationships" id="260" r:id="R1fcf55082d584c0c"/>
    <p:sldId xmlns:r="http://schemas.openxmlformats.org/officeDocument/2006/relationships" id="261" r:id="R533c9e6c212c46e0"/>
    <p:sldId xmlns:r="http://schemas.openxmlformats.org/officeDocument/2006/relationships" id="262" r:id="R07c0cf48560c4876"/>
    <p:sldId xmlns:r="http://schemas.openxmlformats.org/officeDocument/2006/relationships" id="263" r:id="R4886f41dafd1414a"/>
    <p:sldId xmlns:r="http://schemas.openxmlformats.org/officeDocument/2006/relationships" id="264" r:id="R103bdb70852e4e77"/>
    <p:sldId xmlns:r="http://schemas.openxmlformats.org/officeDocument/2006/relationships" id="265" r:id="Rfb080eccfa8441cc"/>
    <p:sldId xmlns:r="http://schemas.openxmlformats.org/officeDocument/2006/relationships" id="266" r:id="Rb513bb4c95704c76"/>
    <p:sldId xmlns:r="http://schemas.openxmlformats.org/officeDocument/2006/relationships" id="267" r:id="Rb39be1aa183e4a9b"/>
    <p:sldId xmlns:r="http://schemas.openxmlformats.org/officeDocument/2006/relationships" id="268" r:id="Rf1d41c80a02044e7"/>
    <p:sldId xmlns:r="http://schemas.openxmlformats.org/officeDocument/2006/relationships" id="269" r:id="R19a6e2a60e5c4a24"/>
    <p:sldId xmlns:r="http://schemas.openxmlformats.org/officeDocument/2006/relationships" id="270" r:id="Rb450095abac04e47"/>
    <p:sldId xmlns:r="http://schemas.openxmlformats.org/officeDocument/2006/relationships" id="271" r:id="Ra01ab2e92a2442c5"/>
    <p:sldId xmlns:r="http://schemas.openxmlformats.org/officeDocument/2006/relationships" id="272" r:id="R344a601d5b154443"/>
    <p:sldId xmlns:r="http://schemas.openxmlformats.org/officeDocument/2006/relationships" id="273" r:id="Rd64293774f764e00"/>
    <p:sldId xmlns:r="http://schemas.openxmlformats.org/officeDocument/2006/relationships" id="274" r:id="R64e76850acf44de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b800b6c94bf481c" /><Relationship Type="http://schemas.openxmlformats.org/officeDocument/2006/relationships/slideMaster" Target="/ppt/slideMasters/slideMaster1.xml" Id="R0054041524fe4cf6" /><Relationship Type="http://schemas.openxmlformats.org/officeDocument/2006/relationships/notesMaster" Target="/ppt/notesMasters/notesMaster1.xml" Id="R6a93c24dbb9f4c25" /><Relationship Type="http://schemas.openxmlformats.org/officeDocument/2006/relationships/presProps" Target="/ppt/presProps.xml" Id="Rc817aac3a269429f" /><Relationship Type="http://schemas.openxmlformats.org/officeDocument/2006/relationships/tableStyles" Target="/ppt/tableStyles.xml" Id="R679bd555a7414d1d" /><Relationship Type="http://schemas.openxmlformats.org/officeDocument/2006/relationships/slide" Target="/ppt/slides/slide1.xml" Id="Ra21c3211d4724b5f" /><Relationship Type="http://schemas.openxmlformats.org/officeDocument/2006/relationships/slide" Target="/ppt/slides/slide2.xml" Id="Rd3268028d6a1450b" /><Relationship Type="http://schemas.openxmlformats.org/officeDocument/2006/relationships/slide" Target="/ppt/slides/slide3.xml" Id="R0bc8dc5298b3461b" /><Relationship Type="http://schemas.openxmlformats.org/officeDocument/2006/relationships/slide" Target="/ppt/slides/slide4.xml" Id="Rb6f20fd731c54a9c" /><Relationship Type="http://schemas.openxmlformats.org/officeDocument/2006/relationships/slide" Target="/ppt/slides/slide5.xml" Id="R1fcf55082d584c0c" /><Relationship Type="http://schemas.openxmlformats.org/officeDocument/2006/relationships/slide" Target="/ppt/slides/slide6.xml" Id="R533c9e6c212c46e0" /><Relationship Type="http://schemas.openxmlformats.org/officeDocument/2006/relationships/slide" Target="/ppt/slides/slide7.xml" Id="R07c0cf48560c4876" /><Relationship Type="http://schemas.openxmlformats.org/officeDocument/2006/relationships/slide" Target="/ppt/slides/slide8.xml" Id="R4886f41dafd1414a" /><Relationship Type="http://schemas.openxmlformats.org/officeDocument/2006/relationships/slide" Target="/ppt/slides/slide9.xml" Id="R103bdb70852e4e77" /><Relationship Type="http://schemas.openxmlformats.org/officeDocument/2006/relationships/slide" Target="/ppt/slides/slide10.xml" Id="Rfb080eccfa8441cc" /><Relationship Type="http://schemas.openxmlformats.org/officeDocument/2006/relationships/slide" Target="/ppt/slides/slide11.xml" Id="Rb513bb4c95704c76" /><Relationship Type="http://schemas.openxmlformats.org/officeDocument/2006/relationships/slide" Target="/ppt/slides/slide12.xml" Id="Rb39be1aa183e4a9b" /><Relationship Type="http://schemas.openxmlformats.org/officeDocument/2006/relationships/slide" Target="/ppt/slides/slide13.xml" Id="Rf1d41c80a02044e7" /><Relationship Type="http://schemas.openxmlformats.org/officeDocument/2006/relationships/slide" Target="/ppt/slides/slide14.xml" Id="R19a6e2a60e5c4a24" /><Relationship Type="http://schemas.openxmlformats.org/officeDocument/2006/relationships/slide" Target="/ppt/slides/slide15.xml" Id="Rb450095abac04e47" /><Relationship Type="http://schemas.openxmlformats.org/officeDocument/2006/relationships/slide" Target="/ppt/slides/slide16.xml" Id="Ra01ab2e92a2442c5" /><Relationship Type="http://schemas.openxmlformats.org/officeDocument/2006/relationships/slide" Target="/ppt/slides/slide17.xml" Id="R344a601d5b154443" /><Relationship Type="http://schemas.openxmlformats.org/officeDocument/2006/relationships/slide" Target="/ppt/slides/slide18.xml" Id="Rd64293774f764e00" /><Relationship Type="http://schemas.openxmlformats.org/officeDocument/2006/relationships/slide" Target="/ppt/slides/slide19.xml" Id="R64e76850acf44de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129711b25454ab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2685f32601a4961" /><Relationship Type="http://schemas.openxmlformats.org/officeDocument/2006/relationships/notesMaster" Target="/ppt/notesMasters/notesMaster1.xml" Id="R6e1c618ed39349a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e479dc5eca0487b" /><Relationship Type="http://schemas.openxmlformats.org/officeDocument/2006/relationships/notesMaster" Target="/ppt/notesMasters/notesMaster1.xml" Id="Rabcd08163567486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665978ad1df4961" /><Relationship Type="http://schemas.openxmlformats.org/officeDocument/2006/relationships/notesMaster" Target="/ppt/notesMasters/notesMaster1.xml" Id="R3e3aa1bd283c464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5d59b2bc72e4ed2" /><Relationship Type="http://schemas.openxmlformats.org/officeDocument/2006/relationships/notesMaster" Target="/ppt/notesMasters/notesMaster1.xml" Id="Ra2ec10c442ca408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ee1e8e620e04f5f" /><Relationship Type="http://schemas.openxmlformats.org/officeDocument/2006/relationships/notesMaster" Target="/ppt/notesMasters/notesMaster1.xml" Id="R801d1fd4b53741c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73c3973ffbe4239" /><Relationship Type="http://schemas.openxmlformats.org/officeDocument/2006/relationships/notesMaster" Target="/ppt/notesMasters/notesMaster1.xml" Id="R1d8c77e03b254cf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f392399e8d049db" /><Relationship Type="http://schemas.openxmlformats.org/officeDocument/2006/relationships/notesMaster" Target="/ppt/notesMasters/notesMaster1.xml" Id="R2c951150dea3410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d09464b31284b0d" /><Relationship Type="http://schemas.openxmlformats.org/officeDocument/2006/relationships/notesMaster" Target="/ppt/notesMasters/notesMaster1.xml" Id="R293f3d1f2a59428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85f689f32144b24" /><Relationship Type="http://schemas.openxmlformats.org/officeDocument/2006/relationships/notesMaster" Target="/ppt/notesMasters/notesMaster1.xml" Id="Rdcc53e031da2454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e79b8ae67104329" /><Relationship Type="http://schemas.openxmlformats.org/officeDocument/2006/relationships/notesMaster" Target="/ppt/notesMasters/notesMaster1.xml" Id="R9ec0a6f6c3b1458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79f3fb23dd64849" /><Relationship Type="http://schemas.openxmlformats.org/officeDocument/2006/relationships/notesMaster" Target="/ppt/notesMasters/notesMaster1.xml" Id="R558fd292549841a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3b591e03f4b4b30" /><Relationship Type="http://schemas.openxmlformats.org/officeDocument/2006/relationships/notesMaster" Target="/ppt/notesMasters/notesMaster1.xml" Id="Rb29a2386ae8740e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989b89e5ca343a8" /><Relationship Type="http://schemas.openxmlformats.org/officeDocument/2006/relationships/notesMaster" Target="/ppt/notesMasters/notesMaster1.xml" Id="R38e73eb4c721478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13ac54acd314082" /><Relationship Type="http://schemas.openxmlformats.org/officeDocument/2006/relationships/notesMaster" Target="/ppt/notesMasters/notesMaster1.xml" Id="R0671571832f5446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336034b06324f6d" /><Relationship Type="http://schemas.openxmlformats.org/officeDocument/2006/relationships/notesMaster" Target="/ppt/notesMasters/notesMaster1.xml" Id="Rf49fd63e8809458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867dc2dda77491c" /><Relationship Type="http://schemas.openxmlformats.org/officeDocument/2006/relationships/notesMaster" Target="/ppt/notesMasters/notesMaster1.xml" Id="Rcab8e1270143435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1eb5365c79243b3" /><Relationship Type="http://schemas.openxmlformats.org/officeDocument/2006/relationships/notesMaster" Target="/ppt/notesMasters/notesMaster1.xml" Id="R858e0fff0d75468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93dbb1800134f70" /><Relationship Type="http://schemas.openxmlformats.org/officeDocument/2006/relationships/notesMaster" Target="/ppt/notesMasters/notesMaster1.xml" Id="R8b9385b814f0450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2b94d6172844602" /><Relationship Type="http://schemas.openxmlformats.org/officeDocument/2006/relationships/notesMaster" Target="/ppt/notesMasters/notesMaster1.xml" Id="Rc015d8f77ef642e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eb7b186cd7435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1376f5ab4b04f1f" /><Relationship Type="http://schemas.openxmlformats.org/officeDocument/2006/relationships/slideLayout" Target="/ppt/slideLayouts/slideLayout1.xml" Id="R5abcac4f3fbb410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abcac4f3fbb410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20e5b188da456b" /><Relationship Type="http://schemas.openxmlformats.org/officeDocument/2006/relationships/notesSlide" Target="/ppt/notesSlides/notesSlide1.xml" Id="Ra1bbd74a02ea4ce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7405c27abf48e8" /><Relationship Type="http://schemas.openxmlformats.org/officeDocument/2006/relationships/notesSlide" Target="/ppt/notesSlides/notesSlide2.xml" Id="Rd559badf306f4e4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4813b2ca74419b" /><Relationship Type="http://schemas.openxmlformats.org/officeDocument/2006/relationships/notesSlide" Target="/ppt/notesSlides/notesSlide3.xml" Id="R47c4847eff31446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bc2ef0753546ab" /><Relationship Type="http://schemas.openxmlformats.org/officeDocument/2006/relationships/notesSlide" Target="/ppt/notesSlides/notesSlide4.xml" Id="R1437bd82dbe64da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6eb2d883154315" /><Relationship Type="http://schemas.openxmlformats.org/officeDocument/2006/relationships/notesSlide" Target="/ppt/notesSlides/notesSlide5.xml" Id="R4bb22cf5ffba404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5ef469ab3f49ba" /><Relationship Type="http://schemas.openxmlformats.org/officeDocument/2006/relationships/notesSlide" Target="/ppt/notesSlides/notesSlide6.xml" Id="Rf047c6d418274af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8013b464744429" /><Relationship Type="http://schemas.openxmlformats.org/officeDocument/2006/relationships/notesSlide" Target="/ppt/notesSlides/notesSlide7.xml" Id="Rb6f1e1e3047143f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0f8f66c2bd47b5" /><Relationship Type="http://schemas.openxmlformats.org/officeDocument/2006/relationships/notesSlide" Target="/ppt/notesSlides/notesSlide8.xml" Id="R66db4f628c09494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91d0eea1db4e8c" /><Relationship Type="http://schemas.openxmlformats.org/officeDocument/2006/relationships/notesSlide" Target="/ppt/notesSlides/notesSlide9.xml" Id="R8f4ced7143204cf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0ba416a1a3480c" /><Relationship Type="http://schemas.openxmlformats.org/officeDocument/2006/relationships/notesSlide" Target="/ppt/notesSlides/notesSlide10.xml" Id="R8c984cb325b740e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5e503191fa41a8" /><Relationship Type="http://schemas.openxmlformats.org/officeDocument/2006/relationships/notesSlide" Target="/ppt/notesSlides/notesSlide11.xml" Id="R5c69de3622164ac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411d38c6a340ff" /><Relationship Type="http://schemas.openxmlformats.org/officeDocument/2006/relationships/notesSlide" Target="/ppt/notesSlides/notesSlide12.xml" Id="Rc53388078a3b4fb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96569a25ae4e93" /><Relationship Type="http://schemas.openxmlformats.org/officeDocument/2006/relationships/notesSlide" Target="/ppt/notesSlides/notesSlide13.xml" Id="Rd4cab2fd0b164dd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cde91d79844f12" /><Relationship Type="http://schemas.openxmlformats.org/officeDocument/2006/relationships/notesSlide" Target="/ppt/notesSlides/notesSlide14.xml" Id="R3db0bb00509e44e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0934a9c89f43a0" /><Relationship Type="http://schemas.openxmlformats.org/officeDocument/2006/relationships/notesSlide" Target="/ppt/notesSlides/notesSlide15.xml" Id="R49d20d9836b4491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801b8d3a054e08" /><Relationship Type="http://schemas.openxmlformats.org/officeDocument/2006/relationships/notesSlide" Target="/ppt/notesSlides/notesSlide16.xml" Id="R4c95d376d54d4da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80a381c90f4a82" /><Relationship Type="http://schemas.openxmlformats.org/officeDocument/2006/relationships/notesSlide" Target="/ppt/notesSlides/notesSlide17.xml" Id="R4c0bc2724a1c4e7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770c3c89c14d1a" /><Relationship Type="http://schemas.openxmlformats.org/officeDocument/2006/relationships/notesSlide" Target="/ppt/notesSlides/notesSlide18.xml" Id="Rb2cbd9f8b13a404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d7349aeedb42a9" /><Relationship Type="http://schemas.openxmlformats.org/officeDocument/2006/relationships/notesSlide" Target="/ppt/notesSlides/notesSlide19.xml" Id="R4703e66a224c49a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F828866-EFFA-4B32-8A9B-E38B6D0F5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00250"/>
            <a:ext cx="1009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9782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300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SVR（Support Vector Regression）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6B79BA-80D3-454A-821B-306E0E7DF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2415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55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2550" b="1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原理と特徴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106B95-6D3D-40FA-80CB-91A628C9B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1950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563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65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Pythonセミナー 第4回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601248-2CD1-4DE6-99D9-EA544A4BC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25"/>
          </a:xfrm>
          <a:custGeom xmlns:a="http://schemas.openxmlformats.org/drawingml/2006/main"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792E55-B8A8-4546-AC1D-3B8699511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825" b="0">
                <a:solidFill>
                  <a:srgbClr val="666666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SVRの原理と特徴  |  1/19</a:t>
            </a:r>
          </a:p>
        </p:txBody>
      </p:sp>
    </p:spTree>
    <p:extLst>
      <p:ext uri="{BB962C8B-B14F-4D97-AF65-F5344CB8AC3E}">
        <p14:creationId xmlns:p14="http://schemas.microsoft.com/office/powerpoint/2010/main" val="18639082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2ED6EDF-C57B-4166-B646-DF2DCDC4F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5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1. SVRをひとことで言うと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B5C901-1FCA-4B33-88D7-FF09DA2F6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9525"/>
          </a:xfrm>
          <a:custGeom xmlns:a="http://schemas.openxmlformats.org/drawingml/2006/main"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99999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D7DCA1-ECB7-4444-AAEC-FE2731EBA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85875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10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SVRは「少しくらいのズレは気にしない幅」を持たせながら、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210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なるべくシンプルな線や曲線で数値を予測する回帰モデルです。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E8FC2E-B2F8-4E41-91D2-57F1CA747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333750"/>
            <a:ext cx="2762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小さな誤差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80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→ 無視してよい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0E993F-89BE-4006-B0D1-56187DFA3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333750"/>
            <a:ext cx="2762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大きな誤差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80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→ ペナルティ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CD37CC-FDC2-420E-B836-68F42E3E8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333750"/>
            <a:ext cx="2762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全体として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80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なめらかに予測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1DA0E6-21A1-474E-A41A-39D09C12B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25"/>
          </a:xfrm>
          <a:custGeom xmlns:a="http://schemas.openxmlformats.org/drawingml/2006/main"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ACB4BC-E9D9-4D63-B457-A25A05B8B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825" b="0">
                <a:solidFill>
                  <a:srgbClr val="666666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SVRの原理と特徴  |  2/19</a:t>
            </a:r>
          </a:p>
        </p:txBody>
      </p:sp>
    </p:spTree>
    <p:extLst>
      <p:ext uri="{BB962C8B-B14F-4D97-AF65-F5344CB8AC3E}">
        <p14:creationId xmlns:p14="http://schemas.microsoft.com/office/powerpoint/2010/main" val="154246501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FB87D4A-4CB9-4D3C-9F5D-09C884304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5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2. 普通の回帰とSVRの違い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A3A1F5-79CF-4F72-BC30-F1FBBC5B0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9525"/>
          </a:xfrm>
          <a:custGeom xmlns:a="http://schemas.openxmlformats.org/drawingml/2006/main"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99999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36D680-0313-4B88-9339-062F85231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2382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7536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875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普通の回帰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FDC27B-C0BC-415C-BBDB-4EFC83FF7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286250"/>
            <a:ext cx="3429000" cy="9525"/>
          </a:xfrm>
          <a:custGeom xmlns:a="http://schemas.openxmlformats.org/drawingml/2006/main">
            <a:pathLst>
              <a:path w="3429000" h="9525">
                <a:moveTo>
                  <a:pt x="0" y="0"/>
                </a:moveTo>
                <a:lnTo>
                  <a:pt x="3429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4C7336-1120-465D-8B69-AA3620A7F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952625"/>
            <a:ext cx="9525" cy="2333625"/>
          </a:xfrm>
          <a:custGeom xmlns:a="http://schemas.openxmlformats.org/drawingml/2006/main">
            <a:pathLst>
              <a:path w="9525" h="2333625">
                <a:moveTo>
                  <a:pt x="0" y="23336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9E7502-A837-4E67-8B77-1E9B40A1B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417195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724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5C5DB0-823F-4800-BFB5-14862D447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724025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724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9E7B2F-C0D2-4C23-B44D-D6E82BDD7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476500"/>
            <a:ext cx="2762250" cy="1409700"/>
          </a:xfrm>
          <a:custGeom xmlns:a="http://schemas.openxmlformats.org/drawingml/2006/main">
            <a:pathLst>
              <a:path w="2762250" h="1409700">
                <a:moveTo>
                  <a:pt x="0" y="1409700"/>
                </a:moveTo>
                <a:lnTo>
                  <a:pt x="2762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027F1C-744D-41C9-8B61-395A43ED1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5028" y="35433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970F9B-7576-4A39-A850-A695B7AA7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5088" y="3216593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71A16D-EC08-4B6A-8D83-0CFB8AAD0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5148" y="288988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BE1992-CD21-44F7-A794-A2783E4AF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3788" y="2726531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274EBB-2B29-492C-B12F-3788BEDE6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008" y="242316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41866C-AFB7-4ECA-B00D-A4FBC83B1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86300"/>
            <a:ext cx="381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9420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0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すべての点のズレを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50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なるべく小さくする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FBE2EF-0CB4-4520-8553-18A54301E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23825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7536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875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SVR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A47FA6-676E-4D96-8446-E13A353D7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286250"/>
            <a:ext cx="3429000" cy="9525"/>
          </a:xfrm>
          <a:custGeom xmlns:a="http://schemas.openxmlformats.org/drawingml/2006/main">
            <a:pathLst>
              <a:path w="3429000" h="9525">
                <a:moveTo>
                  <a:pt x="0" y="0"/>
                </a:moveTo>
                <a:lnTo>
                  <a:pt x="3429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35471A-BA4C-4AFB-B18B-C8F3E655C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52625"/>
            <a:ext cx="9525" cy="2333625"/>
          </a:xfrm>
          <a:custGeom xmlns:a="http://schemas.openxmlformats.org/drawingml/2006/main">
            <a:pathLst>
              <a:path w="9525" h="2333625">
                <a:moveTo>
                  <a:pt x="0" y="233362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F6300F-2D6F-4690-9C0C-6417F6BE7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417195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724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x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BD539E-C64A-4E74-8073-82840A47A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724025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724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0649EC-D8E6-485B-830F-5822417DF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286000"/>
            <a:ext cx="2762250" cy="1571625"/>
          </a:xfrm>
          <a:custGeom xmlns:a="http://schemas.openxmlformats.org/drawingml/2006/main">
            <a:pathLst>
              <a:path w="2762250" h="1571625">
                <a:moveTo>
                  <a:pt x="0" y="1571625"/>
                </a:moveTo>
                <a:lnTo>
                  <a:pt x="2762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21AB1B-B938-4D9C-B307-889F5143F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1924050"/>
            <a:ext cx="2762250" cy="1571625"/>
          </a:xfrm>
          <a:custGeom xmlns:a="http://schemas.openxmlformats.org/drawingml/2006/main">
            <a:pathLst>
              <a:path w="2762250" h="1571625">
                <a:moveTo>
                  <a:pt x="0" y="1571625"/>
                </a:moveTo>
                <a:lnTo>
                  <a:pt x="2762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  <a:prstDash val="dash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B0DC5E-96EA-4413-991A-DAA75567E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647950"/>
            <a:ext cx="2762250" cy="1571625"/>
          </a:xfrm>
          <a:custGeom xmlns:a="http://schemas.openxmlformats.org/drawingml/2006/main">
            <a:pathLst>
              <a:path w="2762250" h="1571625">
                <a:moveTo>
                  <a:pt x="0" y="1571625"/>
                </a:moveTo>
                <a:lnTo>
                  <a:pt x="2762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  <a:prstDash val="dash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77CDD9-AF4F-44C9-8E47-1E1B3DE98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358521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D6D51C-1926-4D9A-98A0-0D3F12E2C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1495" y="325850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DB33F4-9298-4DE4-B526-7A4972E64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1555" y="3048476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1981EFC-672A-47CE-B6AE-D94569FA9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679383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363D1B7-D9A1-4F7E-8480-F70796C6B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3095" y="2908459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01033EE-7673-4A2F-8E4D-709EC2106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2685" y="2306003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22AFB54-F94F-446C-9044-D07C0710F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5431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152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666666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εチューブ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8051EBB-ED41-4BF8-82AA-8C59E875E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53377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152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予測関数 f(x)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BD1D640-8DFA-453A-9A14-6866F73A6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686300"/>
            <a:ext cx="400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9420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0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許容幅の中なら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50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細かく気にしない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A5EC552-10AD-4837-9C73-65CD3356D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25"/>
          </a:xfrm>
          <a:custGeom xmlns:a="http://schemas.openxmlformats.org/drawingml/2006/main"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A8F5E3A-F066-4D2F-8148-2CA60D53C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825" b="0">
                <a:solidFill>
                  <a:srgbClr val="666666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SVRの原理と特徴  |  3/19</a:t>
            </a:r>
          </a:p>
        </p:txBody>
      </p:sp>
    </p:spTree>
    <p:extLst>
      <p:ext uri="{BB962C8B-B14F-4D97-AF65-F5344CB8AC3E}">
        <p14:creationId xmlns:p14="http://schemas.microsoft.com/office/powerpoint/2010/main" val="43366357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7D6CDE1-FC31-4C52-87C7-433D507A5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5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3. SVRの中心アイデア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93879C-8237-471E-ADA9-0222F992A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9525"/>
          </a:xfrm>
          <a:custGeom xmlns:a="http://schemas.openxmlformats.org/drawingml/2006/main"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99999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74EB58-EC46-4400-B6FA-714185697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524000"/>
            <a:ext cx="29527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εチューブ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65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小さな誤差を無視する幅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73570C-141A-4918-95E3-C574C2E55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524000"/>
            <a:ext cx="29527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サポートベクトル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65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モデルを決める重要な点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BB6C4D-207B-4373-A8C5-333C72E33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524000"/>
            <a:ext cx="295275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カーネル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65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曲線的な関係を扱う仕組み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8AD547-22DB-4B9E-81B1-869A5BEF8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095750"/>
            <a:ext cx="186309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データ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007B1C-6DE3-4B0D-9258-1EF279260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7990" y="4276725"/>
            <a:ext cx="24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6366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65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6EAC63-7252-4954-89B7-75C91E7E8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9915" y="4095750"/>
            <a:ext cx="186309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標準化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4D1480-DA6B-4B0C-9507-34F3B7757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2530" y="4276725"/>
            <a:ext cx="24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6366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65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12A7E3-4E56-43CE-8988-1C96DE08B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4455" y="4095750"/>
            <a:ext cx="186309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εを決める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6EEAC1-8F8D-4D4D-9C0A-B39389017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7070" y="4276725"/>
            <a:ext cx="24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6366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65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E5333F-E490-40FF-BA33-AFA7315EE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8995" y="4095750"/>
            <a:ext cx="186309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モデル学習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187D9C-148C-4DC2-BD89-23BEA83F4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1610" y="4276725"/>
            <a:ext cx="24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6366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65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D5BEFF-F5BF-40E7-B5C0-7EABBEB36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3535" y="4095750"/>
            <a:ext cx="186309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予測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70D9E0-C759-4B0A-8509-C8FCE90F6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25"/>
          </a:xfrm>
          <a:custGeom xmlns:a="http://schemas.openxmlformats.org/drawingml/2006/main"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82F6A7-4E2F-43F3-8933-D65A56D53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825" b="0">
                <a:solidFill>
                  <a:srgbClr val="666666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SVRの原理と特徴  |  4/19</a:t>
            </a:r>
          </a:p>
        </p:txBody>
      </p:sp>
    </p:spTree>
    <p:extLst>
      <p:ext uri="{BB962C8B-B14F-4D97-AF65-F5344CB8AC3E}">
        <p14:creationId xmlns:p14="http://schemas.microsoft.com/office/powerpoint/2010/main" val="202444606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20A7FAC-2445-43C7-AF52-CEC51F2EE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5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4. εチューブとは何か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6746D4-72D6-42CB-90B6-3A837B80F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9525"/>
          </a:xfrm>
          <a:custGeom xmlns:a="http://schemas.openxmlformats.org/drawingml/2006/main"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99999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AA1155-8E72-42CF-99FB-26870BD2B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10125"/>
            <a:ext cx="5905500" cy="9525"/>
          </a:xfrm>
          <a:custGeom xmlns:a="http://schemas.openxmlformats.org/drawingml/2006/main">
            <a:pathLst>
              <a:path w="5905500" h="9525">
                <a:moveTo>
                  <a:pt x="0" y="0"/>
                </a:moveTo>
                <a:lnTo>
                  <a:pt x="5905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20B666-CC35-4E03-B323-449755CB4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381125"/>
            <a:ext cx="9525" cy="3429000"/>
          </a:xfrm>
          <a:custGeom xmlns:a="http://schemas.openxmlformats.org/drawingml/2006/main">
            <a:pathLst>
              <a:path w="9525" h="3429000">
                <a:moveTo>
                  <a:pt x="0" y="34290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9F45EE-5606-4ACA-8CFC-591519D0A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695825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724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8F7F60-3018-496E-B4E0-F067BA686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152525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724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19E1E4-D04C-4549-8FAD-04F080FB9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809875"/>
            <a:ext cx="5238750" cy="1571625"/>
          </a:xfrm>
          <a:custGeom xmlns:a="http://schemas.openxmlformats.org/drawingml/2006/main">
            <a:pathLst>
              <a:path w="5238750" h="1571625">
                <a:moveTo>
                  <a:pt x="0" y="1571625"/>
                </a:moveTo>
                <a:lnTo>
                  <a:pt x="5238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BEC62C-2D85-481B-A62E-513C7E540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447925"/>
            <a:ext cx="5238750" cy="1571625"/>
          </a:xfrm>
          <a:custGeom xmlns:a="http://schemas.openxmlformats.org/drawingml/2006/main">
            <a:pathLst>
              <a:path w="5238750" h="1571625">
                <a:moveTo>
                  <a:pt x="0" y="1571625"/>
                </a:moveTo>
                <a:lnTo>
                  <a:pt x="5238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  <a:prstDash val="dash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1EBFB9-5162-4438-9AE1-CC354D6A6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171825"/>
            <a:ext cx="5238750" cy="1571625"/>
          </a:xfrm>
          <a:custGeom xmlns:a="http://schemas.openxmlformats.org/drawingml/2006/main">
            <a:pathLst>
              <a:path w="5238750" h="1571625">
                <a:moveTo>
                  <a:pt x="0" y="1571625"/>
                </a:moveTo>
                <a:lnTo>
                  <a:pt x="5238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  <a:prstDash val="dash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328213-F4CE-4BD1-97FB-E93B3D545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80238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221308-14AB-4F58-B911-E2CEB1D70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3665" y="332232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21EE44-22BB-4A09-BD9A-DB8E68AC0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0435" y="301371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A6D384-030F-485F-8EBF-8E1F57F92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48031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95EA88-B386-489C-B304-584D04CEE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5865" y="280797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949E62-3339-4DE9-A7AC-89E4C85F6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1695" y="193167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042B61-5486-4326-A022-02174F5D1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9716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152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666666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εチューブ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D817E9-2B35-4044-8326-948ECB979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962275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152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予測関数 f(x)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4381F9-C7A4-4641-B98B-307E7A82B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524000"/>
            <a:ext cx="3524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72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・予測線の上下に幅 ε の許容範囲を作る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72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・チューブ内の点は「十分当たっている」とみなす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72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・チューブ外の点だけ、はみ出した分を問題にする</a:t>
            </a:r>
          </a:p>
        </p:txBody>
      </p:sp>
      <p:graphicFrame>
        <p:nvGraphicFramePr>
          <p:cNvPr id="40" name=""/>
          <p:cNvGraphicFramePr/>
          <p:nvPr/>
        </p:nvGraphicFramePr>
        <p:xfrm>
          <a:off xmlns:a="http://schemas.openxmlformats.org/drawingml/2006/main" x="7572375" y="4286250"/>
          <a:ext xmlns:a="http://schemas.openxmlformats.org/drawingml/2006/main" cx="3333750" cy="1143000"/>
        </p:xfrm>
        <a:graphic xmlns:a="http://schemas.openxmlformats.org/drawingml/2006/main">
          <a:graphicData uri="http://schemas.openxmlformats.org/drawingml/2006/table">
            <a:tbl>
              <a:tblPr firstRow="0" bandRow="0" bandCol="0"/>
              <a:tblGrid>
                <a:gridCol w="1666875"/>
                <a:gridCol w="1666875"/>
              </a:tblGrid>
              <a:tr h="3810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Yu Gothic"/>
                          <a:ea typeface="Yu Gothic"/>
                          <a:cs typeface="Yu Gothic"/>
                        </a:rPr>
                        <a:t>誤差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Yu Gothic"/>
                          <a:ea typeface="Yu Gothic"/>
                          <a:cs typeface="Yu Gothic"/>
                        </a:rPr>
                        <a:t>扱い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Yu Gothic"/>
                          <a:ea typeface="Yu Gothic"/>
                          <a:cs typeface="Yu Gothic"/>
                        </a:rPr>
                        <a:t>ε以内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Yu Gothic"/>
                          <a:ea typeface="Yu Gothic"/>
                          <a:cs typeface="Yu Gothic"/>
                        </a:rPr>
                        <a:t>損失0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Yu Gothic"/>
                          <a:ea typeface="Yu Gothic"/>
                          <a:cs typeface="Yu Gothic"/>
                        </a:rPr>
                        <a:t>εを超える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Yu Gothic"/>
                          <a:ea typeface="Yu Gothic"/>
                          <a:cs typeface="Yu Gothic"/>
                        </a:rPr>
                        <a:t>超えた分だけ損失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0F7007-46E1-45BB-BE20-16A9FC1C6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25"/>
          </a:xfrm>
          <a:custGeom xmlns:a="http://schemas.openxmlformats.org/drawingml/2006/main"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367118-2A78-4AEE-8DF5-48022CDDA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825" b="0">
                <a:solidFill>
                  <a:srgbClr val="666666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SVRの原理と特徴  |  5/19</a:t>
            </a:r>
          </a:p>
        </p:txBody>
      </p:sp>
    </p:spTree>
    <p:extLst>
      <p:ext uri="{BB962C8B-B14F-4D97-AF65-F5344CB8AC3E}">
        <p14:creationId xmlns:p14="http://schemas.microsoft.com/office/powerpoint/2010/main" val="188545820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454B121-EADB-421F-A462-DADE830E4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5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5. ε-insensitive loss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86925A-7349-4CA5-AC5A-D7DF8455E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9525"/>
          </a:xfrm>
          <a:custGeom xmlns:a="http://schemas.openxmlformats.org/drawingml/2006/main"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99999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E15F04-752C-437F-AA10-3A39CAE81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572000"/>
            <a:ext cx="5143500" cy="9525"/>
          </a:xfrm>
          <a:custGeom xmlns:a="http://schemas.openxmlformats.org/drawingml/2006/main">
            <a:pathLst>
              <a:path w="5143500" h="9525">
                <a:moveTo>
                  <a:pt x="0" y="0"/>
                </a:moveTo>
                <a:lnTo>
                  <a:pt x="5143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9E2CA9-BBE2-41B4-9BE3-EA4BCABAE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524000"/>
            <a:ext cx="9525" cy="3048000"/>
          </a:xfrm>
          <a:custGeom xmlns:a="http://schemas.openxmlformats.org/drawingml/2006/main">
            <a:pathLst>
              <a:path w="9525" h="3048000">
                <a:moveTo>
                  <a:pt x="0" y="304800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606080-FC65-4DE3-BCB3-6B981C4AF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5770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724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703F47-8D39-42B1-A4F4-278662C21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29540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724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783F88-67DB-41BC-BC64-F44C2ACF6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714750"/>
            <a:ext cx="1809750" cy="9525"/>
          </a:xfrm>
          <a:custGeom xmlns:a="http://schemas.openxmlformats.org/drawingml/2006/main">
            <a:pathLst>
              <a:path w="1809750" h="9525">
                <a:moveTo>
                  <a:pt x="0" y="0"/>
                </a:moveTo>
                <a:lnTo>
                  <a:pt x="1809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991DD1-9543-414A-BAA2-D7B207123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714750"/>
            <a:ext cx="809625" cy="904875"/>
          </a:xfrm>
          <a:custGeom xmlns:a="http://schemas.openxmlformats.org/drawingml/2006/main">
            <a:pathLst>
              <a:path w="809625" h="904875">
                <a:moveTo>
                  <a:pt x="809625" y="0"/>
                </a:moveTo>
                <a:lnTo>
                  <a:pt x="0" y="9048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93AF59-1BC8-4127-A5C1-F09FCEA8E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809875"/>
            <a:ext cx="809625" cy="904875"/>
          </a:xfrm>
          <a:custGeom xmlns:a="http://schemas.openxmlformats.org/drawingml/2006/main">
            <a:pathLst>
              <a:path w="809625" h="904875">
                <a:moveTo>
                  <a:pt x="0" y="904875"/>
                </a:moveTo>
                <a:lnTo>
                  <a:pt x="809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291AF6-588C-48EC-B8DF-5F9FBA8AA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8290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6763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-ε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A31FE4-B886-428A-A168-04A02CED9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829050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6763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1125" b="0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70C4F2-D2B4-49E5-8029-89D4C5A98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37185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152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20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この範囲は損失0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80C9EE-63A6-48E7-81B9-2897FDF65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524000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L(y, f(x)) = max(0, |y - f(x)| - ε)</a:t>
            </a:r>
          </a:p>
        </p:txBody>
      </p:sp>
      <p:graphicFrame>
        <p:nvGraphicFramePr>
          <p:cNvPr id="31" name=""/>
          <p:cNvGraphicFramePr/>
          <p:nvPr/>
        </p:nvGraphicFramePr>
        <p:xfrm>
          <a:off xmlns:a="http://schemas.openxmlformats.org/drawingml/2006/main" x="6858000" y="2571750"/>
          <a:ext xmlns:a="http://schemas.openxmlformats.org/drawingml/2006/main" cx="4191000" cy="2190750"/>
        </p:xfrm>
        <a:graphic xmlns:a="http://schemas.openxmlformats.org/drawingml/2006/main">
          <a:graphicData uri="http://schemas.openxmlformats.org/drawingml/2006/table">
            <a:tbl>
              <a:tblPr firstRow="0" bandRow="0" bandCol="0"/>
              <a:tblGrid>
                <a:gridCol w="1047750"/>
                <a:gridCol w="1047750"/>
                <a:gridCol w="1047750"/>
                <a:gridCol w="1047750"/>
              </a:tblGrid>
              <a:tr h="438150"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00000"/>
                          </a:solidFill>
                          <a:latin typeface="Yu Gothic"/>
                          <a:ea typeface="Yu Gothic"/>
                          <a:cs typeface="Yu Gothic"/>
                        </a:rPr>
                        <a:t>実測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00000"/>
                          </a:solidFill>
                          <a:latin typeface="Yu Gothic"/>
                          <a:ea typeface="Yu Gothic"/>
                          <a:cs typeface="Yu Gothic"/>
                        </a:rPr>
                        <a:t>予測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00000"/>
                          </a:solidFill>
                          <a:latin typeface="Yu Gothic"/>
                          <a:ea typeface="Yu Gothic"/>
                          <a:cs typeface="Yu Gothic"/>
                        </a:rPr>
                        <a:t>誤差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000000"/>
                          </a:solidFill>
                          <a:latin typeface="Yu Gothic"/>
                          <a:ea typeface="Yu Gothic"/>
                          <a:cs typeface="Yu Gothic"/>
                        </a:rPr>
                        <a:t>損失（ε=3）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000000"/>
                          </a:solidFill>
                          <a:latin typeface="Yu Gothic"/>
                          <a:ea typeface="Yu Gothic"/>
                          <a:cs typeface="Yu Gothic"/>
                        </a:rPr>
                        <a:t>50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000000"/>
                          </a:solidFill>
                          <a:latin typeface="Yu Gothic"/>
                          <a:ea typeface="Yu Gothic"/>
                          <a:cs typeface="Yu Gothic"/>
                        </a:rPr>
                        <a:t>51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000000"/>
                          </a:solidFill>
                          <a:latin typeface="Yu Gothic"/>
                          <a:ea typeface="Yu Gothic"/>
                          <a:cs typeface="Yu Gothic"/>
                        </a:rPr>
                        <a:t>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000000"/>
                          </a:solidFill>
                          <a:latin typeface="Yu Gothic"/>
                          <a:ea typeface="Yu Gothic"/>
                          <a:cs typeface="Yu Gothic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000000"/>
                          </a:solidFill>
                          <a:latin typeface="Yu Gothic"/>
                          <a:ea typeface="Yu Gothic"/>
                          <a:cs typeface="Yu Gothic"/>
                        </a:rPr>
                        <a:t>50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000000"/>
                          </a:solidFill>
                          <a:latin typeface="Yu Gothic"/>
                          <a:ea typeface="Yu Gothic"/>
                          <a:cs typeface="Yu Gothic"/>
                        </a:rPr>
                        <a:t>53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000000"/>
                          </a:solidFill>
                          <a:latin typeface="Yu Gothic"/>
                          <a:ea typeface="Yu Gothic"/>
                          <a:cs typeface="Yu Gothic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000000"/>
                          </a:solidFill>
                          <a:latin typeface="Yu Gothic"/>
                          <a:ea typeface="Yu Gothic"/>
                          <a:cs typeface="Yu Gothic"/>
                        </a:rPr>
                        <a:t>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000000"/>
                          </a:solidFill>
                          <a:latin typeface="Yu Gothic"/>
                          <a:ea typeface="Yu Gothic"/>
                          <a:cs typeface="Yu Gothic"/>
                        </a:rPr>
                        <a:t>50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000000"/>
                          </a:solidFill>
                          <a:latin typeface="Yu Gothic"/>
                          <a:ea typeface="Yu Gothic"/>
                          <a:cs typeface="Yu Gothic"/>
                        </a:rPr>
                        <a:t>55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000000"/>
                          </a:solidFill>
                          <a:latin typeface="Yu Gothic"/>
                          <a:ea typeface="Yu Gothic"/>
                          <a:cs typeface="Yu Gothic"/>
                        </a:rPr>
                        <a:t>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000000"/>
                          </a:solidFill>
                          <a:latin typeface="Yu Gothic"/>
                          <a:ea typeface="Yu Gothic"/>
                          <a:cs typeface="Yu Gothic"/>
                        </a:rPr>
                        <a:t>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38150"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000000"/>
                          </a:solidFill>
                          <a:latin typeface="Yu Gothic"/>
                          <a:ea typeface="Yu Gothic"/>
                          <a:cs typeface="Yu Gothic"/>
                        </a:rPr>
                        <a:t>50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000000"/>
                          </a:solidFill>
                          <a:latin typeface="Yu Gothic"/>
                          <a:ea typeface="Yu Gothic"/>
                          <a:cs typeface="Yu Gothic"/>
                        </a:rPr>
                        <a:t>44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000000"/>
                          </a:solidFill>
                          <a:latin typeface="Yu Gothic"/>
                          <a:ea typeface="Yu Gothic"/>
                          <a:cs typeface="Yu Gothic"/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0">
                          <a:solidFill>
                            <a:srgbClr val="000000"/>
                          </a:solidFill>
                          <a:latin typeface="Yu Gothic"/>
                          <a:ea typeface="Yu Gothic"/>
                          <a:cs typeface="Yu Gothic"/>
                        </a:rPr>
                        <a:t>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039ED1-6349-4EDE-8A00-AC05A6F1F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095875"/>
            <a:ext cx="438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477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ε以内なら損失0。εからはみ出した分だけを問題にします。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B6732B-D855-4232-B36D-1492DE57D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25"/>
          </a:xfrm>
          <a:custGeom xmlns:a="http://schemas.openxmlformats.org/drawingml/2006/main"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41C100-878B-4AF7-A966-5A82EADA5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825" b="0">
                <a:solidFill>
                  <a:srgbClr val="666666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SVRの原理と特徴  |  6/19</a:t>
            </a:r>
          </a:p>
        </p:txBody>
      </p:sp>
    </p:spTree>
    <p:extLst>
      <p:ext uri="{BB962C8B-B14F-4D97-AF65-F5344CB8AC3E}">
        <p14:creationId xmlns:p14="http://schemas.microsoft.com/office/powerpoint/2010/main" val="14966630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DBD3F90-E922-42FB-91C6-16F2942CF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5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6. サポートベクトル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EC4FBB-CE74-418F-98DF-8BD722F57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9525"/>
          </a:xfrm>
          <a:custGeom xmlns:a="http://schemas.openxmlformats.org/drawingml/2006/main"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99999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079536-4810-418B-A781-2A54ED251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476750"/>
            <a:ext cx="5619750" cy="9525"/>
          </a:xfrm>
          <a:custGeom xmlns:a="http://schemas.openxmlformats.org/drawingml/2006/main">
            <a:pathLst>
              <a:path w="5619750" h="9525">
                <a:moveTo>
                  <a:pt x="0" y="0"/>
                </a:moveTo>
                <a:lnTo>
                  <a:pt x="5619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4312A5-763F-4031-97EC-86FCE93D4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333500"/>
            <a:ext cx="9525" cy="3143250"/>
          </a:xfrm>
          <a:custGeom xmlns:a="http://schemas.openxmlformats.org/drawingml/2006/main">
            <a:pathLst>
              <a:path w="9525" h="3143250">
                <a:moveTo>
                  <a:pt x="0" y="31432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94691E-3AC9-444A-B5B4-5EBEF27A1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436245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724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1B1345-E2B9-4A0A-B82B-F835277C0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110490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724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0814C4-C69D-4E0B-BA6D-12BAE4161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76500"/>
            <a:ext cx="4953000" cy="1571625"/>
          </a:xfrm>
          <a:custGeom xmlns:a="http://schemas.openxmlformats.org/drawingml/2006/main">
            <a:pathLst>
              <a:path w="4953000" h="1571625">
                <a:moveTo>
                  <a:pt x="0" y="1571625"/>
                </a:moveTo>
                <a:lnTo>
                  <a:pt x="4953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344BBC-0E77-45FF-B919-FE37B1573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14550"/>
            <a:ext cx="4953000" cy="1571625"/>
          </a:xfrm>
          <a:custGeom xmlns:a="http://schemas.openxmlformats.org/drawingml/2006/main">
            <a:pathLst>
              <a:path w="4953000" h="1571625">
                <a:moveTo>
                  <a:pt x="0" y="1571625"/>
                </a:moveTo>
                <a:lnTo>
                  <a:pt x="4953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  <a:prstDash val="dash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D40CC5-B23A-4BB0-BE84-46C020136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38450"/>
            <a:ext cx="4953000" cy="1571625"/>
          </a:xfrm>
          <a:custGeom xmlns:a="http://schemas.openxmlformats.org/drawingml/2006/main">
            <a:pathLst>
              <a:path w="4953000" h="1571625">
                <a:moveTo>
                  <a:pt x="0" y="1571625"/>
                </a:moveTo>
                <a:lnTo>
                  <a:pt x="4953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  <a:prstDash val="dash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FA386C-83F9-471F-AEAD-4C4A56A8B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0713" y="354901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9E725A-635D-4278-B412-1D536E5DE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1280" y="310896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A85098-BACA-4493-8D34-FDF9AFF2A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8045" y="2826068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8231FA-54CE-4937-B3B0-BEA5A02BD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9563" y="233553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287A92-E20A-4D2C-B24B-AA439E313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9180" y="263747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A3F80A-1645-4168-8383-2B9652C8A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9290" y="183261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96BCBC-003C-4F32-BF89-A32919474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92405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152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666666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εチューブ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D96118-CB79-4FEC-B716-CE80ACA06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9146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152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予測関数 f(x)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1EBAFC-EAAF-4601-911C-1E573ABE1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714875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7971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0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黒丸 = サポートベクトル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64EBF0-FB05-4363-895D-298F5D6A8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524000"/>
            <a:ext cx="3714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72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・すべての点が同じように重要ではない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72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・境界付近やチューブ外の点が重要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72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・これらの点が予測関数の形を決める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C98645-B5E9-4953-B3B9-A5BB187D2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238625"/>
            <a:ext cx="3238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チューブ内で余裕がある点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50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→ 影響は小さい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D6DD0D-9314-4225-8658-02B0D16C4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25"/>
          </a:xfrm>
          <a:custGeom xmlns:a="http://schemas.openxmlformats.org/drawingml/2006/main"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420EF8-D48E-4D07-9D4F-FF4D60AB7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825" b="0">
                <a:solidFill>
                  <a:srgbClr val="666666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SVRの原理と特徴  |  7/19</a:t>
            </a:r>
          </a:p>
        </p:txBody>
      </p:sp>
    </p:spTree>
    <p:extLst>
      <p:ext uri="{BB962C8B-B14F-4D97-AF65-F5344CB8AC3E}">
        <p14:creationId xmlns:p14="http://schemas.microsoft.com/office/powerpoint/2010/main" val="12461055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AEEB206-D99B-48DF-AF60-D4191F862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5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7. C・ε・gammaの役割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21E479-75A6-4533-B2B4-23F119EEC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9525"/>
          </a:xfrm>
          <a:custGeom xmlns:a="http://schemas.openxmlformats.org/drawingml/2006/main"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999999"/>
            </a:solidFill>
            <a:prstDash val="solid"/>
          </a:ln>
        </p:spPr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1428750" y="1381125"/>
          <a:ext xmlns:a="http://schemas.openxmlformats.org/drawingml/2006/main" cx="9334500" cy="2095500"/>
        </p:xfrm>
        <a:graphic xmlns:a="http://schemas.openxmlformats.org/drawingml/2006/main">
          <a:graphicData uri="http://schemas.openxmlformats.org/drawingml/2006/table">
            <a:tbl>
              <a:tblPr firstRow="0" bandRow="0" bandCol="0"/>
              <a:tblGrid>
                <a:gridCol w="3111500"/>
                <a:gridCol w="3111500"/>
                <a:gridCol w="3111500"/>
              </a:tblGrid>
              <a:tr h="52387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00000"/>
                          </a:solidFill>
                          <a:latin typeface="Yu Gothic"/>
                          <a:ea typeface="Yu Gothic"/>
                          <a:cs typeface="Yu Gothic"/>
                        </a:rPr>
                        <a:t>パラメータ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00000"/>
                          </a:solidFill>
                          <a:latin typeface="Yu Gothic"/>
                          <a:ea typeface="Yu Gothic"/>
                          <a:cs typeface="Yu Gothic"/>
                        </a:rPr>
                        <a:t>大きくすると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00000"/>
                          </a:solidFill>
                          <a:latin typeface="Yu Gothic"/>
                          <a:ea typeface="Yu Gothic"/>
                          <a:cs typeface="Yu Gothic"/>
                        </a:rPr>
                        <a:t>小さくすると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0000"/>
                          </a:solidFill>
                          <a:latin typeface="Yu Gothic"/>
                          <a:ea typeface="Yu Gothic"/>
                          <a:cs typeface="Yu Gothic"/>
                        </a:rPr>
                        <a:t>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0000"/>
                          </a:solidFill>
                          <a:latin typeface="Yu Gothic"/>
                          <a:ea typeface="Yu Gothic"/>
                          <a:cs typeface="Yu Gothic"/>
                        </a:rPr>
                        <a:t>誤差に厳しい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0000"/>
                          </a:solidFill>
                          <a:latin typeface="Yu Gothic"/>
                          <a:ea typeface="Yu Gothic"/>
                          <a:cs typeface="Yu Gothic"/>
                        </a:rPr>
                        <a:t>誤差におおらか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0000"/>
                          </a:solidFill>
                          <a:latin typeface="Yu Gothic"/>
                          <a:ea typeface="Yu Gothic"/>
                          <a:cs typeface="Yu Gothic"/>
                        </a:rPr>
                        <a:t>ε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0000"/>
                          </a:solidFill>
                          <a:latin typeface="Yu Gothic"/>
                          <a:ea typeface="Yu Gothic"/>
                          <a:cs typeface="Yu Gothic"/>
                        </a:rPr>
                        <a:t>広い誤差を無視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0000"/>
                          </a:solidFill>
                          <a:latin typeface="Yu Gothic"/>
                          <a:ea typeface="Yu Gothic"/>
                          <a:cs typeface="Yu Gothic"/>
                        </a:rPr>
                        <a:t>小さい誤差も見る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0000"/>
                          </a:solidFill>
                          <a:latin typeface="Yu Gothic"/>
                          <a:ea typeface="Yu Gothic"/>
                          <a:cs typeface="Yu Gothic"/>
                        </a:rPr>
                        <a:t>gamma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0000"/>
                          </a:solidFill>
                          <a:latin typeface="Yu Gothic"/>
                          <a:ea typeface="Yu Gothic"/>
                          <a:cs typeface="Yu Gothic"/>
                        </a:rPr>
                        <a:t>細かく曲がる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000000"/>
                          </a:solidFill>
                          <a:latin typeface="Yu Gothic"/>
                          <a:ea typeface="Yu Gothic"/>
                          <a:cs typeface="Yu Gothic"/>
                        </a:rPr>
                        <a:t>なめらかになる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391786-33E9-4EF2-9FDD-6AEE4D2F1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286250"/>
            <a:ext cx="37147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C大・ε小・gamma大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65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→ データに細かく合わせる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521864-DC1B-49A1-92DB-F6C24A0FC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286250"/>
            <a:ext cx="37147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C小・ε大・gamma小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65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→ おおらかでなめらか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279033-51E8-4F00-992A-B1BA8BA49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25"/>
          </a:xfrm>
          <a:custGeom xmlns:a="http://schemas.openxmlformats.org/drawingml/2006/main"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714A6B-1761-4D54-9547-934C77E06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825" b="0">
                <a:solidFill>
                  <a:srgbClr val="666666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SVRの原理と特徴  |  8/19</a:t>
            </a:r>
          </a:p>
        </p:txBody>
      </p:sp>
    </p:spTree>
    <p:extLst>
      <p:ext uri="{BB962C8B-B14F-4D97-AF65-F5344CB8AC3E}">
        <p14:creationId xmlns:p14="http://schemas.microsoft.com/office/powerpoint/2010/main" val="33427410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26B054C-B558-49EC-A5B6-01DA69AB5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5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8. Cとεのイメージ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DE220C-A1A7-4FFF-A49D-43BA9E861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9525"/>
          </a:xfrm>
          <a:custGeom xmlns:a="http://schemas.openxmlformats.org/drawingml/2006/main"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99999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4164DC-9D48-40FB-9F9A-FD1D17436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23825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7561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725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Cが大きい：誤差を強く嫌う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95D51E-8DE1-414C-87B0-DE492BC3D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191000"/>
            <a:ext cx="3143250" cy="9525"/>
          </a:xfrm>
          <a:custGeom xmlns:a="http://schemas.openxmlformats.org/drawingml/2006/main">
            <a:pathLst>
              <a:path w="3143250" h="9525">
                <a:moveTo>
                  <a:pt x="0" y="0"/>
                </a:moveTo>
                <a:lnTo>
                  <a:pt x="3143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965EDE-C5D8-4709-96D4-7093C4329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190750"/>
            <a:ext cx="9525" cy="2000250"/>
          </a:xfrm>
          <a:custGeom xmlns:a="http://schemas.openxmlformats.org/drawingml/2006/main">
            <a:pathLst>
              <a:path w="9525" h="2000250">
                <a:moveTo>
                  <a:pt x="0" y="20002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CE4027-2402-4FD6-B484-51EBCD180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407670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724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33EE50-AD37-4B7D-8BD3-78DABD5B0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196215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724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1D9B49-127E-4EBC-AF04-1C0D5B45B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095625"/>
            <a:ext cx="571500" cy="762000"/>
          </a:xfrm>
          <a:custGeom xmlns:a="http://schemas.openxmlformats.org/drawingml/2006/main">
            <a:pathLst>
              <a:path w="571500" h="762000">
                <a:moveTo>
                  <a:pt x="0" y="762000"/>
                </a:moveTo>
                <a:lnTo>
                  <a:pt x="571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A54780-16B0-422C-A0A4-69061D9B2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095625"/>
            <a:ext cx="666750" cy="381000"/>
          </a:xfrm>
          <a:custGeom xmlns:a="http://schemas.openxmlformats.org/drawingml/2006/main">
            <a:pathLst>
              <a:path w="666750" h="381000">
                <a:moveTo>
                  <a:pt x="0" y="0"/>
                </a:moveTo>
                <a:lnTo>
                  <a:pt x="666750" y="3810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BC3078-A2CD-43AD-95C9-5CF0ED9E6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381250"/>
            <a:ext cx="1095375" cy="1095375"/>
          </a:xfrm>
          <a:custGeom xmlns:a="http://schemas.openxmlformats.org/drawingml/2006/main">
            <a:pathLst>
              <a:path w="1095375" h="1095375">
                <a:moveTo>
                  <a:pt x="0" y="1095375"/>
                </a:moveTo>
                <a:lnTo>
                  <a:pt x="10953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4F2913-036C-4C06-AAA0-1E79AFD11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238250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7561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725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Cが小さい：なめらかになりやすい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5B1F78-6B8C-49A5-9ADD-1AEF9FB00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191000"/>
            <a:ext cx="3143250" cy="9525"/>
          </a:xfrm>
          <a:custGeom xmlns:a="http://schemas.openxmlformats.org/drawingml/2006/main">
            <a:pathLst>
              <a:path w="3143250" h="9525">
                <a:moveTo>
                  <a:pt x="0" y="0"/>
                </a:moveTo>
                <a:lnTo>
                  <a:pt x="31432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347F6A-FE9A-495A-843E-00A99CAFB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190750"/>
            <a:ext cx="9525" cy="2000250"/>
          </a:xfrm>
          <a:custGeom xmlns:a="http://schemas.openxmlformats.org/drawingml/2006/main">
            <a:pathLst>
              <a:path w="9525" h="2000250">
                <a:moveTo>
                  <a:pt x="0" y="20002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63203B-D5B7-48C2-A133-D9433BD54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15575" y="407670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724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x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74685A-E290-43B5-852D-CF7971EB8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196215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724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60E901-5FA6-43F3-A527-583A53AFC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714625"/>
            <a:ext cx="2428875" cy="1143000"/>
          </a:xfrm>
          <a:custGeom xmlns:a="http://schemas.openxmlformats.org/drawingml/2006/main">
            <a:pathLst>
              <a:path w="2428875" h="1143000">
                <a:moveTo>
                  <a:pt x="0" y="1143000"/>
                </a:moveTo>
                <a:lnTo>
                  <a:pt x="24288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EA8B58-837A-41B8-9C74-68918F39B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334000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9881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65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εが小さいほどチューブは細く、εが大きいほどチューブは太くなります。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B7550D-12A7-4568-B68D-50B2C2EC5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25"/>
          </a:xfrm>
          <a:custGeom xmlns:a="http://schemas.openxmlformats.org/drawingml/2006/main"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4F2380-12B9-4BCF-82EB-25F812AC5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825" b="0">
                <a:solidFill>
                  <a:srgbClr val="666666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SVRの原理と特徴  |  9/19</a:t>
            </a:r>
          </a:p>
        </p:txBody>
      </p:sp>
    </p:spTree>
    <p:extLst>
      <p:ext uri="{BB962C8B-B14F-4D97-AF65-F5344CB8AC3E}">
        <p14:creationId xmlns:p14="http://schemas.microsoft.com/office/powerpoint/2010/main" val="43901186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E3DC6CE-ED52-4D1A-8D00-97C822504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5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9. カーネルとgamma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DE300F-B36E-4A1C-AF6E-E81C94D0C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9525"/>
          </a:xfrm>
          <a:custGeom xmlns:a="http://schemas.openxmlformats.org/drawingml/2006/main"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99999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E117FC-19A0-49B5-9529-077BD357D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23825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9855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875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カーネルを使うと、直線だけでは表しにくい非線形関係を扱えます。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EA4410-5261-4BFC-960E-D69B12236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28875"/>
            <a:ext cx="2997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元の空間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27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直線では難しい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BC2B10-776F-4597-9133-DE5394A57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5475" y="2705100"/>
            <a:ext cx="24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6366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65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810697-F173-4E74-9A95-AA9EE96F8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7400" y="2428875"/>
            <a:ext cx="2997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カーネル変換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318DBD-5367-46E5-B79F-58FA0C4D1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4125" y="2705100"/>
            <a:ext cx="24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6366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65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0C14E5-27D1-4DC4-9498-F749CD5EA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6050" y="2428875"/>
            <a:ext cx="29972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高次元空間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27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線形に扱いやすい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323A5A-692B-4DC9-A302-668D42EBC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40957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7246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65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gammaが小さい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E39D20-A22D-49FB-856D-DD6AB1331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619625"/>
            <a:ext cx="904875" cy="428625"/>
          </a:xfrm>
          <a:custGeom xmlns:a="http://schemas.openxmlformats.org/drawingml/2006/main">
            <a:pathLst>
              <a:path w="904875" h="428625">
                <a:moveTo>
                  <a:pt x="0" y="428625"/>
                </a:moveTo>
                <a:lnTo>
                  <a:pt x="9048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B292A5-BAC3-4DC0-A582-D631D056E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619625"/>
            <a:ext cx="1143000" cy="9525"/>
          </a:xfrm>
          <a:custGeom xmlns:a="http://schemas.openxmlformats.org/drawingml/2006/main">
            <a:pathLst>
              <a:path w="1143000" h="9525">
                <a:moveTo>
                  <a:pt x="0" y="0"/>
                </a:moveTo>
                <a:lnTo>
                  <a:pt x="1143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9CE147-D545-4457-A2E2-3D32B59F7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619625"/>
            <a:ext cx="952500" cy="428625"/>
          </a:xfrm>
          <a:custGeom xmlns:a="http://schemas.openxmlformats.org/drawingml/2006/main">
            <a:pathLst>
              <a:path w="952500" h="428625">
                <a:moveTo>
                  <a:pt x="0" y="0"/>
                </a:moveTo>
                <a:lnTo>
                  <a:pt x="952500" y="42862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B7AC81-D333-4FC1-84BA-CE4477446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28637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856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35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影響範囲が広く、なめらか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01B4D3-D855-4FEA-9749-7B61C31E3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957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7246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65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gammaが大きい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D3E866-59A3-4D44-A3BC-8428EF9BD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76750"/>
            <a:ext cx="381000" cy="714375"/>
          </a:xfrm>
          <a:custGeom xmlns:a="http://schemas.openxmlformats.org/drawingml/2006/main">
            <a:pathLst>
              <a:path w="381000" h="714375">
                <a:moveTo>
                  <a:pt x="0" y="714375"/>
                </a:moveTo>
                <a:lnTo>
                  <a:pt x="381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0202D0-9FF3-4785-B64A-AC5652343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476750"/>
            <a:ext cx="381000" cy="714375"/>
          </a:xfrm>
          <a:custGeom xmlns:a="http://schemas.openxmlformats.org/drawingml/2006/main">
            <a:pathLst>
              <a:path w="381000" h="714375">
                <a:moveTo>
                  <a:pt x="0" y="0"/>
                </a:moveTo>
                <a:lnTo>
                  <a:pt x="381000" y="714375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D9D716-9122-463F-8D62-F718E432D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86375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856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35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1350" b="0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影響範囲が狭く、曲がりやすい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FB98BB-8642-4162-B48A-B8E460A63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25"/>
          </a:xfrm>
          <a:custGeom xmlns:a="http://schemas.openxmlformats.org/drawingml/2006/main"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B8192E-3A07-429D-834A-97DF3D1B4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825" b="0">
                <a:solidFill>
                  <a:srgbClr val="666666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SVRの原理と特徴  |  10/19</a:t>
            </a:r>
          </a:p>
        </p:txBody>
      </p:sp>
    </p:spTree>
    <p:extLst>
      <p:ext uri="{BB962C8B-B14F-4D97-AF65-F5344CB8AC3E}">
        <p14:creationId xmlns:p14="http://schemas.microsoft.com/office/powerpoint/2010/main" val="3090126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2AB4C7F-A13A-40B2-9EBF-4A87AEED6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5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10. 例：部屋の広さから家賃を予測する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D456E7-FCF5-429B-B677-17280B86F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9525"/>
          </a:xfrm>
          <a:custGeom xmlns:a="http://schemas.openxmlformats.org/drawingml/2006/main"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999999"/>
            </a:solidFill>
            <a:prstDash val="solid"/>
          </a:ln>
        </p:spPr>
      </p:sp>
      <p:graphicFrame>
        <p:nvGraphicFramePr>
          <p:cNvPr id="35" name=""/>
          <p:cNvGraphicFramePr/>
          <p:nvPr/>
        </p:nvGraphicFramePr>
        <p:xfrm>
          <a:off xmlns:a="http://schemas.openxmlformats.org/drawingml/2006/main" x="1143000" y="1190625"/>
          <a:ext xmlns:a="http://schemas.openxmlformats.org/drawingml/2006/main" cx="9906000" cy="838200"/>
        </p:xfrm>
        <a:graphic xmlns:a="http://schemas.openxmlformats.org/drawingml/2006/main">
          <a:graphicData uri="http://schemas.openxmlformats.org/drawingml/2006/table">
            <a:tbl>
              <a:tblPr firstRow="0" bandRow="0" bandCol="0"/>
              <a:tblGrid>
                <a:gridCol w="1238250"/>
                <a:gridCol w="1238250"/>
                <a:gridCol w="1238250"/>
                <a:gridCol w="1238250"/>
                <a:gridCol w="1238250"/>
                <a:gridCol w="1238250"/>
                <a:gridCol w="1238250"/>
                <a:gridCol w="1238250"/>
              </a:tblGrid>
              <a:tr h="41910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Yu Gothic"/>
                          <a:ea typeface="Yu Gothic"/>
                          <a:cs typeface="Yu Gothic"/>
                        </a:rPr>
                        <a:t>広さ m2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Yu Gothic"/>
                          <a:ea typeface="Yu Gothic"/>
                          <a:cs typeface="Yu Gothic"/>
                        </a:rPr>
                        <a:t>20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Yu Gothic"/>
                          <a:ea typeface="Yu Gothic"/>
                          <a:cs typeface="Yu Gothic"/>
                        </a:rPr>
                        <a:t>25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Yu Gothic"/>
                          <a:ea typeface="Yu Gothic"/>
                          <a:cs typeface="Yu Gothic"/>
                        </a:rPr>
                        <a:t>30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Yu Gothic"/>
                          <a:ea typeface="Yu Gothic"/>
                          <a:cs typeface="Yu Gothic"/>
                        </a:rPr>
                        <a:t>35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Yu Gothic"/>
                          <a:ea typeface="Yu Gothic"/>
                          <a:cs typeface="Yu Gothic"/>
                        </a:rPr>
                        <a:t>40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Yu Gothic"/>
                          <a:ea typeface="Yu Gothic"/>
                          <a:cs typeface="Yu Gothic"/>
                        </a:rPr>
                        <a:t>45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Yu Gothic"/>
                          <a:ea typeface="Yu Gothic"/>
                          <a:cs typeface="Yu Gothic"/>
                        </a:rPr>
                        <a:t>50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Yu Gothic"/>
                          <a:ea typeface="Yu Gothic"/>
                          <a:cs typeface="Yu Gothic"/>
                        </a:rPr>
                        <a:t>家賃 万円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Yu Gothic"/>
                          <a:ea typeface="Yu Gothic"/>
                          <a:cs typeface="Yu Gothic"/>
                        </a:rPr>
                        <a:t>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Yu Gothic"/>
                          <a:ea typeface="Yu Gothic"/>
                          <a:cs typeface="Yu Gothic"/>
                        </a:rPr>
                        <a:t>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Yu Gothic"/>
                          <a:ea typeface="Yu Gothic"/>
                          <a:cs typeface="Yu Gothic"/>
                        </a:rPr>
                        <a:t>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Yu Gothic"/>
                          <a:ea typeface="Yu Gothic"/>
                          <a:cs typeface="Yu Gothic"/>
                        </a:rPr>
                        <a:t>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Yu Gothic"/>
                          <a:ea typeface="Yu Gothic"/>
                          <a:cs typeface="Yu Gothic"/>
                        </a:rPr>
                        <a:t>11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Yu Gothic"/>
                          <a:ea typeface="Yu Gothic"/>
                          <a:cs typeface="Yu Gothic"/>
                        </a:rPr>
                        <a:t>13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Yu Gothic"/>
                          <a:ea typeface="Yu Gothic"/>
                          <a:cs typeface="Yu Gothic"/>
                        </a:rPr>
                        <a:t>16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363D6B-7E99-43B7-BFEE-8679660F2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048250"/>
            <a:ext cx="3714750" cy="9525"/>
          </a:xfrm>
          <a:custGeom xmlns:a="http://schemas.openxmlformats.org/drawingml/2006/main">
            <a:pathLst>
              <a:path w="3714750" h="9525">
                <a:moveTo>
                  <a:pt x="0" y="0"/>
                </a:moveTo>
                <a:lnTo>
                  <a:pt x="3714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03D3DF-F015-46EC-83E0-8EEDAA7FD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57500"/>
            <a:ext cx="9525" cy="2190750"/>
          </a:xfrm>
          <a:custGeom xmlns:a="http://schemas.openxmlformats.org/drawingml/2006/main">
            <a:pathLst>
              <a:path w="9525" h="2190750">
                <a:moveTo>
                  <a:pt x="0" y="21907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7171BA-E196-4E9B-9E09-CC98A1B09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93395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724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29332D-7CC2-41F8-838C-BACCC1C56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62890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724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D2E82C-DFFD-47E0-88A9-014E94B9A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381375"/>
            <a:ext cx="3048000" cy="1266825"/>
          </a:xfrm>
          <a:custGeom xmlns:a="http://schemas.openxmlformats.org/drawingml/2006/main">
            <a:pathLst>
              <a:path w="3048000" h="1266825">
                <a:moveTo>
                  <a:pt x="0" y="1266825"/>
                </a:moveTo>
                <a:lnTo>
                  <a:pt x="3048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BC8787-AEB2-4202-B1DB-93D168A40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0748" y="4348163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6D81BB-B0FB-45F6-8F40-8C68CC398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0813" y="4041458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3FD1C8-88AE-4DAF-99A8-25CD52396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0878" y="3734753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60AFE4-C0FB-464E-B571-073C0D194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5238" y="35814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A59951-E2C5-4179-AF8B-FB1D05C31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3893" y="3296603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208299-31BF-4BC4-80B8-0EACC4604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286375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695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0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線形回帰：全体に直線を引く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F4C432-0BBA-430E-BC5F-F040F4082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048250"/>
            <a:ext cx="3714750" cy="9525"/>
          </a:xfrm>
          <a:custGeom xmlns:a="http://schemas.openxmlformats.org/drawingml/2006/main">
            <a:pathLst>
              <a:path w="3714750" h="9525">
                <a:moveTo>
                  <a:pt x="0" y="0"/>
                </a:moveTo>
                <a:lnTo>
                  <a:pt x="37147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5D78D9-7951-440A-84B8-D7AEBE887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857500"/>
            <a:ext cx="9525" cy="2190750"/>
          </a:xfrm>
          <a:custGeom xmlns:a="http://schemas.openxmlformats.org/drawingml/2006/main">
            <a:pathLst>
              <a:path w="9525" h="2190750">
                <a:moveTo>
                  <a:pt x="0" y="219075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3335">
            <a:solidFill>
              <a:srgbClr val="0000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21F15A-DBF1-4642-A58A-4F1F82EBD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493395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724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x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72C596-C95D-43FB-A20A-5477D98D6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628900"/>
            <a:ext cx="28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7246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05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1050" b="0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D6C88F-5D37-4DA8-BF14-5A7557542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048000"/>
            <a:ext cx="3048000" cy="1571625"/>
          </a:xfrm>
          <a:custGeom xmlns:a="http://schemas.openxmlformats.org/drawingml/2006/main">
            <a:pathLst>
              <a:path w="3048000" h="1571625">
                <a:moveTo>
                  <a:pt x="0" y="1571625"/>
                </a:moveTo>
                <a:lnTo>
                  <a:pt x="3048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BDBD3C-DF96-47FD-B01C-E7B1E549F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686050"/>
            <a:ext cx="3048000" cy="1571625"/>
          </a:xfrm>
          <a:custGeom xmlns:a="http://schemas.openxmlformats.org/drawingml/2006/main">
            <a:pathLst>
              <a:path w="3048000" h="1571625">
                <a:moveTo>
                  <a:pt x="0" y="1571625"/>
                </a:moveTo>
                <a:lnTo>
                  <a:pt x="3048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  <a:prstDash val="dash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2301C7-DDD8-4008-A3D0-B388DC38C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409950"/>
            <a:ext cx="3048000" cy="1571625"/>
          </a:xfrm>
          <a:custGeom xmlns:a="http://schemas.openxmlformats.org/drawingml/2006/main">
            <a:pathLst>
              <a:path w="3048000" h="1571625">
                <a:moveTo>
                  <a:pt x="0" y="1571625"/>
                </a:moveTo>
                <a:lnTo>
                  <a:pt x="30480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666666"/>
            </a:solidFill>
            <a:prstDash val="dash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49372F6-ACF6-43A5-8D30-D0AFB6B6B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2838" y="438721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EAEEE8-A790-4DC7-B47E-263F4FCF2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5755" y="408051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AE7501-202E-46A5-A4CE-E486AAED7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5820" y="3883343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647A59-3087-4CA4-9AF8-3C426CDE1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9688" y="353568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30909E2-B2AE-490A-AC55-180ABD3C5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1655" y="3751898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FA52D2-BF6A-4275-B213-3A8EA0B0D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6965" y="318516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878E0F9-B65A-48F2-B3CC-EA30F01BA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44805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152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666666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εチューブ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C29D6F0-DD7C-4874-9A3E-E0B3FC940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43865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152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1200" b="0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予測関数 f(x)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CDC7B44-EFB2-44E1-86CE-7891DBF8A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286375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695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50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SVR：許容幅を持たせる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9C5F623-69E8-4FA7-A282-9B9C25430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25"/>
          </a:xfrm>
          <a:custGeom xmlns:a="http://schemas.openxmlformats.org/drawingml/2006/main"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E9534EE-2812-4BC8-8B59-E7EA6733C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825" b="0">
                <a:solidFill>
                  <a:srgbClr val="666666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SVRの原理と特徴  |  11/19</a:t>
            </a:r>
          </a:p>
        </p:txBody>
      </p:sp>
    </p:spTree>
    <p:extLst>
      <p:ext uri="{BB962C8B-B14F-4D97-AF65-F5344CB8AC3E}">
        <p14:creationId xmlns:p14="http://schemas.microsoft.com/office/powerpoint/2010/main" val="188226837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F378AC4-E71B-4BE0-B033-A88782D6D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5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11. 例：材料の寿命を予測する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955BF6-4829-4535-B409-04CD821E3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9525"/>
          </a:xfrm>
          <a:custGeom xmlns:a="http://schemas.openxmlformats.org/drawingml/2006/main"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99999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0A1EF2-8AAF-4297-BB74-B104A834A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190625"/>
            <a:ext cx="1038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目的：温度・圧力・湿度・材料タイプ・使用時間などから、材料寿命を予測する。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ACD1A0-10E1-4EDC-A179-BFBE991F3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38375"/>
            <a:ext cx="192024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温度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E29390-0D17-4708-A0D6-BF08ACEF6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2265" y="2381250"/>
            <a:ext cx="24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6366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65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248678-9444-495B-B070-3F5D4569B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4190" y="2238375"/>
            <a:ext cx="192024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圧力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8910D2-A04B-42EB-84DC-01C69BE37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3955" y="2381250"/>
            <a:ext cx="24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6366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65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3492F0-F68A-4F9A-98FC-B70202CA1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5880" y="2238375"/>
            <a:ext cx="192024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湿度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774708-CFE7-43BA-A295-D2265CF34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5645" y="2381250"/>
            <a:ext cx="24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6366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65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CDFF7B-9454-4B60-AC14-3098B42F2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7570" y="2238375"/>
            <a:ext cx="192024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材料タイプ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91D188-AACE-42B0-8FE5-FDAE820CB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7335" y="2381250"/>
            <a:ext cx="24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6366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65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1D63D3-21D3-4CF7-AFA1-69789A60F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9260" y="2238375"/>
            <a:ext cx="192024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使用時間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74E23E-5AC6-4E09-9513-D292D249F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0289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212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25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D2E355-BEEB-4A7B-B13B-56979B866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571875"/>
            <a:ext cx="2476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95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1950" b="1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SVR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5B93FC-FF50-44C1-A4F1-24BD91685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400550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212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225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2250" b="0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354EC9-9C9F-44FA-972A-E6E067D74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953000"/>
            <a:ext cx="2857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寿命の予測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BF6815-49B6-4475-85ED-8CC38CC1B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25"/>
          </a:xfrm>
          <a:custGeom xmlns:a="http://schemas.openxmlformats.org/drawingml/2006/main"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41842D-0A16-4841-A87F-C2C311126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825" b="0">
                <a:solidFill>
                  <a:srgbClr val="666666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SVRの原理と特徴  |  12/19</a:t>
            </a:r>
          </a:p>
        </p:txBody>
      </p:sp>
    </p:spTree>
    <p:extLst>
      <p:ext uri="{BB962C8B-B14F-4D97-AF65-F5344CB8AC3E}">
        <p14:creationId xmlns:p14="http://schemas.microsoft.com/office/powerpoint/2010/main" val="77127007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2F2C102-39F3-4663-A327-01FB68928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5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12. SVRを使う基本手順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264AF1-8E1E-4197-9F51-D41450951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9525"/>
          </a:xfrm>
          <a:custGeom xmlns:a="http://schemas.openxmlformats.org/drawingml/2006/main"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99999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FCD42D-3343-4F4F-B4EC-79F20F76A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66875"/>
            <a:ext cx="199644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データ準備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A368A5-D25D-495D-AF14-C2E269665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7965" y="1838325"/>
            <a:ext cx="24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6366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65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→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905FB5-CA02-42AF-A353-79C4C966C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9890" y="1666875"/>
            <a:ext cx="199644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X/yに分割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31943C-B4D1-4BEE-96AE-4EED27657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5855" y="1838325"/>
            <a:ext cx="24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6366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65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83B0F7-0FEB-4BC5-8264-709B7644B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7780" y="1666875"/>
            <a:ext cx="199644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train/test分割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E8D3A0-B4C4-4203-BE74-FA57DC847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3745" y="1838325"/>
            <a:ext cx="24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6366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65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C66C8F-ECA9-4CA4-9395-E592F2C92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5670" y="1666875"/>
            <a:ext cx="199644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標準化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CE71F9-49B5-42F0-B64B-49521D2FF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1635" y="1838325"/>
            <a:ext cx="24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6366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65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CF3527-34B3-4344-8FA4-F850170E8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3560" y="1666875"/>
            <a:ext cx="199644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SVR学習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65C915-31D6-4D0C-8DF9-82C4D4251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33750"/>
            <a:ext cx="2362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予測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766548-0FB1-4EA7-8F2D-4C872FDBE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505200"/>
            <a:ext cx="24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6366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65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FB0281-4638-4DF1-A229-491F8B02F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333750"/>
            <a:ext cx="2362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RMSE・R2評価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51F44D-1277-4A95-9EEA-F89D96F3E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505200"/>
            <a:ext cx="247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6366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65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1650" b="0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E86F5F-9C56-4FDB-8836-D7427E37C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333750"/>
            <a:ext cx="2362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1275" b="0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C・ε・gamma調整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95EBB9-0205-4815-AC84-F209B303C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00625"/>
            <a:ext cx="952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9344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80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SVRは特徴量の尺度に敏感です。StandardScalerなどでスケーリングしてから使うのが基本です。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139184-42B0-4544-9F96-80EFA2D5C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25"/>
          </a:xfrm>
          <a:custGeom xmlns:a="http://schemas.openxmlformats.org/drawingml/2006/main"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B58C3B-9B1A-4BFB-9ABD-483A68A66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825" b="0">
                <a:solidFill>
                  <a:srgbClr val="666666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SVRの原理と特徴  |  13/19</a:t>
            </a:r>
          </a:p>
        </p:txBody>
      </p:sp>
    </p:spTree>
    <p:extLst>
      <p:ext uri="{BB962C8B-B14F-4D97-AF65-F5344CB8AC3E}">
        <p14:creationId xmlns:p14="http://schemas.microsoft.com/office/powerpoint/2010/main" val="50281868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9F34EA0-B040-4FF0-AF93-C0882E23E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5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13. scikit-learnでの実装例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3F5B9F-B073-4860-9656-605B02C4B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9525"/>
          </a:xfrm>
          <a:custGeom xmlns:a="http://schemas.openxmlformats.org/drawingml/2006/main"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99999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137FF5-4008-421A-B890-9DD490C63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190625"/>
            <a:ext cx="10096500" cy="476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  <p:txBody>
          <a:bodyPr xmlns:a="http://schemas.openxmlformats.org/drawingml/2006/main" lIns="95250" tIns="76200" rIns="95250" bIns="762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from sklearn.pipeline import Pipeline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from sklearn.preprocessing import StandardScaler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from sklearn.svm import SVR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from sklearn.metrics import mean_squared_error, r2_score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model = Pipeline([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    ("scaler", StandardScaler()),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    ("svr", SVR(kernel="rbf", C=10, epsilon=0.1, gamma="scale"))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])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model.fit(X_train, y_train)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y_pred = model.predict(X_test)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print("MSE:", mean_squared_error(y_test, y_pred))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000000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000000"/>
                </a:solidFill>
                <a:latin typeface="Consolas"/>
                <a:ea typeface="Consolas"/>
                <a:cs typeface="Consolas"/>
              </a:rPr>
              <a:t>print("R2:", r2_score(y_test, y_pred))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FAA79F-AB06-417C-91A7-913C371C2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25"/>
          </a:xfrm>
          <a:custGeom xmlns:a="http://schemas.openxmlformats.org/drawingml/2006/main"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F5ECE6-8192-4B3D-B63F-44417C4ED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825" b="0">
                <a:solidFill>
                  <a:srgbClr val="666666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SVRの原理と特徴  |  14/19</a:t>
            </a:r>
          </a:p>
        </p:txBody>
      </p:sp>
    </p:spTree>
    <p:extLst>
      <p:ext uri="{BB962C8B-B14F-4D97-AF65-F5344CB8AC3E}">
        <p14:creationId xmlns:p14="http://schemas.microsoft.com/office/powerpoint/2010/main" val="198665332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F084F11-E5A5-463E-9976-6E8254CA6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5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14. SVRの長所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CAE158-C61D-4FB0-ADE9-73B8CA305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9525"/>
          </a:xfrm>
          <a:custGeom xmlns:a="http://schemas.openxmlformats.org/drawingml/2006/main"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999999"/>
            </a:solidFill>
            <a:prstDash val="solid"/>
          </a:ln>
        </p:spPr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1190625" y="1285875"/>
          <a:ext xmlns:a="http://schemas.openxmlformats.org/drawingml/2006/main" cx="9810750" cy="3429000"/>
        </p:xfrm>
        <a:graphic xmlns:a="http://schemas.openxmlformats.org/drawingml/2006/main">
          <a:graphicData uri="http://schemas.openxmlformats.org/drawingml/2006/table">
            <a:tbl>
              <a:tblPr firstRow="0" bandRow="0" bandCol="0"/>
              <a:tblGrid>
                <a:gridCol w="4905375"/>
                <a:gridCol w="4905375"/>
              </a:tblGrid>
              <a:tr h="5715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00000"/>
                          </a:solidFill>
                          <a:latin typeface="Yu Gothic"/>
                          <a:ea typeface="Yu Gothic"/>
                          <a:cs typeface="Yu Gothic"/>
                        </a:rPr>
                        <a:t>長所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00000"/>
                          </a:solidFill>
                          <a:latin typeface="Yu Gothic"/>
                          <a:ea typeface="Yu Gothic"/>
                          <a:cs typeface="Yu Gothic"/>
                        </a:rPr>
                        <a:t>説明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00000"/>
                          </a:solidFill>
                          <a:latin typeface="Yu Gothic"/>
                          <a:ea typeface="Yu Gothic"/>
                          <a:cs typeface="Yu Gothic"/>
                        </a:rPr>
                        <a:t>小〜中規模データで強い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00000"/>
                          </a:solidFill>
                          <a:latin typeface="Yu Gothic"/>
                          <a:ea typeface="Yu Gothic"/>
                          <a:cs typeface="Yu Gothic"/>
                        </a:rPr>
                        <a:t>高精度を出しやすい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00000"/>
                          </a:solidFill>
                          <a:latin typeface="Yu Gothic"/>
                          <a:ea typeface="Yu Gothic"/>
                          <a:cs typeface="Yu Gothic"/>
                        </a:rPr>
                        <a:t>非線形関係に対応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00000"/>
                          </a:solidFill>
                          <a:latin typeface="Yu Gothic"/>
                          <a:ea typeface="Yu Gothic"/>
                          <a:cs typeface="Yu Gothic"/>
                        </a:rPr>
                        <a:t>RBFカーネルなどで曲線的な関係を表現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00000"/>
                          </a:solidFill>
                          <a:latin typeface="Yu Gothic"/>
                          <a:ea typeface="Yu Gothic"/>
                          <a:cs typeface="Yu Gothic"/>
                        </a:rPr>
                        <a:t>外れ値に比較的強い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00000"/>
                          </a:solidFill>
                          <a:latin typeface="Yu Gothic"/>
                          <a:ea typeface="Yu Gothic"/>
                          <a:cs typeface="Yu Gothic"/>
                        </a:rPr>
                        <a:t>εチューブで小さな誤差を無視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00000"/>
                          </a:solidFill>
                          <a:latin typeface="Yu Gothic"/>
                          <a:ea typeface="Yu Gothic"/>
                          <a:cs typeface="Yu Gothic"/>
                        </a:rPr>
                        <a:t>過学習を抑えやすい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00000"/>
                          </a:solidFill>
                          <a:latin typeface="Yu Gothic"/>
                          <a:ea typeface="Yu Gothic"/>
                          <a:cs typeface="Yu Gothic"/>
                        </a:rPr>
                        <a:t>なるべくシンプルな関数を選ぶ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00000"/>
                          </a:solidFill>
                          <a:latin typeface="Yu Gothic"/>
                          <a:ea typeface="Yu Gothic"/>
                          <a:cs typeface="Yu Gothic"/>
                        </a:rPr>
                        <a:t>重要な点に注目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00000"/>
                          </a:solidFill>
                          <a:latin typeface="Yu Gothic"/>
                          <a:ea typeface="Yu Gothic"/>
                          <a:cs typeface="Yu Gothic"/>
                        </a:rPr>
                        <a:t>サポートベクトルがモデルを決める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4AEB6A-E2D7-4F9F-BCAA-0AF01CFDE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86375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725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直線では表しにくい小〜中規模の回帰問題で有力な選択肢です。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8D9A8C-D997-485C-91DF-4858AC58C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25"/>
          </a:xfrm>
          <a:custGeom xmlns:a="http://schemas.openxmlformats.org/drawingml/2006/main"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516208-6462-4AE9-98C4-149D5930E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825" b="0">
                <a:solidFill>
                  <a:srgbClr val="666666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SVRの原理と特徴  |  15/19</a:t>
            </a:r>
          </a:p>
        </p:txBody>
      </p:sp>
    </p:spTree>
    <p:extLst>
      <p:ext uri="{BB962C8B-B14F-4D97-AF65-F5344CB8AC3E}">
        <p14:creationId xmlns:p14="http://schemas.microsoft.com/office/powerpoint/2010/main" val="68390439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3D9DD84-423A-4E71-9B9F-A57C425CF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5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15. SVRの短所と注意点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12D9B3-404A-4B93-81C6-99FDF6BD8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9525"/>
          </a:xfrm>
          <a:custGeom xmlns:a="http://schemas.openxmlformats.org/drawingml/2006/main"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999999"/>
            </a:solidFill>
            <a:prstDash val="solid"/>
          </a:ln>
        </p:spPr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1190625" y="1285875"/>
          <a:ext xmlns:a="http://schemas.openxmlformats.org/drawingml/2006/main" cx="9810750" cy="3429000"/>
        </p:xfrm>
        <a:graphic xmlns:a="http://schemas.openxmlformats.org/drawingml/2006/main">
          <a:graphicData uri="http://schemas.openxmlformats.org/drawingml/2006/table">
            <a:tbl>
              <a:tblPr firstRow="0" bandRow="0" bandCol="0"/>
              <a:tblGrid>
                <a:gridCol w="4905375"/>
                <a:gridCol w="4905375"/>
              </a:tblGrid>
              <a:tr h="5715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00000"/>
                          </a:solidFill>
                          <a:latin typeface="Yu Gothic"/>
                          <a:ea typeface="Yu Gothic"/>
                          <a:cs typeface="Yu Gothic"/>
                        </a:rPr>
                        <a:t>短所・注意点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00000"/>
                          </a:solidFill>
                          <a:latin typeface="Yu Gothic"/>
                          <a:ea typeface="Yu Gothic"/>
                          <a:cs typeface="Yu Gothic"/>
                        </a:rPr>
                        <a:t>説明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00000"/>
                          </a:solidFill>
                          <a:latin typeface="Yu Gothic"/>
                          <a:ea typeface="Yu Gothic"/>
                          <a:cs typeface="Yu Gothic"/>
                        </a:rPr>
                        <a:t>スケーリングがほぼ必須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00000"/>
                          </a:solidFill>
                          <a:latin typeface="Yu Gothic"/>
                          <a:ea typeface="Yu Gothic"/>
                          <a:cs typeface="Yu Gothic"/>
                        </a:rPr>
                        <a:t>特徴量の尺度に敏感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00000"/>
                          </a:solidFill>
                          <a:latin typeface="Yu Gothic"/>
                          <a:ea typeface="Yu Gothic"/>
                          <a:cs typeface="Yu Gothic"/>
                        </a:rPr>
                        <a:t>パラメータ調整が重要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00000"/>
                          </a:solidFill>
                          <a:latin typeface="Yu Gothic"/>
                          <a:ea typeface="Yu Gothic"/>
                          <a:cs typeface="Yu Gothic"/>
                        </a:rPr>
                        <a:t>C、ε、gammaで結果が変わる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00000"/>
                          </a:solidFill>
                          <a:latin typeface="Yu Gothic"/>
                          <a:ea typeface="Yu Gothic"/>
                          <a:cs typeface="Yu Gothic"/>
                        </a:rPr>
                        <a:t>大規模データに弱いことがある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00000"/>
                          </a:solidFill>
                          <a:latin typeface="Yu Gothic"/>
                          <a:ea typeface="Yu Gothic"/>
                          <a:cs typeface="Yu Gothic"/>
                        </a:rPr>
                        <a:t>学習が重くなりやすい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00000"/>
                          </a:solidFill>
                          <a:latin typeface="Yu Gothic"/>
                          <a:ea typeface="Yu Gothic"/>
                          <a:cs typeface="Yu Gothic"/>
                        </a:rPr>
                        <a:t>解釈性が低め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00000"/>
                          </a:solidFill>
                          <a:latin typeface="Yu Gothic"/>
                          <a:ea typeface="Yu Gothic"/>
                          <a:cs typeface="Yu Gothic"/>
                        </a:rPr>
                        <a:t>線形回帰ほど係数を読みやすくない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00000"/>
                          </a:solidFill>
                          <a:latin typeface="Yu Gothic"/>
                          <a:ea typeface="Yu Gothic"/>
                          <a:cs typeface="Yu Gothic"/>
                        </a:rPr>
                        <a:t>カテゴリ変数は前処理が必要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00000"/>
                          </a:solidFill>
                          <a:latin typeface="Yu Gothic"/>
                          <a:ea typeface="Yu Gothic"/>
                          <a:cs typeface="Yu Gothic"/>
                        </a:rPr>
                        <a:t>One-Hot Encodingなどが必要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4AC785-767C-4E0E-80BB-88210F1B3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86375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725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1725" b="1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「スケーリング」と「交差検証によるパラメータ探索」が実践上の大事なポイントです。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037FD2-A346-487C-A33D-6BF8E1F54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25"/>
          </a:xfrm>
          <a:custGeom xmlns:a="http://schemas.openxmlformats.org/drawingml/2006/main"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F72D86-2F8B-4C98-8F02-2B0993DA5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825" b="0">
                <a:solidFill>
                  <a:srgbClr val="666666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SVRの原理と特徴  |  16/19</a:t>
            </a:r>
          </a:p>
        </p:txBody>
      </p:sp>
    </p:spTree>
    <p:extLst>
      <p:ext uri="{BB962C8B-B14F-4D97-AF65-F5344CB8AC3E}">
        <p14:creationId xmlns:p14="http://schemas.microsoft.com/office/powerpoint/2010/main" val="98998816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BBF56C3-0875-47AF-BEB6-B4F881397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5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16. よくある失敗と対策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1D9BBF-6670-47BB-9ED0-262400628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9525"/>
          </a:xfrm>
          <a:custGeom xmlns:a="http://schemas.openxmlformats.org/drawingml/2006/main"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999999"/>
            </a:solidFill>
            <a:prstDash val="solid"/>
          </a:ln>
        </p:spPr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952500" y="1381125"/>
          <a:ext xmlns:a="http://schemas.openxmlformats.org/drawingml/2006/main" cx="10287000" cy="2952750"/>
        </p:xfrm>
        <a:graphic xmlns:a="http://schemas.openxmlformats.org/drawingml/2006/main">
          <a:graphicData uri="http://schemas.openxmlformats.org/drawingml/2006/table">
            <a:tbl>
              <a:tblPr firstRow="0" bandRow="0" bandCol="0"/>
              <a:tblGrid>
                <a:gridCol w="3429000"/>
                <a:gridCol w="3429000"/>
                <a:gridCol w="3429000"/>
              </a:tblGrid>
              <a:tr h="59055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Yu Gothic"/>
                          <a:ea typeface="Yu Gothic"/>
                          <a:cs typeface="Yu Gothic"/>
                        </a:rPr>
                        <a:t>失敗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Yu Gothic"/>
                          <a:ea typeface="Yu Gothic"/>
                          <a:cs typeface="Yu Gothic"/>
                        </a:rPr>
                        <a:t>症状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000000"/>
                          </a:solidFill>
                          <a:latin typeface="Yu Gothic"/>
                          <a:ea typeface="Yu Gothic"/>
                          <a:cs typeface="Yu Gothic"/>
                        </a:rPr>
                        <a:t>対策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Yu Gothic"/>
                          <a:ea typeface="Yu Gothic"/>
                          <a:cs typeface="Yu Gothic"/>
                        </a:rPr>
                        <a:t>スケーリングしない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Yu Gothic"/>
                          <a:ea typeface="Yu Gothic"/>
                          <a:cs typeface="Yu Gothic"/>
                        </a:rPr>
                        <a:t>精度が悪い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Yu Gothic"/>
                          <a:ea typeface="Yu Gothic"/>
                          <a:cs typeface="Yu Gothic"/>
                        </a:rPr>
                        <a:t>PipelineでStandardScaler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Yu Gothic"/>
                          <a:ea typeface="Yu Gothic"/>
                          <a:cs typeface="Yu Gothic"/>
                        </a:rPr>
                        <a:t>Cを大きくしすぎる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Yu Gothic"/>
                          <a:ea typeface="Yu Gothic"/>
                          <a:cs typeface="Yu Gothic"/>
                        </a:rPr>
                        <a:t>訓練は良いがテストで悪い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Yu Gothic"/>
                          <a:ea typeface="Yu Gothic"/>
                          <a:cs typeface="Yu Gothic"/>
                        </a:rPr>
                        <a:t>Cを小さくして交差検証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Yu Gothic"/>
                          <a:ea typeface="Yu Gothic"/>
                          <a:cs typeface="Yu Gothic"/>
                        </a:rPr>
                        <a:t>gammaを大きくしすぎる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Yu Gothic"/>
                          <a:ea typeface="Yu Gothic"/>
                          <a:cs typeface="Yu Gothic"/>
                        </a:rPr>
                        <a:t>曲がりすぎる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Yu Gothic"/>
                          <a:ea typeface="Yu Gothic"/>
                          <a:cs typeface="Yu Gothic"/>
                        </a:rPr>
                        <a:t>gamma="scale"から試す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Yu Gothic"/>
                          <a:ea typeface="Yu Gothic"/>
                          <a:cs typeface="Yu Gothic"/>
                        </a:rPr>
                        <a:t>εを小さくしすぎる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Yu Gothic"/>
                          <a:ea typeface="Yu Gothic"/>
                          <a:cs typeface="Yu Gothic"/>
                        </a:rPr>
                        <a:t>小さな誤差まで追う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000000"/>
                          </a:solidFill>
                          <a:latin typeface="Yu Gothic"/>
                          <a:ea typeface="Yu Gothic"/>
                          <a:cs typeface="Yu Gothic"/>
                        </a:rPr>
                        <a:t>目的変数の単位に合わせて調整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6486AA-EBEB-4814-B020-948B4DB16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95875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9406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80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まずは「標準化 + RBF + gamma="scale"」から始め、GridSearchCVで調整すると進めやすいです。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926191-6C82-428E-A17E-30B045CF5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25"/>
          </a:xfrm>
          <a:custGeom xmlns:a="http://schemas.openxmlformats.org/drawingml/2006/main"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09ACF5-9C85-420A-B6CD-FE227D9A5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825" b="0">
                <a:solidFill>
                  <a:srgbClr val="666666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SVRの原理と特徴  |  17/19</a:t>
            </a:r>
          </a:p>
        </p:txBody>
      </p:sp>
    </p:spTree>
    <p:extLst>
      <p:ext uri="{BB962C8B-B14F-4D97-AF65-F5344CB8AC3E}">
        <p14:creationId xmlns:p14="http://schemas.microsoft.com/office/powerpoint/2010/main" val="181349950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B28CA1B-BA2C-4F0E-B4FF-1A7B11D2F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5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17. 他の回帰モデルとの比較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2A5365-5D71-47EE-A817-ED4B348C9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9525"/>
          </a:xfrm>
          <a:custGeom xmlns:a="http://schemas.openxmlformats.org/drawingml/2006/main"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999999"/>
            </a:solidFill>
            <a:prstDash val="solid"/>
          </a:ln>
        </p:spPr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1095375" y="1285875"/>
          <a:ext xmlns:a="http://schemas.openxmlformats.org/drawingml/2006/main" cx="10001250" cy="3429000"/>
        </p:xfrm>
        <a:graphic xmlns:a="http://schemas.openxmlformats.org/drawingml/2006/main">
          <a:graphicData uri="http://schemas.openxmlformats.org/drawingml/2006/table">
            <a:tbl>
              <a:tblPr firstRow="0" bandRow="0" bandCol="0"/>
              <a:tblGrid>
                <a:gridCol w="3333750"/>
                <a:gridCol w="3333750"/>
                <a:gridCol w="3333750"/>
              </a:tblGrid>
              <a:tr h="5715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00000"/>
                          </a:solidFill>
                          <a:latin typeface="Yu Gothic"/>
                          <a:ea typeface="Yu Gothic"/>
                          <a:cs typeface="Yu Gothic"/>
                        </a:rPr>
                        <a:t>モデル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00000"/>
                          </a:solidFill>
                          <a:latin typeface="Yu Gothic"/>
                          <a:ea typeface="Yu Gothic"/>
                          <a:cs typeface="Yu Gothic"/>
                        </a:rPr>
                        <a:t>得意なこと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00000"/>
                          </a:solidFill>
                          <a:latin typeface="Yu Gothic"/>
                          <a:ea typeface="Yu Gothic"/>
                          <a:cs typeface="Yu Gothic"/>
                        </a:rPr>
                        <a:t>注意点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00000"/>
                          </a:solidFill>
                          <a:latin typeface="Yu Gothic"/>
                          <a:ea typeface="Yu Gothic"/>
                          <a:cs typeface="Yu Gothic"/>
                        </a:rPr>
                        <a:t>線形回帰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00000"/>
                          </a:solidFill>
                          <a:latin typeface="Yu Gothic"/>
                          <a:ea typeface="Yu Gothic"/>
                          <a:cs typeface="Yu Gothic"/>
                        </a:rPr>
                        <a:t>単純で説明しやすい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00000"/>
                          </a:solidFill>
                          <a:latin typeface="Yu Gothic"/>
                          <a:ea typeface="Yu Gothic"/>
                          <a:cs typeface="Yu Gothic"/>
                        </a:rPr>
                        <a:t>非線形に弱い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00000"/>
                          </a:solidFill>
                          <a:latin typeface="Yu Gothic"/>
                          <a:ea typeface="Yu Gothic"/>
                          <a:cs typeface="Yu Gothic"/>
                        </a:rPr>
                        <a:t>決定木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00000"/>
                          </a:solidFill>
                          <a:latin typeface="Yu Gothic"/>
                          <a:ea typeface="Yu Gothic"/>
                          <a:cs typeface="Yu Gothic"/>
                        </a:rPr>
                        <a:t>ルール的に説明しやすい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00000"/>
                          </a:solidFill>
                          <a:latin typeface="Yu Gothic"/>
                          <a:ea typeface="Yu Gothic"/>
                          <a:cs typeface="Yu Gothic"/>
                        </a:rPr>
                        <a:t>過学習しやすい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00000"/>
                          </a:solidFill>
                          <a:latin typeface="Yu Gothic"/>
                          <a:ea typeface="Yu Gothic"/>
                          <a:cs typeface="Yu Gothic"/>
                        </a:rPr>
                        <a:t>ランダムフォレスト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00000"/>
                          </a:solidFill>
                          <a:latin typeface="Yu Gothic"/>
                          <a:ea typeface="Yu Gothic"/>
                          <a:cs typeface="Yu Gothic"/>
                        </a:rPr>
                        <a:t>複雑な関係に強い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00000"/>
                          </a:solidFill>
                          <a:latin typeface="Yu Gothic"/>
                          <a:ea typeface="Yu Gothic"/>
                          <a:cs typeface="Yu Gothic"/>
                        </a:rPr>
                        <a:t>モデルが大きい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00000"/>
                          </a:solidFill>
                          <a:latin typeface="Yu Gothic"/>
                          <a:ea typeface="Yu Gothic"/>
                          <a:cs typeface="Yu Gothic"/>
                        </a:rPr>
                        <a:t>SVR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00000"/>
                          </a:solidFill>
                          <a:latin typeface="Yu Gothic"/>
                          <a:ea typeface="Yu Gothic"/>
                          <a:cs typeface="Yu Gothic"/>
                        </a:rPr>
                        <a:t>小〜中規模の非線形回帰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00000"/>
                          </a:solidFill>
                          <a:latin typeface="Yu Gothic"/>
                          <a:ea typeface="Yu Gothic"/>
                          <a:cs typeface="Yu Gothic"/>
                        </a:rPr>
                        <a:t>調整と標準化が重要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00000"/>
                          </a:solidFill>
                          <a:latin typeface="Yu Gothic"/>
                          <a:ea typeface="Yu Gothic"/>
                          <a:cs typeface="Yu Gothic"/>
                        </a:rPr>
                        <a:t>ニューラルネット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00000"/>
                          </a:solidFill>
                          <a:latin typeface="Yu Gothic"/>
                          <a:ea typeface="Yu Gothic"/>
                          <a:cs typeface="Yu Gothic"/>
                        </a:rPr>
                        <a:t>大規模で複雑な関係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00000"/>
                          </a:solidFill>
                          <a:latin typeface="Yu Gothic"/>
                          <a:ea typeface="Yu Gothic"/>
                          <a:cs typeface="Yu Gothic"/>
                        </a:rPr>
                        <a:t>データと調整が必要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608452-0A73-4D79-8E01-A3AF9B03C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143500"/>
            <a:ext cx="24765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単純なら線形回帰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715536-BC08-4B38-990A-F6E36FFF4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143500"/>
            <a:ext cx="28575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非線形・小〜中規模ならSVR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5B734A-7629-4AB0-9E1F-C22B1FF43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143500"/>
            <a:ext cx="2857500" cy="619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  <p:txBody>
          <a:bodyPr xmlns:a="http://schemas.openxmlformats.org/drawingml/2006/main" lIns="95250" tIns="76200" rIns="952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500" b="0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大規模なら木系やNNも検討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93D08A-9BEE-4902-8C2F-72308F624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25"/>
          </a:xfrm>
          <a:custGeom xmlns:a="http://schemas.openxmlformats.org/drawingml/2006/main"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D01B9F-98C5-44CE-8C58-E810B1282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825" b="0">
                <a:solidFill>
                  <a:srgbClr val="666666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SVRの原理と特徴  |  18/19</a:t>
            </a:r>
          </a:p>
        </p:txBody>
      </p:sp>
    </p:spTree>
    <p:extLst>
      <p:ext uri="{BB962C8B-B14F-4D97-AF65-F5344CB8AC3E}">
        <p14:creationId xmlns:p14="http://schemas.microsoft.com/office/powerpoint/2010/main" val="70642533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970E402-C906-4F28-B8E9-CFF7A6A68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25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18. まとめ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9B09EE-E1FA-4500-9E54-FE223349D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95350"/>
            <a:ext cx="10972800" cy="9525"/>
          </a:xfrm>
          <a:custGeom xmlns:a="http://schemas.openxmlformats.org/drawingml/2006/main"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999999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E74F96-52D4-4C62-936A-5AF34356F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190625"/>
            <a:ext cx="9906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9672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210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SVRは、予測線の周りに許容範囲を作り、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210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そこから外れた重要な点を見ながら、</a:t>
            </a:r>
          </a:p>
          <a:p xmlns:a="http://schemas.openxmlformats.org/drawingml/2006/main">
            <a:pPr algn="ctr">
              <a:lnSpc>
                <a:spcPct val="120000"/>
              </a:lnSpc>
              <a:buNone/>
              <a:defRPr sz="2100" b="1">
                <a:solidFill>
                  <a:srgbClr val="000000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000000"/>
                </a:solidFill>
                <a:latin typeface="Yu Gothic"/>
                <a:ea typeface="Yu Gothic"/>
                <a:cs typeface="Yu Gothic"/>
              </a:rPr>
              <a:t>なめらかで汎化しやすい回帰モデルを作る手法です。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2095500" y="3143250"/>
          <a:ext xmlns:a="http://schemas.openxmlformats.org/drawingml/2006/main" cx="8001000" cy="2286000"/>
        </p:xfrm>
        <a:graphic xmlns:a="http://schemas.openxmlformats.org/drawingml/2006/main">
          <a:graphicData uri="http://schemas.openxmlformats.org/drawingml/2006/table">
            <a:tbl>
              <a:tblPr firstRow="0" bandRow="0" bandCol="0"/>
              <a:tblGrid>
                <a:gridCol w="4000500"/>
                <a:gridCol w="4000500"/>
              </a:tblGrid>
              <a:tr h="38100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00000"/>
                          </a:solidFill>
                          <a:latin typeface="Yu Gothic"/>
                          <a:ea typeface="Yu Gothic"/>
                          <a:cs typeface="Yu Gothic"/>
                        </a:rPr>
                        <a:t>キーワード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000000"/>
                          </a:solidFill>
                          <a:latin typeface="Yu Gothic"/>
                          <a:ea typeface="Yu Gothic"/>
                          <a:cs typeface="Yu Gothic"/>
                        </a:rPr>
                        <a:t>意味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00000"/>
                          </a:solidFill>
                          <a:latin typeface="Yu Gothic"/>
                          <a:ea typeface="Yu Gothic"/>
                          <a:cs typeface="Yu Gothic"/>
                        </a:rPr>
                        <a:t>εチューブ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00000"/>
                          </a:solidFill>
                          <a:latin typeface="Yu Gothic"/>
                          <a:ea typeface="Yu Gothic"/>
                          <a:cs typeface="Yu Gothic"/>
                        </a:rPr>
                        <a:t>小さな誤差を無視する幅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00000"/>
                          </a:solidFill>
                          <a:latin typeface="Yu Gothic"/>
                          <a:ea typeface="Yu Gothic"/>
                          <a:cs typeface="Yu Gothic"/>
                        </a:rPr>
                        <a:t>サポートベクトル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00000"/>
                          </a:solidFill>
                          <a:latin typeface="Yu Gothic"/>
                          <a:ea typeface="Yu Gothic"/>
                          <a:cs typeface="Yu Gothic"/>
                        </a:rPr>
                        <a:t>モデルを決める重要な点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00000"/>
                          </a:solidFill>
                          <a:latin typeface="Yu Gothic"/>
                          <a:ea typeface="Yu Gothic"/>
                          <a:cs typeface="Yu Gothic"/>
                        </a:rPr>
                        <a:t>C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00000"/>
                          </a:solidFill>
                          <a:latin typeface="Yu Gothic"/>
                          <a:ea typeface="Yu Gothic"/>
                          <a:cs typeface="Yu Gothic"/>
                        </a:rPr>
                        <a:t>誤差への厳しさ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00000"/>
                          </a:solidFill>
                          <a:latin typeface="Yu Gothic"/>
                          <a:ea typeface="Yu Gothic"/>
                          <a:cs typeface="Yu Gothic"/>
                        </a:rPr>
                        <a:t>gamma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00000"/>
                          </a:solidFill>
                          <a:latin typeface="Yu Gothic"/>
                          <a:ea typeface="Yu Gothic"/>
                          <a:cs typeface="Yu Gothic"/>
                        </a:rPr>
                        <a:t>RBFでの影響範囲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00000"/>
                          </a:solidFill>
                          <a:latin typeface="Yu Gothic"/>
                          <a:ea typeface="Yu Gothic"/>
                          <a:cs typeface="Yu Gothic"/>
                        </a:rPr>
                        <a:t>カーネル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0">
                          <a:solidFill>
                            <a:srgbClr val="000000"/>
                          </a:solidFill>
                          <a:latin typeface="Yu Gothic"/>
                          <a:ea typeface="Yu Gothic"/>
                          <a:cs typeface="Yu Gothic"/>
                        </a:rPr>
                        <a:t>非線形関係を扱う仕組み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56FFF6-C4CB-4EE9-968C-85DACDC35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972800" cy="9525"/>
          </a:xfrm>
          <a:custGeom xmlns:a="http://schemas.openxmlformats.org/drawingml/2006/main">
            <a:pathLst>
              <a:path w="10972800" h="952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9525">
            <a:solidFill>
              <a:srgbClr val="D0D0D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39AC03-5672-4C04-90D3-51FEA82BE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43650"/>
            <a:ext cx="1097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825" b="0">
                <a:solidFill>
                  <a:srgbClr val="666666"/>
                </a:solidFill>
                <a:latin typeface="Yu Gothic"/>
                <a:ea typeface="Yu Gothic"/>
                <a:cs typeface="Yu Gothic"/>
              </a:defRPr>
            </a:pPr>
            <a:r>
              <a:rPr sz="825" b="0">
                <a:solidFill>
                  <a:srgbClr val="666666"/>
                </a:solidFill>
                <a:latin typeface="Yu Gothic"/>
                <a:ea typeface="Yu Gothic"/>
                <a:cs typeface="Yu Gothic"/>
              </a:rPr>
              <a:t>SVRの原理と特徴  |  19/19</a:t>
            </a:r>
          </a:p>
        </p:txBody>
      </p:sp>
    </p:spTree>
    <p:extLst>
      <p:ext uri="{BB962C8B-B14F-4D97-AF65-F5344CB8AC3E}">
        <p14:creationId xmlns:p14="http://schemas.microsoft.com/office/powerpoint/2010/main" val="10667304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2026-06-16T12:13:07.5050000Z</dcterms:created>
  <dcterms:modified xsi:type="dcterms:W3CDTF">2026-06-16T12:13:07.5050000Z</dcterms:modified>
</coreProperties>
</file>