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4ed908e85b4bb5" /><Relationship Type="http://schemas.openxmlformats.org/officeDocument/2006/relationships/extended-properties" Target="/docProps/app.xml" Id="R09f2b856f3174b13" /><Relationship Type="http://schemas.openxmlformats.org/officeDocument/2006/relationships/officeDocument" Target="/ppt/presentation.xml" Id="R6381077a919b47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a86b8001454356"/>
  </p:sldMasterIdLst>
  <p:notesMasterIdLst>
    <p:notesMasterId xmlns:r="http://schemas.openxmlformats.org/officeDocument/2006/relationships" r:id="R186a02d5f83e4ae0"/>
  </p:notesMasterIdLst>
  <p:sldIdLst>
    <p:sldId xmlns:r="http://schemas.openxmlformats.org/officeDocument/2006/relationships" id="256" r:id="R9e274844d5c74ae4"/>
    <p:sldId xmlns:r="http://schemas.openxmlformats.org/officeDocument/2006/relationships" id="257" r:id="R6640adff32424e4b"/>
    <p:sldId xmlns:r="http://schemas.openxmlformats.org/officeDocument/2006/relationships" id="258" r:id="R30e9d7aaf56a4e87"/>
    <p:sldId xmlns:r="http://schemas.openxmlformats.org/officeDocument/2006/relationships" id="259" r:id="R780a122c0eb6414c"/>
    <p:sldId xmlns:r="http://schemas.openxmlformats.org/officeDocument/2006/relationships" id="260" r:id="Rb8aaeb39cd384138"/>
    <p:sldId xmlns:r="http://schemas.openxmlformats.org/officeDocument/2006/relationships" id="261" r:id="Reecd7fffc2ee498f"/>
    <p:sldId xmlns:r="http://schemas.openxmlformats.org/officeDocument/2006/relationships" id="262" r:id="R53e57afc2f654dd2"/>
    <p:sldId xmlns:r="http://schemas.openxmlformats.org/officeDocument/2006/relationships" id="263" r:id="R89e81ec8ff814200"/>
    <p:sldId xmlns:r="http://schemas.openxmlformats.org/officeDocument/2006/relationships" id="264" r:id="Re8402403815d497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1e9907c3fe4eeb" /><Relationship Type="http://schemas.openxmlformats.org/officeDocument/2006/relationships/slideMaster" Target="/ppt/slideMasters/slideMaster1.xml" Id="Rb7a86b8001454356" /><Relationship Type="http://schemas.openxmlformats.org/officeDocument/2006/relationships/notesMaster" Target="/ppt/notesMasters/notesMaster1.xml" Id="R186a02d5f83e4ae0" /><Relationship Type="http://schemas.openxmlformats.org/officeDocument/2006/relationships/presProps" Target="/ppt/presProps.xml" Id="R139c92ff04434290" /><Relationship Type="http://schemas.openxmlformats.org/officeDocument/2006/relationships/viewProps" Target="/ppt/viewProps.xml" Id="R7c7129f4d4794241" /><Relationship Type="http://schemas.openxmlformats.org/officeDocument/2006/relationships/tableStyles" Target="/ppt/tableStyles.xml" Id="Rb600ff536fba4622" /><Relationship Type="http://schemas.openxmlformats.org/officeDocument/2006/relationships/slide" Target="/ppt/slides/slide1.xml" Id="R9e274844d5c74ae4" /><Relationship Type="http://schemas.openxmlformats.org/officeDocument/2006/relationships/slide" Target="/ppt/slides/slide2.xml" Id="R6640adff32424e4b" /><Relationship Type="http://schemas.openxmlformats.org/officeDocument/2006/relationships/slide" Target="/ppt/slides/slide3.xml" Id="R30e9d7aaf56a4e87" /><Relationship Type="http://schemas.openxmlformats.org/officeDocument/2006/relationships/slide" Target="/ppt/slides/slide4.xml" Id="R780a122c0eb6414c" /><Relationship Type="http://schemas.openxmlformats.org/officeDocument/2006/relationships/slide" Target="/ppt/slides/slide5.xml" Id="Rb8aaeb39cd384138" /><Relationship Type="http://schemas.openxmlformats.org/officeDocument/2006/relationships/slide" Target="/ppt/slides/slide6.xml" Id="Reecd7fffc2ee498f" /><Relationship Type="http://schemas.openxmlformats.org/officeDocument/2006/relationships/slide" Target="/ppt/slides/slide7.xml" Id="R53e57afc2f654dd2" /><Relationship Type="http://schemas.openxmlformats.org/officeDocument/2006/relationships/slide" Target="/ppt/slides/slide8.xml" Id="R89e81ec8ff814200" /><Relationship Type="http://schemas.openxmlformats.org/officeDocument/2006/relationships/slide" Target="/ppt/slides/slide9.xml" Id="Re8402403815d49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fa0cd9a2c947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397fc039af445e" /><Relationship Type="http://schemas.openxmlformats.org/officeDocument/2006/relationships/notesMaster" Target="/ppt/notesMasters/notesMaster1.xml" Id="R9dd0acce943d43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fa765bd1994f3c" /><Relationship Type="http://schemas.openxmlformats.org/officeDocument/2006/relationships/notesMaster" Target="/ppt/notesMasters/notesMaster1.xml" Id="Rb3c288b8165547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0219ff0c604e03" /><Relationship Type="http://schemas.openxmlformats.org/officeDocument/2006/relationships/notesMaster" Target="/ppt/notesMasters/notesMaster1.xml" Id="R20ce8965e12a4f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262563371647b6" /><Relationship Type="http://schemas.openxmlformats.org/officeDocument/2006/relationships/notesMaster" Target="/ppt/notesMasters/notesMaster1.xml" Id="R4d3eb36f213e4a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f85cb7fdb44cf2" /><Relationship Type="http://schemas.openxmlformats.org/officeDocument/2006/relationships/notesMaster" Target="/ppt/notesMasters/notesMaster1.xml" Id="R1f3ce010c15e49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12f92dc71a4cd3" /><Relationship Type="http://schemas.openxmlformats.org/officeDocument/2006/relationships/notesMaster" Target="/ppt/notesMasters/notesMaster1.xml" Id="R0e9bda11e03844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8426bf74d04d8e" /><Relationship Type="http://schemas.openxmlformats.org/officeDocument/2006/relationships/notesMaster" Target="/ppt/notesMasters/notesMaster1.xml" Id="Rf7cc766a9c0f4e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6978fa78234e4e" /><Relationship Type="http://schemas.openxmlformats.org/officeDocument/2006/relationships/notesMaster" Target="/ppt/notesMasters/notesMaster1.xml" Id="Re0ac8e9825fa4f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4b7bd5451b4685" /><Relationship Type="http://schemas.openxmlformats.org/officeDocument/2006/relationships/notesMaster" Target="/ppt/notesMasters/notesMaster1.xml" Id="R7bcdc395e23742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489e09d3644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c8f595edf94876" /><Relationship Type="http://schemas.openxmlformats.org/officeDocument/2006/relationships/slideLayout" Target="/ppt/slideLayouts/slideLayout1.xml" Id="Ra0e5ef59c84b4a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e5ef59c84b4a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d70ee90404bb2" /><Relationship Type="http://schemas.openxmlformats.org/officeDocument/2006/relationships/notesSlide" Target="/ppt/notesSlides/notesSlide1.xml" Id="R86895831b3dd4c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be1f69c4043f2" /><Relationship Type="http://schemas.openxmlformats.org/officeDocument/2006/relationships/notesSlide" Target="/ppt/notesSlides/notesSlide2.xml" Id="Rb538e6b1998844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dc343d561433a" /><Relationship Type="http://schemas.openxmlformats.org/officeDocument/2006/relationships/notesSlide" Target="/ppt/notesSlides/notesSlide3.xml" Id="Ra8c9d5eae23d4a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2eae62bfe4521" /><Relationship Type="http://schemas.openxmlformats.org/officeDocument/2006/relationships/notesSlide" Target="/ppt/notesSlides/notesSlide4.xml" Id="R93f73f621d434c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9129d0d5848ac" /><Relationship Type="http://schemas.openxmlformats.org/officeDocument/2006/relationships/notesSlide" Target="/ppt/notesSlides/notesSlide5.xml" Id="R9b38fa3a5d5547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918ab852744a4" /><Relationship Type="http://schemas.openxmlformats.org/officeDocument/2006/relationships/notesSlide" Target="/ppt/notesSlides/notesSlide6.xml" Id="R5e9625f18ea642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67f77421d4cf8" /><Relationship Type="http://schemas.openxmlformats.org/officeDocument/2006/relationships/notesSlide" Target="/ppt/notesSlides/notesSlide7.xml" Id="Rf5ee7a0a941e4d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ce171f80e44aa" /><Relationship Type="http://schemas.openxmlformats.org/officeDocument/2006/relationships/notesSlide" Target="/ppt/notesSlides/notesSlide8.xml" Id="Rafa7a0df19574b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d8df1b0704b68" /><Relationship Type="http://schemas.openxmlformats.org/officeDocument/2006/relationships/notesSlide" Target="/ppt/notesSlides/notesSlide9.xml" Id="Rce978a4de27449b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7DA4A13-5761-4446-B128-D7C601AE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1B19631-825C-434D-B088-FE9137FF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8"/>
          </a:solidFill>
          <a:ln xmlns:a="http://schemas.openxmlformats.org/drawingml/2006/main" w="0">
            <a:solidFill>
              <a:srgbClr val="C7D0C8"/>
            </a:solidFill>
            <a:prstDash val="solid"/>
          </a:ln>
        </p:spPr>
      </p:sp>
      <p:sp>
        <p:nvSpPr>
          <p:cNvPr id="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7F8D8B1-A36B-4BBF-8929-35B3E822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rPr>
              <a:t>Source: Pythonセミナー第3回次回予告 / scikit-learn docs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06E1F79-6E8B-4893-B680-91BB6CDC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86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64463E5-8AFC-4AB6-B351-FD7FAEF9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644EC38-FD08-47FA-9A68-67857B0C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PYTHON SEMINAR / NEXT PREVIEW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EB5755-2EF0-4D51-B221-BB681FC1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次回予告の語句は「数値を予測する流れ」でつながる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C16E7F4-CBF5-48F0-BC3E-3F2B7EE1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第3回Pythonセミナーの課題用: 意味を調べて、説明できる形に整理</a:t>
            </a:r>
          </a:p>
        </p:txBody>
      </p:sp>
      <p:sp>
        <p:nvSpPr>
          <p:cNvPr id="9" name="main-flow-panel">
            <a:extLst xmlns:a="http://schemas.openxmlformats.org/drawingml/2006/main">
              <a:ext uri="{FF2B5EF4-FFF2-40B4-BE49-F238E27FC236}">
                <a16:creationId xmlns:a16="http://schemas.microsoft.com/office/drawing/2014/main" id="{BA86C0B7-D56B-438D-8F1E-94CC28B9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476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A1F"/>
          </a:solidFill>
          <a:ln xmlns:a="http://schemas.openxmlformats.org/drawingml/2006/main" w="9525">
            <a:solidFill>
              <a:srgbClr val="141A1F"/>
            </a:solidFill>
            <a:prstDash val="solid"/>
          </a:ln>
        </p:spPr>
      </p:sp>
      <p:sp>
        <p:nvSpPr>
          <p:cNvPr id="10" name="main-flow-kicker">
            <a:extLst xmlns:a="http://schemas.openxmlformats.org/drawingml/2006/main">
              <a:ext uri="{FF2B5EF4-FFF2-40B4-BE49-F238E27FC236}">
                <a16:creationId xmlns:a16="http://schemas.microsoft.com/office/drawing/2014/main" id="{554AC4BB-2988-4901-94BC-B7B9A986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385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D8C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BFD8CD"/>
                </a:solidFill>
                <a:latin typeface="Hiragino Sans"/>
                <a:ea typeface="Hiragino Sans"/>
                <a:cs typeface="Hiragino Sans"/>
              </a:rPr>
              <a:t>今回の中心</a:t>
            </a:r>
          </a:p>
        </p:txBody>
      </p:sp>
      <p:sp>
        <p:nvSpPr>
          <p:cNvPr id="11" name="main-flow-title">
            <a:extLst xmlns:a="http://schemas.openxmlformats.org/drawingml/2006/main">
              <a:ext uri="{FF2B5EF4-FFF2-40B4-BE49-F238E27FC236}">
                <a16:creationId xmlns:a16="http://schemas.microsoft.com/office/drawing/2014/main" id="{254C84D9-7900-4933-BB82-54F8300B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MEDVのような</a:t>
            </a:r>
          </a:p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数値を予測する</a:t>
            </a:r>
          </a:p>
        </p:txBody>
      </p:sp>
      <p:sp>
        <p:nvSpPr>
          <p:cNvPr id="12" name="main-flow-note">
            <a:extLst xmlns:a="http://schemas.openxmlformats.org/drawingml/2006/main">
              <a:ext uri="{FF2B5EF4-FFF2-40B4-BE49-F238E27FC236}">
                <a16:creationId xmlns:a16="http://schemas.microsoft.com/office/drawing/2014/main" id="{F5CCF072-D77C-4EBF-B1DE-228E8DB6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3762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rPr>
              <a:t>説明変数を準備し、回帰モデルを選び、予測精度を比べる。</a:t>
            </a:r>
          </a:p>
        </p:txBody>
      </p:sp>
      <p:sp>
        <p:nvSpPr>
          <p:cNvPr id="13" name="dot-回帰">
            <a:extLst xmlns:a="http://schemas.openxmlformats.org/drawingml/2006/main">
              <a:ext uri="{FF2B5EF4-FFF2-40B4-BE49-F238E27FC236}">
                <a16:creationId xmlns:a16="http://schemas.microsoft.com/office/drawing/2014/main" id="{04A51634-4E74-4E62-B423-DAD0583C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0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14" name="pill-回帰">
            <a:extLst xmlns:a="http://schemas.openxmlformats.org/drawingml/2006/main">
              <a:ext uri="{FF2B5EF4-FFF2-40B4-BE49-F238E27FC236}">
                <a16:creationId xmlns:a16="http://schemas.microsoft.com/office/drawing/2014/main" id="{464E0AD5-67C8-41BB-99AC-C382EEB0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764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5E"/>
            </a:solidFill>
            <a:prstDash val="solid"/>
          </a:ln>
        </p:spPr>
      </p:sp>
      <p:sp>
        <p:nvSpPr>
          <p:cNvPr id="15" name="pill-label-回帰">
            <a:extLst xmlns:a="http://schemas.openxmlformats.org/drawingml/2006/main">
              <a:ext uri="{FF2B5EF4-FFF2-40B4-BE49-F238E27FC236}">
                <a16:creationId xmlns:a16="http://schemas.microsoft.com/office/drawing/2014/main" id="{6455B25F-D28D-4DED-94F4-77EACE15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2143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回帰</a:t>
            </a:r>
          </a:p>
        </p:txBody>
      </p:sp>
      <p:sp>
        <p:nvSpPr>
          <p:cNvPr id="16" name="dot-線形">
            <a:extLst xmlns:a="http://schemas.openxmlformats.org/drawingml/2006/main">
              <a:ext uri="{FF2B5EF4-FFF2-40B4-BE49-F238E27FC236}">
                <a16:creationId xmlns:a16="http://schemas.microsoft.com/office/drawing/2014/main" id="{2366727B-A3A5-4616-8898-9B75F656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0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9C"/>
          </a:solidFill>
          <a:ln xmlns:a="http://schemas.openxmlformats.org/drawingml/2006/main" w="0">
            <a:solidFill>
              <a:srgbClr val="315E9C"/>
            </a:solidFill>
            <a:prstDash val="solid"/>
          </a:ln>
        </p:spPr>
      </p:sp>
      <p:sp>
        <p:nvSpPr>
          <p:cNvPr id="17" name="pill-線形">
            <a:extLst xmlns:a="http://schemas.openxmlformats.org/drawingml/2006/main">
              <a:ext uri="{FF2B5EF4-FFF2-40B4-BE49-F238E27FC236}">
                <a16:creationId xmlns:a16="http://schemas.microsoft.com/office/drawing/2014/main" id="{F31A3BAF-4C01-4E44-9A5C-CFD84BBC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E9C"/>
            </a:solidFill>
            <a:prstDash val="solid"/>
          </a:ln>
        </p:spPr>
      </p:sp>
      <p:sp>
        <p:nvSpPr>
          <p:cNvPr id="18" name="pill-label-線形">
            <a:extLst xmlns:a="http://schemas.openxmlformats.org/drawingml/2006/main">
              <a:ext uri="{FF2B5EF4-FFF2-40B4-BE49-F238E27FC236}">
                <a16:creationId xmlns:a16="http://schemas.microsoft.com/office/drawing/2014/main" id="{4A857B69-2F70-40C9-B1C0-15494389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2143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rPr>
              <a:t>線形</a:t>
            </a:r>
          </a:p>
        </p:txBody>
      </p:sp>
      <p:sp>
        <p:nvSpPr>
          <p:cNvPr id="19" name="dot-オートスケーリング">
            <a:extLst xmlns:a="http://schemas.openxmlformats.org/drawingml/2006/main">
              <a:ext uri="{FF2B5EF4-FFF2-40B4-BE49-F238E27FC236}">
                <a16:creationId xmlns:a16="http://schemas.microsoft.com/office/drawing/2014/main" id="{37AAAD3C-A764-47EF-B921-4574D534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5B37"/>
          </a:solidFill>
          <a:ln xmlns:a="http://schemas.openxmlformats.org/drawingml/2006/main" w="0">
            <a:solidFill>
              <a:srgbClr val="D45B37"/>
            </a:solidFill>
            <a:prstDash val="solid"/>
          </a:ln>
        </p:spPr>
      </p:sp>
      <p:sp>
        <p:nvSpPr>
          <p:cNvPr id="20" name="pill-オートスケーリング">
            <a:extLst xmlns:a="http://schemas.openxmlformats.org/drawingml/2006/main">
              <a:ext uri="{FF2B5EF4-FFF2-40B4-BE49-F238E27FC236}">
                <a16:creationId xmlns:a16="http://schemas.microsoft.com/office/drawing/2014/main" id="{2E195294-7707-4486-BFC4-BD2D3ADB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432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5B37"/>
            </a:solidFill>
            <a:prstDash val="solid"/>
          </a:ln>
        </p:spPr>
      </p:sp>
      <p:sp>
        <p:nvSpPr>
          <p:cNvPr id="21" name="pill-label-オートスケーリング">
            <a:extLst xmlns:a="http://schemas.openxmlformats.org/drawingml/2006/main">
              <a:ext uri="{FF2B5EF4-FFF2-40B4-BE49-F238E27FC236}">
                <a16:creationId xmlns:a16="http://schemas.microsoft.com/office/drawing/2014/main" id="{6BED5C9C-5A4F-4322-9136-B3F7729C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81350"/>
            <a:ext cx="2143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rPr>
              <a:t>オートスケーリング</a:t>
            </a:r>
          </a:p>
        </p:txBody>
      </p:sp>
      <p:sp>
        <p:nvSpPr>
          <p:cNvPr id="22" name="dot-過学習">
            <a:extLst xmlns:a="http://schemas.openxmlformats.org/drawingml/2006/main">
              <a:ext uri="{FF2B5EF4-FFF2-40B4-BE49-F238E27FC236}">
                <a16:creationId xmlns:a16="http://schemas.microsoft.com/office/drawing/2014/main" id="{E489B7F0-4648-43D5-812D-DD8E1D59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23" name="pill-過学習">
            <a:extLst xmlns:a="http://schemas.openxmlformats.org/drawingml/2006/main">
              <a:ext uri="{FF2B5EF4-FFF2-40B4-BE49-F238E27FC236}">
                <a16:creationId xmlns:a16="http://schemas.microsoft.com/office/drawing/2014/main" id="{F36314FF-F014-4CD4-B793-0B50B87F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24" name="pill-label-過学習">
            <a:extLst xmlns:a="http://schemas.openxmlformats.org/drawingml/2006/main">
              <a:ext uri="{FF2B5EF4-FFF2-40B4-BE49-F238E27FC236}">
                <a16:creationId xmlns:a16="http://schemas.microsoft.com/office/drawing/2014/main" id="{1FEFE543-D7D3-4DEB-9CDB-B2C6214C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81350"/>
            <a:ext cx="2143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A441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D9A441"/>
                </a:solidFill>
                <a:latin typeface="Hiragino Sans"/>
                <a:ea typeface="Hiragino Sans"/>
                <a:cs typeface="Hiragino Sans"/>
              </a:rPr>
              <a:t>過学習</a:t>
            </a:r>
          </a:p>
        </p:txBody>
      </p:sp>
      <p:sp>
        <p:nvSpPr>
          <p:cNvPr id="25" name="dot-次元圧縮">
            <a:extLst xmlns:a="http://schemas.openxmlformats.org/drawingml/2006/main">
              <a:ext uri="{FF2B5EF4-FFF2-40B4-BE49-F238E27FC236}">
                <a16:creationId xmlns:a16="http://schemas.microsoft.com/office/drawing/2014/main" id="{D135EA3F-553D-46BE-87A5-9AD2A892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33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AA6"/>
          </a:solidFill>
          <a:ln xmlns:a="http://schemas.openxmlformats.org/drawingml/2006/main" w="0">
            <a:solidFill>
              <a:srgbClr val="7A5AA6"/>
            </a:solidFill>
            <a:prstDash val="solid"/>
          </a:ln>
        </p:spPr>
      </p:sp>
      <p:sp>
        <p:nvSpPr>
          <p:cNvPr id="26" name="pill-次元圧縮">
            <a:extLst xmlns:a="http://schemas.openxmlformats.org/drawingml/2006/main">
              <a:ext uri="{FF2B5EF4-FFF2-40B4-BE49-F238E27FC236}">
                <a16:creationId xmlns:a16="http://schemas.microsoft.com/office/drawing/2014/main" id="{5B0F1DB0-C7B4-45ED-A8E3-4DDC0621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100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A5AA6"/>
            </a:solidFill>
            <a:prstDash val="solid"/>
          </a:ln>
        </p:spPr>
      </p:sp>
      <p:sp>
        <p:nvSpPr>
          <p:cNvPr id="27" name="pill-label-次元圧縮">
            <a:extLst xmlns:a="http://schemas.openxmlformats.org/drawingml/2006/main">
              <a:ext uri="{FF2B5EF4-FFF2-40B4-BE49-F238E27FC236}">
                <a16:creationId xmlns:a16="http://schemas.microsoft.com/office/drawing/2014/main" id="{CF6D3EDA-5867-4028-B1FA-2E1644FA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48150"/>
            <a:ext cx="2143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A5AA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7A5AA6"/>
                </a:solidFill>
                <a:latin typeface="Hiragino Sans"/>
                <a:ea typeface="Hiragino Sans"/>
                <a:cs typeface="Hiragino Sans"/>
              </a:rPr>
              <a:t>次元圧縮</a:t>
            </a:r>
          </a:p>
        </p:txBody>
      </p:sp>
      <p:sp>
        <p:nvSpPr>
          <p:cNvPr id="28" name="dot-ハイパーパラメータ">
            <a:extLst xmlns:a="http://schemas.openxmlformats.org/drawingml/2006/main">
              <a:ext uri="{FF2B5EF4-FFF2-40B4-BE49-F238E27FC236}">
                <a16:creationId xmlns:a16="http://schemas.microsoft.com/office/drawing/2014/main" id="{B7C1F1F2-82D5-4A88-87B2-EF35E6E8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29" name="pill-ハイパーパラメータ">
            <a:extLst xmlns:a="http://schemas.openxmlformats.org/drawingml/2006/main">
              <a:ext uri="{FF2B5EF4-FFF2-40B4-BE49-F238E27FC236}">
                <a16:creationId xmlns:a16="http://schemas.microsoft.com/office/drawing/2014/main" id="{6BEC0106-82F0-49AC-BBAC-D4D68387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100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5E"/>
            </a:solidFill>
            <a:prstDash val="solid"/>
          </a:ln>
        </p:spPr>
      </p:sp>
      <p:sp>
        <p:nvSpPr>
          <p:cNvPr id="30" name="pill-label-ハイパーパラメータ">
            <a:extLst xmlns:a="http://schemas.openxmlformats.org/drawingml/2006/main">
              <a:ext uri="{FF2B5EF4-FFF2-40B4-BE49-F238E27FC236}">
                <a16:creationId xmlns:a16="http://schemas.microsoft.com/office/drawing/2014/main" id="{C82919AE-AD4A-4BD1-A5DB-70E42882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48150"/>
            <a:ext cx="2143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ハイパーパラメータ</a:t>
            </a:r>
          </a:p>
        </p:txBody>
      </p:sp>
      <p:sp>
        <p:nvSpPr>
          <p:cNvPr id="31" name="scope-note">
            <a:extLst xmlns:a="http://schemas.openxmlformats.org/drawingml/2006/main">
              <a:ext uri="{FF2B5EF4-FFF2-40B4-BE49-F238E27FC236}">
                <a16:creationId xmlns:a16="http://schemas.microsoft.com/office/drawing/2014/main" id="{BB807DD1-02B5-400D-9523-C1A7862B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34000"/>
            <a:ext cx="512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この資料では、6語の意味に加えて、最小二乗法・Lasso回帰・PLS回帰も補助的に整理します。</a:t>
            </a:r>
          </a:p>
        </p:txBody>
      </p:sp>
    </p:spTree>
    <p:extLst>
      <p:ext uri="{BB962C8B-B14F-4D97-AF65-F5344CB8AC3E}">
        <p14:creationId xmlns:p14="http://schemas.microsoft.com/office/powerpoint/2010/main" val="498786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25E8A04-0347-4D75-A477-E83DDF57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9A35C93-3303-499B-8778-D0E63AF9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8"/>
          </a:solidFill>
          <a:ln xmlns:a="http://schemas.openxmlformats.org/drawingml/2006/main" w="0">
            <a:solidFill>
              <a:srgbClr val="C7D0C8"/>
            </a:solidFill>
            <a:prstDash val="solid"/>
          </a:ln>
        </p:spPr>
      </p:sp>
      <p:sp>
        <p:nvSpPr>
          <p:cNvPr id="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6106EE08-9F36-4213-B0B9-940B39C8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rPr>
              <a:t>Source: Pythonセミナー第3回次回予告 / scikit-learn docs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36E9E31-7A72-4BA7-A15C-3C043CC5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86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487F3DE-F574-497C-9EC8-835FABE7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197F4C8-705B-4C8F-8414-AF437E5D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BASIC IDEA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DC777E-91B6-4310-BF48-466A1496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回帰と線形は、数値を当てるための土台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48F4B91-6BD1-4221-B260-096FBE07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まず「何を予測するか」と「どう表すか」を分けて考える。</a:t>
            </a:r>
          </a:p>
        </p:txBody>
      </p:sp>
      <p:sp>
        <p:nvSpPr>
          <p:cNvPr id="9" name="panel-回帰">
            <a:extLst xmlns:a="http://schemas.openxmlformats.org/drawingml/2006/main">
              <a:ext uri="{FF2B5EF4-FFF2-40B4-BE49-F238E27FC236}">
                <a16:creationId xmlns:a16="http://schemas.microsoft.com/office/drawing/2014/main" id="{4AC5D6AD-5BE3-42F2-A6DF-3990F45D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3476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0" name="panel-accent-回帰">
            <a:extLst xmlns:a="http://schemas.openxmlformats.org/drawingml/2006/main">
              <a:ext uri="{FF2B5EF4-FFF2-40B4-BE49-F238E27FC236}">
                <a16:creationId xmlns:a16="http://schemas.microsoft.com/office/drawing/2014/main" id="{54B8C876-374B-4886-96DF-E110EA24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11" name="term-回帰">
            <a:extLst xmlns:a="http://schemas.openxmlformats.org/drawingml/2006/main">
              <a:ext uri="{FF2B5EF4-FFF2-40B4-BE49-F238E27FC236}">
                <a16:creationId xmlns:a16="http://schemas.microsoft.com/office/drawing/2014/main" id="{A6158CE1-ABBE-47AB-8864-5D193B33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3076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回帰</a:t>
            </a:r>
          </a:p>
        </p:txBody>
      </p:sp>
      <p:sp>
        <p:nvSpPr>
          <p:cNvPr id="12" name="one-回帰">
            <a:extLst xmlns:a="http://schemas.openxmlformats.org/drawingml/2006/main">
              <a:ext uri="{FF2B5EF4-FFF2-40B4-BE49-F238E27FC236}">
                <a16:creationId xmlns:a16="http://schemas.microsoft.com/office/drawing/2014/main" id="{0D0A108D-FDC7-4943-8A93-1EC308B8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3076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連続した数値を予測すること</a:t>
            </a:r>
          </a:p>
        </p:txBody>
      </p:sp>
      <p:sp>
        <p:nvSpPr>
          <p:cNvPr id="13" name="detail-回帰">
            <a:extLst xmlns:a="http://schemas.openxmlformats.org/drawingml/2006/main">
              <a:ext uri="{FF2B5EF4-FFF2-40B4-BE49-F238E27FC236}">
                <a16:creationId xmlns:a16="http://schemas.microsoft.com/office/drawing/2014/main" id="{CB141251-DA77-4216-978A-E3270E58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30765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例: 部屋数・犯罪率・税率などの特徴量から、MEDVという住宅価格の値を予測する。分類のように「AかBか」を当てるのではなく、24.0のような数値を出す。</a:t>
            </a:r>
          </a:p>
        </p:txBody>
      </p:sp>
      <p:sp>
        <p:nvSpPr>
          <p:cNvPr id="14" name="panel-線形">
            <a:extLst xmlns:a="http://schemas.openxmlformats.org/drawingml/2006/main">
              <a:ext uri="{FF2B5EF4-FFF2-40B4-BE49-F238E27FC236}">
                <a16:creationId xmlns:a16="http://schemas.microsoft.com/office/drawing/2014/main" id="{65A9850C-4A5D-41FC-B49C-86B842AD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3476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5" name="panel-accent-線形">
            <a:extLst xmlns:a="http://schemas.openxmlformats.org/drawingml/2006/main">
              <a:ext uri="{FF2B5EF4-FFF2-40B4-BE49-F238E27FC236}">
                <a16:creationId xmlns:a16="http://schemas.microsoft.com/office/drawing/2014/main" id="{A829E589-DE47-4C6D-93E2-07A23F9A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C"/>
          </a:solidFill>
          <a:ln xmlns:a="http://schemas.openxmlformats.org/drawingml/2006/main" w="0">
            <a:solidFill>
              <a:srgbClr val="315E9C"/>
            </a:solidFill>
            <a:prstDash val="solid"/>
          </a:ln>
        </p:spPr>
      </p:sp>
      <p:sp>
        <p:nvSpPr>
          <p:cNvPr id="16" name="term-線形">
            <a:extLst xmlns:a="http://schemas.openxmlformats.org/drawingml/2006/main">
              <a:ext uri="{FF2B5EF4-FFF2-40B4-BE49-F238E27FC236}">
                <a16:creationId xmlns:a16="http://schemas.microsoft.com/office/drawing/2014/main" id="{1820586D-9339-4802-9D6F-F031AA07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19325"/>
            <a:ext cx="3076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rPr>
              <a:t>線形</a:t>
            </a:r>
          </a:p>
        </p:txBody>
      </p:sp>
      <p:sp>
        <p:nvSpPr>
          <p:cNvPr id="17" name="one-線形">
            <a:extLst xmlns:a="http://schemas.openxmlformats.org/drawingml/2006/main">
              <a:ext uri="{FF2B5EF4-FFF2-40B4-BE49-F238E27FC236}">
                <a16:creationId xmlns:a16="http://schemas.microsoft.com/office/drawing/2014/main" id="{15282A17-B998-4B71-9E15-C6EA54BB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00325"/>
            <a:ext cx="3076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足し算と掛け算で表せる関係</a:t>
            </a:r>
          </a:p>
        </p:txBody>
      </p:sp>
      <p:sp>
        <p:nvSpPr>
          <p:cNvPr id="18" name="detail-線形">
            <a:extLst xmlns:a="http://schemas.openxmlformats.org/drawingml/2006/main">
              <a:ext uri="{FF2B5EF4-FFF2-40B4-BE49-F238E27FC236}">
                <a16:creationId xmlns:a16="http://schemas.microsoft.com/office/drawing/2014/main" id="{81922E20-2E90-484E-867E-1346FCC8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48000"/>
            <a:ext cx="30765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特徴量それぞれに重みをかけて足す形。グラフでは直線や平面として表せるので、モデルの中身を説明しやすい。</a:t>
            </a:r>
          </a:p>
        </p:txBody>
      </p:sp>
      <p:sp>
        <p:nvSpPr>
          <p:cNvPr id="19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79817E3A-A7BF-4459-8829-81E5B9BB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20" name="formula-kicker">
            <a:extLst xmlns:a="http://schemas.openxmlformats.org/drawingml/2006/main">
              <a:ext uri="{FF2B5EF4-FFF2-40B4-BE49-F238E27FC236}">
                <a16:creationId xmlns:a16="http://schemas.microsoft.com/office/drawing/2014/main" id="{3A99672B-3982-4A7B-BBD5-D705E986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24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FD8C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BFD8CD"/>
                </a:solidFill>
                <a:latin typeface="Hiragino Sans"/>
                <a:ea typeface="Hiragino Sans"/>
                <a:cs typeface="Hiragino Sans"/>
              </a:rPr>
              <a:t>線形モデルの形</a:t>
            </a:r>
          </a:p>
        </p:txBody>
      </p:sp>
      <p:sp>
        <p:nvSpPr>
          <p:cNvPr id="21" name="formula-main">
            <a:extLst xmlns:a="http://schemas.openxmlformats.org/drawingml/2006/main">
              <a:ext uri="{FF2B5EF4-FFF2-40B4-BE49-F238E27FC236}">
                <a16:creationId xmlns:a16="http://schemas.microsoft.com/office/drawing/2014/main" id="{CEA2B0E4-253D-42BE-B0D7-10A8EF33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813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y = w1x1 + w2x2 + b</a:t>
            </a:r>
          </a:p>
        </p:txBody>
      </p:sp>
      <p:sp>
        <p:nvSpPr>
          <p:cNvPr id="22" name="formula-labels">
            <a:extLst xmlns:a="http://schemas.openxmlformats.org/drawingml/2006/main">
              <a:ext uri="{FF2B5EF4-FFF2-40B4-BE49-F238E27FC236}">
                <a16:creationId xmlns:a16="http://schemas.microsoft.com/office/drawing/2014/main" id="{1E6E0162-366C-4BEE-8F12-EF0C0F2B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305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rPr>
              <a:t>y: 予測したい数値</a:t>
            </a:r>
          </a:p>
          <a:p xmlns:a="http://schemas.openxmlformats.org/drawingml/2006/main">
            <a:pPr algn="l">
              <a:defRPr sz="1350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rPr>
              <a:t>x: 特徴量</a:t>
            </a:r>
          </a:p>
          <a:p xmlns:a="http://schemas.openxmlformats.org/drawingml/2006/main">
            <a:pPr algn="l">
              <a:defRPr sz="1350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rPr>
              <a:t>w: 影響の強さ</a:t>
            </a:r>
          </a:p>
        </p:txBody>
      </p:sp>
      <p:sp>
        <p:nvSpPr>
          <p:cNvPr id="23" name="memory-line">
            <a:extLst xmlns:a="http://schemas.openxmlformats.org/drawingml/2006/main">
              <a:ext uri="{FF2B5EF4-FFF2-40B4-BE49-F238E27FC236}">
                <a16:creationId xmlns:a16="http://schemas.microsoft.com/office/drawing/2014/main" id="{28156867-4721-4F8F-B3B3-E64C3337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10048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4"/>
          </a:solidFill>
          <a:ln xmlns:a="http://schemas.openxmlformats.org/drawingml/2006/main" w="0">
            <a:solidFill>
              <a:srgbClr val="E3E9E4"/>
            </a:solidFill>
            <a:prstDash val="solid"/>
          </a:ln>
        </p:spPr>
        <p:txBody>
          <a:bodyPr xmlns:a="http://schemas.openxmlformats.org/drawingml/2006/main" lIns="209550" tIns="114300" rIns="171450" bIns="952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覚え方: 回帰は「数値を予測する問題」、線形は「まっすぐな足し算モデル」。</a:t>
            </a:r>
          </a:p>
        </p:txBody>
      </p:sp>
    </p:spTree>
    <p:extLst>
      <p:ext uri="{BB962C8B-B14F-4D97-AF65-F5344CB8AC3E}">
        <p14:creationId xmlns:p14="http://schemas.microsoft.com/office/powerpoint/2010/main" val="1472073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1447F29-29E2-4D7B-BBB5-03B5A525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F6CF3A-5CE0-4948-965D-C40E0A20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8"/>
          </a:solidFill>
          <a:ln xmlns:a="http://schemas.openxmlformats.org/drawingml/2006/main" w="0">
            <a:solidFill>
              <a:srgbClr val="C7D0C8"/>
            </a:solidFill>
            <a:prstDash val="solid"/>
          </a:ln>
        </p:spPr>
      </p:sp>
      <p:sp>
        <p:nvSpPr>
          <p:cNvPr id="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3B5E0CB-2A33-4106-90E0-FE6AA2FA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rPr>
              <a:t>Source: scikit-learn LinearRegression / Lasso docs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3E1E67C-01F5-4C7C-A3F5-B7B9EF0A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86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1364285-ED32-4008-898A-6C0AFB97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9C"/>
          </a:solidFill>
          <a:ln xmlns:a="http://schemas.openxmlformats.org/drawingml/2006/main" w="0">
            <a:solidFill>
              <a:srgbClr val="315E9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D3124A4-451F-44E1-970D-5F92854A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rPr>
              <a:t>LINEAR REGRESSION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21C296-3D03-4418-84BC-B7377B80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線形回帰と最小二乗法は、点に一番よく合う直線を選ぶ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EE25E42-F4D1-481A-AB6C-90575D8A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直線からのズレを「誤差」と考え、その二乗の合計が小さくなるように学習する。</a:t>
            </a:r>
          </a:p>
        </p:txBody>
      </p:sp>
      <p:sp>
        <p:nvSpPr>
          <p:cNvPr id="9" name="definition-panel">
            <a:extLst xmlns:a="http://schemas.openxmlformats.org/drawingml/2006/main">
              <a:ext uri="{FF2B5EF4-FFF2-40B4-BE49-F238E27FC236}">
                <a16:creationId xmlns:a16="http://schemas.microsoft.com/office/drawing/2014/main" id="{32F7EDC3-FBE7-466C-93D7-49778C1C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0" name="linear-title">
            <a:extLst xmlns:a="http://schemas.openxmlformats.org/drawingml/2006/main">
              <a:ext uri="{FF2B5EF4-FFF2-40B4-BE49-F238E27FC236}">
                <a16:creationId xmlns:a16="http://schemas.microsoft.com/office/drawing/2014/main" id="{1E57B53D-3CE7-4866-9CC2-47A2FAB7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rPr>
              <a:t>線形回帰モデル</a:t>
            </a:r>
          </a:p>
        </p:txBody>
      </p:sp>
      <p:sp>
        <p:nvSpPr>
          <p:cNvPr id="11" name="linear-body">
            <a:extLst xmlns:a="http://schemas.openxmlformats.org/drawingml/2006/main">
              <a:ext uri="{FF2B5EF4-FFF2-40B4-BE49-F238E27FC236}">
                <a16:creationId xmlns:a16="http://schemas.microsoft.com/office/drawing/2014/main" id="{BF7760C2-0343-4401-B4C3-CC819CA1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特徴量の重みを学習し、予測値を出すモデル。</a:t>
            </a:r>
          </a:p>
          <a:p xmlns:a="http://schemas.openxmlformats.org/drawingml/2006/main">
            <a:pPr algn="l">
              <a:defRPr sz="14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各重みを見ると「どの特徴量が効いたか」を説明しやすい。</a:t>
            </a:r>
          </a:p>
        </p:txBody>
      </p:sp>
      <p:sp>
        <p:nvSpPr>
          <p:cNvPr id="12" name="ols-title">
            <a:extLst xmlns:a="http://schemas.openxmlformats.org/drawingml/2006/main">
              <a:ext uri="{FF2B5EF4-FFF2-40B4-BE49-F238E27FC236}">
                <a16:creationId xmlns:a16="http://schemas.microsoft.com/office/drawing/2014/main" id="{441B907C-1340-4B88-8267-F58714CF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rPr>
              <a:t>最小二乗法</a:t>
            </a:r>
          </a:p>
        </p:txBody>
      </p:sp>
      <p:sp>
        <p:nvSpPr>
          <p:cNvPr id="13" name="ols-body">
            <a:extLst xmlns:a="http://schemas.openxmlformats.org/drawingml/2006/main">
              <a:ext uri="{FF2B5EF4-FFF2-40B4-BE49-F238E27FC236}">
                <a16:creationId xmlns:a16="http://schemas.microsoft.com/office/drawing/2014/main" id="{C17E894E-B1A1-402D-8CF6-8AA5ED93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誤差の二乗を全部足し、その合計が最小になる直線を探す方法。</a:t>
            </a:r>
          </a:p>
        </p:txBody>
      </p:sp>
      <p:sp>
        <p:nvSpPr>
          <p:cNvPr id="14" name="plot-panel">
            <a:extLst xmlns:a="http://schemas.openxmlformats.org/drawingml/2006/main">
              <a:ext uri="{FF2B5EF4-FFF2-40B4-BE49-F238E27FC236}">
                <a16:creationId xmlns:a16="http://schemas.microsoft.com/office/drawing/2014/main" id="{58F8E2F2-12E5-46BD-B9EE-DDC3E5AE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00250"/>
            <a:ext cx="4905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5" name="x-axis">
            <a:extLst xmlns:a="http://schemas.openxmlformats.org/drawingml/2006/main">
              <a:ext uri="{FF2B5EF4-FFF2-40B4-BE49-F238E27FC236}">
                <a16:creationId xmlns:a16="http://schemas.microsoft.com/office/drawing/2014/main" id="{A651E703-65A3-4D36-929E-0D9CB54C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0125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5A0"/>
          </a:solidFill>
          <a:ln xmlns:a="http://schemas.openxmlformats.org/drawingml/2006/main" w="0">
            <a:solidFill>
              <a:srgbClr val="9AA5A0"/>
            </a:solidFill>
            <a:prstDash val="solid"/>
          </a:ln>
        </p:spPr>
      </p:sp>
      <p:sp>
        <p:nvSpPr>
          <p:cNvPr id="16" name="y-axis">
            <a:extLst xmlns:a="http://schemas.openxmlformats.org/drawingml/2006/main">
              <a:ext uri="{FF2B5EF4-FFF2-40B4-BE49-F238E27FC236}">
                <a16:creationId xmlns:a16="http://schemas.microsoft.com/office/drawing/2014/main" id="{E929F525-4904-4553-9412-36F82E89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190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5A0"/>
          </a:solidFill>
          <a:ln xmlns:a="http://schemas.openxmlformats.org/drawingml/2006/main" w="0">
            <a:solidFill>
              <a:srgbClr val="9AA5A0"/>
            </a:solidFill>
            <a:prstDash val="solid"/>
          </a:ln>
        </p:spPr>
      </p:sp>
      <p:sp>
        <p:nvSpPr>
          <p:cNvPr id="17" name="plot-x-label">
            <a:extLst xmlns:a="http://schemas.openxmlformats.org/drawingml/2006/main">
              <a:ext uri="{FF2B5EF4-FFF2-40B4-BE49-F238E27FC236}">
                <a16:creationId xmlns:a16="http://schemas.microsoft.com/office/drawing/2014/main" id="{F8DC0B08-8A42-48F6-B40A-0F8EA884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8768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特徴量が大きいほど、予測値も増える例</a:t>
            </a:r>
          </a:p>
        </p:txBody>
      </p:sp>
      <p:sp>
        <p:nvSpPr>
          <p:cNvPr id="18" name="plot-y-label">
            <a:extLst xmlns:a="http://schemas.openxmlformats.org/drawingml/2006/main">
              <a:ext uri="{FF2B5EF4-FFF2-40B4-BE49-F238E27FC236}">
                <a16:creationId xmlns:a16="http://schemas.microsoft.com/office/drawing/2014/main" id="{DDB0260F-0FA7-43B3-8ED3-D75A50A3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431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MEDV</a:t>
            </a:r>
          </a:p>
        </p:txBody>
      </p:sp>
      <p:sp>
        <p:nvSpPr>
          <p:cNvPr id="19" name="residual-0">
            <a:extLst xmlns:a="http://schemas.openxmlformats.org/drawingml/2006/main">
              <a:ext uri="{FF2B5EF4-FFF2-40B4-BE49-F238E27FC236}">
                <a16:creationId xmlns:a16="http://schemas.microsoft.com/office/drawing/2014/main" id="{F3E13A5B-5B41-4481-9C55-5CF94CC7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1340" y="4200525"/>
            <a:ext cx="19050" cy="78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B37"/>
          </a:solidFill>
          <a:ln xmlns:a="http://schemas.openxmlformats.org/drawingml/2006/main" w="0">
            <a:solidFill>
              <a:srgbClr val="D45B37"/>
            </a:solidFill>
            <a:prstDash val="solid"/>
          </a:ln>
        </p:spPr>
      </p:sp>
      <p:sp>
        <p:nvSpPr>
          <p:cNvPr id="20" name="point-0">
            <a:extLst xmlns:a="http://schemas.openxmlformats.org/drawingml/2006/main">
              <a:ext uri="{FF2B5EF4-FFF2-40B4-BE49-F238E27FC236}">
                <a16:creationId xmlns:a16="http://schemas.microsoft.com/office/drawing/2014/main" id="{8D342928-D353-43FA-B48A-517252B9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715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A1F"/>
          </a:solidFill>
          <a:ln xmlns:a="http://schemas.openxmlformats.org/drawingml/2006/main" w="0">
            <a:solidFill>
              <a:srgbClr val="141A1F"/>
            </a:solidFill>
            <a:prstDash val="solid"/>
          </a:ln>
        </p:spPr>
      </p:sp>
      <p:sp>
        <p:nvSpPr>
          <p:cNvPr id="21" name="residual-1">
            <a:extLst xmlns:a="http://schemas.openxmlformats.org/drawingml/2006/main">
              <a:ext uri="{FF2B5EF4-FFF2-40B4-BE49-F238E27FC236}">
                <a16:creationId xmlns:a16="http://schemas.microsoft.com/office/drawing/2014/main" id="{80EBFB87-C801-4E19-8331-2152292E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565" y="3920490"/>
            <a:ext cx="19050" cy="2144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B37"/>
          </a:solidFill>
          <a:ln xmlns:a="http://schemas.openxmlformats.org/drawingml/2006/main" w="0">
            <a:solidFill>
              <a:srgbClr val="D45B37"/>
            </a:solidFill>
            <a:prstDash val="solid"/>
          </a:ln>
        </p:spPr>
      </p:sp>
      <p:sp>
        <p:nvSpPr>
          <p:cNvPr id="22" name="point-1">
            <a:extLst xmlns:a="http://schemas.openxmlformats.org/drawingml/2006/main">
              <a:ext uri="{FF2B5EF4-FFF2-40B4-BE49-F238E27FC236}">
                <a16:creationId xmlns:a16="http://schemas.microsoft.com/office/drawing/2014/main" id="{709664F8-AC19-49C4-B3D7-5D804978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392049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A1F"/>
          </a:solidFill>
          <a:ln xmlns:a="http://schemas.openxmlformats.org/drawingml/2006/main" w="0">
            <a:solidFill>
              <a:srgbClr val="141A1F"/>
            </a:solidFill>
            <a:prstDash val="solid"/>
          </a:ln>
        </p:spPr>
      </p:sp>
      <p:sp>
        <p:nvSpPr>
          <p:cNvPr id="23" name="residual-2">
            <a:extLst xmlns:a="http://schemas.openxmlformats.org/drawingml/2006/main">
              <a:ext uri="{FF2B5EF4-FFF2-40B4-BE49-F238E27FC236}">
                <a16:creationId xmlns:a16="http://schemas.microsoft.com/office/drawing/2014/main" id="{DC8F7759-F8A7-4CCD-BAA1-B5064AAB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35" y="3962095"/>
            <a:ext cx="19050" cy="384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B37"/>
          </a:solidFill>
          <a:ln xmlns:a="http://schemas.openxmlformats.org/drawingml/2006/main" w="0">
            <a:solidFill>
              <a:srgbClr val="D45B37"/>
            </a:solidFill>
            <a:prstDash val="solid"/>
          </a:ln>
        </p:spPr>
      </p:sp>
      <p:sp>
        <p:nvSpPr>
          <p:cNvPr id="24" name="point-2">
            <a:extLst xmlns:a="http://schemas.openxmlformats.org/drawingml/2006/main">
              <a:ext uri="{FF2B5EF4-FFF2-40B4-BE49-F238E27FC236}">
                <a16:creationId xmlns:a16="http://schemas.microsoft.com/office/drawing/2014/main" id="{570B305D-E91E-415F-B474-E1A9C427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4000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A1F"/>
          </a:solidFill>
          <a:ln xmlns:a="http://schemas.openxmlformats.org/drawingml/2006/main" w="0">
            <a:solidFill>
              <a:srgbClr val="141A1F"/>
            </a:solidFill>
            <a:prstDash val="solid"/>
          </a:ln>
        </p:spPr>
      </p:sp>
      <p:sp>
        <p:nvSpPr>
          <p:cNvPr id="25" name="residual-3">
            <a:extLst xmlns:a="http://schemas.openxmlformats.org/drawingml/2006/main">
              <a:ext uri="{FF2B5EF4-FFF2-40B4-BE49-F238E27FC236}">
                <a16:creationId xmlns:a16="http://schemas.microsoft.com/office/drawing/2014/main" id="{3708FCAA-5F69-48C4-A043-9A118B23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505" y="3560445"/>
            <a:ext cx="19050" cy="228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B37"/>
          </a:solidFill>
          <a:ln xmlns:a="http://schemas.openxmlformats.org/drawingml/2006/main" w="0">
            <a:solidFill>
              <a:srgbClr val="D45B37"/>
            </a:solidFill>
            <a:prstDash val="solid"/>
          </a:ln>
        </p:spPr>
      </p:sp>
      <p:sp>
        <p:nvSpPr>
          <p:cNvPr id="26" name="point-3">
            <a:extLst xmlns:a="http://schemas.openxmlformats.org/drawingml/2006/main">
              <a:ext uri="{FF2B5EF4-FFF2-40B4-BE49-F238E27FC236}">
                <a16:creationId xmlns:a16="http://schemas.microsoft.com/office/drawing/2014/main" id="{854D6B36-F15C-4F3B-A99B-F84EF333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35604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A1F"/>
          </a:solidFill>
          <a:ln xmlns:a="http://schemas.openxmlformats.org/drawingml/2006/main" w="0">
            <a:solidFill>
              <a:srgbClr val="141A1F"/>
            </a:solidFill>
            <a:prstDash val="solid"/>
          </a:ln>
        </p:spPr>
      </p:sp>
      <p:sp>
        <p:nvSpPr>
          <p:cNvPr id="27" name="residual-4">
            <a:extLst xmlns:a="http://schemas.openxmlformats.org/drawingml/2006/main">
              <a:ext uri="{FF2B5EF4-FFF2-40B4-BE49-F238E27FC236}">
                <a16:creationId xmlns:a16="http://schemas.microsoft.com/office/drawing/2014/main" id="{C5133D97-55E5-4A0F-9348-2ABA55CD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220" y="3480435"/>
            <a:ext cx="19050" cy="107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B37"/>
          </a:solidFill>
          <a:ln xmlns:a="http://schemas.openxmlformats.org/drawingml/2006/main" w="0">
            <a:solidFill>
              <a:srgbClr val="D45B37"/>
            </a:solidFill>
            <a:prstDash val="solid"/>
          </a:ln>
        </p:spPr>
      </p:sp>
      <p:sp>
        <p:nvSpPr>
          <p:cNvPr id="28" name="point-4">
            <a:extLst xmlns:a="http://schemas.openxmlformats.org/drawingml/2006/main">
              <a:ext uri="{FF2B5EF4-FFF2-40B4-BE49-F238E27FC236}">
                <a16:creationId xmlns:a16="http://schemas.microsoft.com/office/drawing/2014/main" id="{2E663747-B7F4-4635-9536-E91C71B1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9595" y="348043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A1F"/>
          </a:solidFill>
          <a:ln xmlns:a="http://schemas.openxmlformats.org/drawingml/2006/main" w="0">
            <a:solidFill>
              <a:srgbClr val="141A1F"/>
            </a:solidFill>
            <a:prstDash val="solid"/>
          </a:ln>
        </p:spPr>
      </p:sp>
      <p:sp>
        <p:nvSpPr>
          <p:cNvPr id="29" name="residual-5">
            <a:extLst xmlns:a="http://schemas.openxmlformats.org/drawingml/2006/main">
              <a:ext uri="{FF2B5EF4-FFF2-40B4-BE49-F238E27FC236}">
                <a16:creationId xmlns:a16="http://schemas.microsoft.com/office/drawing/2014/main" id="{F234F2A0-C01F-4E65-AC79-E5BBA54B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935" y="3200400"/>
            <a:ext cx="19050" cy="185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B37"/>
          </a:solidFill>
          <a:ln xmlns:a="http://schemas.openxmlformats.org/drawingml/2006/main" w="0">
            <a:solidFill>
              <a:srgbClr val="D45B37"/>
            </a:solidFill>
            <a:prstDash val="solid"/>
          </a:ln>
        </p:spPr>
      </p:sp>
      <p:sp>
        <p:nvSpPr>
          <p:cNvPr id="30" name="point-5">
            <a:extLst xmlns:a="http://schemas.openxmlformats.org/drawingml/2006/main">
              <a:ext uri="{FF2B5EF4-FFF2-40B4-BE49-F238E27FC236}">
                <a16:creationId xmlns:a16="http://schemas.microsoft.com/office/drawing/2014/main" id="{A0C41D90-0653-4B9F-A606-793F9623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6310" y="3200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A1F"/>
          </a:solidFill>
          <a:ln xmlns:a="http://schemas.openxmlformats.org/drawingml/2006/main" w="0">
            <a:solidFill>
              <a:srgbClr val="141A1F"/>
            </a:solidFill>
            <a:prstDash val="solid"/>
          </a:ln>
        </p:spPr>
      </p:sp>
      <p:sp>
        <p:nvSpPr>
          <p:cNvPr id="31" name="residual-6">
            <a:extLst xmlns:a="http://schemas.openxmlformats.org/drawingml/2006/main">
              <a:ext uri="{FF2B5EF4-FFF2-40B4-BE49-F238E27FC236}">
                <a16:creationId xmlns:a16="http://schemas.microsoft.com/office/drawing/2014/main" id="{34A07653-39AE-487B-AD0D-C84F0664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895" y="2920365"/>
            <a:ext cx="19050" cy="235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B37"/>
          </a:solidFill>
          <a:ln xmlns:a="http://schemas.openxmlformats.org/drawingml/2006/main" w="0">
            <a:solidFill>
              <a:srgbClr val="D45B37"/>
            </a:solidFill>
            <a:prstDash val="solid"/>
          </a:ln>
        </p:spPr>
      </p:sp>
      <p:sp>
        <p:nvSpPr>
          <p:cNvPr id="32" name="point-6">
            <a:extLst xmlns:a="http://schemas.openxmlformats.org/drawingml/2006/main">
              <a:ext uri="{FF2B5EF4-FFF2-40B4-BE49-F238E27FC236}">
                <a16:creationId xmlns:a16="http://schemas.microsoft.com/office/drawing/2014/main" id="{9F8A3E64-9629-455F-8020-51EDE517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8270" y="292036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A1F"/>
          </a:solidFill>
          <a:ln xmlns:a="http://schemas.openxmlformats.org/drawingml/2006/main" w="0">
            <a:solidFill>
              <a:srgbClr val="141A1F"/>
            </a:solidFill>
            <a:prstDash val="solid"/>
          </a:ln>
        </p:spPr>
      </p:sp>
      <p:sp>
        <p:nvSpPr>
          <p:cNvPr id="33" name="residual-7">
            <a:extLst xmlns:a="http://schemas.openxmlformats.org/drawingml/2006/main">
              <a:ext uri="{FF2B5EF4-FFF2-40B4-BE49-F238E27FC236}">
                <a16:creationId xmlns:a16="http://schemas.microsoft.com/office/drawing/2014/main" id="{01CBAA3E-020C-4B8F-8B63-56284D52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365" y="2982773"/>
            <a:ext cx="19050" cy="17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B37"/>
          </a:solidFill>
          <a:ln xmlns:a="http://schemas.openxmlformats.org/drawingml/2006/main" w="0">
            <a:solidFill>
              <a:srgbClr val="D45B37"/>
            </a:solidFill>
            <a:prstDash val="solid"/>
          </a:ln>
        </p:spPr>
      </p:sp>
      <p:sp>
        <p:nvSpPr>
          <p:cNvPr id="34" name="point-7">
            <a:extLst xmlns:a="http://schemas.openxmlformats.org/drawingml/2006/main">
              <a:ext uri="{FF2B5EF4-FFF2-40B4-BE49-F238E27FC236}">
                <a16:creationId xmlns:a16="http://schemas.microsoft.com/office/drawing/2014/main" id="{E796BAA4-D298-4696-938E-51E7D273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000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A1F"/>
          </a:solidFill>
          <a:ln xmlns:a="http://schemas.openxmlformats.org/drawingml/2006/main" w="0">
            <a:solidFill>
              <a:srgbClr val="141A1F"/>
            </a:solidFill>
            <a:prstDash val="solid"/>
          </a:ln>
        </p:spPr>
      </p:sp>
      <p:sp>
        <p:nvSpPr>
          <p:cNvPr id="35" name="fit-line">
            <a:extLst xmlns:a="http://schemas.openxmlformats.org/drawingml/2006/main">
              <a:ext uri="{FF2B5EF4-FFF2-40B4-BE49-F238E27FC236}">
                <a16:creationId xmlns:a16="http://schemas.microsoft.com/office/drawing/2014/main" id="{44F8D9D3-0441-49D8-8041-BDD650F1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20000">
            <a:off x="6715125" y="3876675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C"/>
          </a:solidFill>
          <a:ln xmlns:a="http://schemas.openxmlformats.org/drawingml/2006/main" w="0">
            <a:solidFill>
              <a:srgbClr val="315E9C"/>
            </a:solidFill>
            <a:prstDash val="solid"/>
          </a:ln>
        </p:spPr>
      </p:sp>
      <p:sp>
        <p:nvSpPr>
          <p:cNvPr id="36" name="fit-label">
            <a:extLst xmlns:a="http://schemas.openxmlformats.org/drawingml/2006/main">
              <a:ext uri="{FF2B5EF4-FFF2-40B4-BE49-F238E27FC236}">
                <a16:creationId xmlns:a16="http://schemas.microsoft.com/office/drawing/2014/main" id="{A1E29098-0420-4462-8471-983FD6C9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622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rPr>
              <a:t>予測直線</a:t>
            </a:r>
          </a:p>
        </p:txBody>
      </p:sp>
      <p:sp>
        <p:nvSpPr>
          <p:cNvPr id="37" name="error-label">
            <a:extLst xmlns:a="http://schemas.openxmlformats.org/drawingml/2006/main">
              <a:ext uri="{FF2B5EF4-FFF2-40B4-BE49-F238E27FC236}">
                <a16:creationId xmlns:a16="http://schemas.microsoft.com/office/drawing/2014/main" id="{00832675-1D62-420E-AA76-A6409093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71875"/>
            <a:ext cx="116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rPr>
              <a:t>赤い線が</a:t>
            </a:r>
          </a:p>
          <a:p xmlns:a="http://schemas.openxmlformats.org/drawingml/2006/main">
            <a:pPr algn="l">
              <a:defRPr sz="1200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rPr>
              <a:t>誤差</a:t>
            </a:r>
          </a:p>
        </p:txBody>
      </p:sp>
      <p:sp>
        <p:nvSpPr>
          <p:cNvPr id="38" name="lasso-note">
            <a:extLst xmlns:a="http://schemas.openxmlformats.org/drawingml/2006/main">
              <a:ext uri="{FF2B5EF4-FFF2-40B4-BE49-F238E27FC236}">
                <a16:creationId xmlns:a16="http://schemas.microsoft.com/office/drawing/2014/main" id="{C79DFF7D-BB94-4D16-82CE-9F6E3E35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428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ポイント: Lasso回帰も、基本は線形回帰に「係数を小さくする罰則」を足した考え方。</a:t>
            </a:r>
          </a:p>
        </p:txBody>
      </p:sp>
    </p:spTree>
    <p:extLst>
      <p:ext uri="{BB962C8B-B14F-4D97-AF65-F5344CB8AC3E}">
        <p14:creationId xmlns:p14="http://schemas.microsoft.com/office/powerpoint/2010/main" val="855418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9900F48-8000-422A-846B-009E8EE6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3505E90-6FA8-48E2-B8D0-CC4EBC27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8"/>
          </a:solidFill>
          <a:ln xmlns:a="http://schemas.openxmlformats.org/drawingml/2006/main" w="0">
            <a:solidFill>
              <a:srgbClr val="C7D0C8"/>
            </a:solidFill>
            <a:prstDash val="solid"/>
          </a:ln>
        </p:spPr>
      </p:sp>
      <p:sp>
        <p:nvSpPr>
          <p:cNvPr id="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1004832-9EE7-4FCC-AC74-BB755D0D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rPr>
              <a:t>Source: scikit-learn StandardScaler docs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F788A1E-34E4-4884-9F48-C7BA805A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86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7E9B3F6-7CA7-444E-92B4-95C9B118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5B37"/>
          </a:solidFill>
          <a:ln xmlns:a="http://schemas.openxmlformats.org/drawingml/2006/main" w="0">
            <a:solidFill>
              <a:srgbClr val="D45B37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52BD759-AC2A-4788-9262-BAE6F891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rPr>
              <a:t>PREPROCESSING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43A726-3B00-4A72-BA7A-E15AE017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オートスケーリングは、特徴量を同じ土俵にのせる準備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ACAFC5D-6F4F-4705-A559-A8D98A71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平均を0、標準偏差を1にそろえると、単位や桁の違いでモデルが振り回されにくくなる。</a:t>
            </a:r>
          </a:p>
        </p:txBody>
      </p:sp>
      <p:sp>
        <p:nvSpPr>
          <p:cNvPr id="9" name="scaling-explain">
            <a:extLst xmlns:a="http://schemas.openxmlformats.org/drawingml/2006/main">
              <a:ext uri="{FF2B5EF4-FFF2-40B4-BE49-F238E27FC236}">
                <a16:creationId xmlns:a16="http://schemas.microsoft.com/office/drawing/2014/main" id="{A506865E-B947-45B5-8882-03F0AC3E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0" name="oneword">
            <a:extLst xmlns:a="http://schemas.openxmlformats.org/drawingml/2006/main">
              <a:ext uri="{FF2B5EF4-FFF2-40B4-BE49-F238E27FC236}">
                <a16:creationId xmlns:a16="http://schemas.microsoft.com/office/drawing/2014/main" id="{DCA2C2F5-8660-4807-84C1-7D10BEC0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rPr>
              <a:t>一言でいうと</a:t>
            </a:r>
          </a:p>
        </p:txBody>
      </p:sp>
      <p:sp>
        <p:nvSpPr>
          <p:cNvPr id="11" name="scaling-main">
            <a:extLst xmlns:a="http://schemas.openxmlformats.org/drawingml/2006/main">
              <a:ext uri="{FF2B5EF4-FFF2-40B4-BE49-F238E27FC236}">
                <a16:creationId xmlns:a16="http://schemas.microsoft.com/office/drawing/2014/main" id="{687AF63C-31D3-4A98-BD8F-1F24DF38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「単位の違い」をならして、</a:t>
            </a:r>
          </a:p>
          <a:p xmlns:a="http://schemas.openxmlformats.org/drawingml/2006/main">
            <a:pPr algn="l">
              <a:defRPr sz="210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公平に特徴量を見る準備。</a:t>
            </a:r>
          </a:p>
        </p:txBody>
      </p:sp>
      <p:sp>
        <p:nvSpPr>
          <p:cNvPr id="12" name="z-formula">
            <a:extLst xmlns:a="http://schemas.openxmlformats.org/drawingml/2006/main">
              <a:ext uri="{FF2B5EF4-FFF2-40B4-BE49-F238E27FC236}">
                <a16:creationId xmlns:a16="http://schemas.microsoft.com/office/drawing/2014/main" id="{AF7C06D5-8272-4554-8A3A-F83C6CB3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E9C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315E9C"/>
                </a:solidFill>
                <a:latin typeface="Menlo"/>
                <a:ea typeface="Menlo"/>
                <a:cs typeface="Menlo"/>
              </a:rPr>
              <a:t>z = (x - 平均) / 標準偏差</a:t>
            </a:r>
          </a:p>
        </p:txBody>
      </p:sp>
      <p:sp>
        <p:nvSpPr>
          <p:cNvPr id="13" name="scaling-note">
            <a:extLst xmlns:a="http://schemas.openxmlformats.org/drawingml/2006/main">
              <a:ext uri="{FF2B5EF4-FFF2-40B4-BE49-F238E27FC236}">
                <a16:creationId xmlns:a16="http://schemas.microsoft.com/office/drawing/2014/main" id="{61E942F4-FC94-46A0-8282-1EE0720A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LassoやPLSのように係数や成分を見るモデルでは、スケールをそろえることが特に大事。</a:t>
            </a:r>
          </a:p>
        </p:txBody>
      </p:sp>
      <p:sp>
        <p:nvSpPr>
          <p:cNvPr id="14" name="before-panel">
            <a:extLst xmlns:a="http://schemas.openxmlformats.org/drawingml/2006/main">
              <a:ext uri="{FF2B5EF4-FFF2-40B4-BE49-F238E27FC236}">
                <a16:creationId xmlns:a16="http://schemas.microsoft.com/office/drawing/2014/main" id="{7786166D-10AC-4CCC-801A-44AACB10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4857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5" name="before-title">
            <a:extLst xmlns:a="http://schemas.openxmlformats.org/drawingml/2006/main">
              <a:ext uri="{FF2B5EF4-FFF2-40B4-BE49-F238E27FC236}">
                <a16:creationId xmlns:a16="http://schemas.microsoft.com/office/drawing/2014/main" id="{8BD16BB7-DB44-47D7-9429-472A17FB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スケーリング前</a:t>
            </a:r>
          </a:p>
        </p:txBody>
      </p:sp>
      <p:sp>
        <p:nvSpPr>
          <p:cNvPr id="16" name="bar-bg-RM: 部屋数">
            <a:extLst xmlns:a="http://schemas.openxmlformats.org/drawingml/2006/main">
              <a:ext uri="{FF2B5EF4-FFF2-40B4-BE49-F238E27FC236}">
                <a16:creationId xmlns:a16="http://schemas.microsoft.com/office/drawing/2014/main" id="{2EC3DBD2-68F9-49E3-B414-5D7D11EC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B"/>
          </a:solidFill>
          <a:ln xmlns:a="http://schemas.openxmlformats.org/drawingml/2006/main" w="9525">
            <a:solidFill>
              <a:srgbClr val="EEF0EB"/>
            </a:solidFill>
            <a:prstDash val="solid"/>
          </a:ln>
        </p:spPr>
      </p:sp>
      <p:sp>
        <p:nvSpPr>
          <p:cNvPr id="17" name="bar-fill-RM: 部屋数">
            <a:extLst xmlns:a="http://schemas.openxmlformats.org/drawingml/2006/main">
              <a:ext uri="{FF2B5EF4-FFF2-40B4-BE49-F238E27FC236}">
                <a16:creationId xmlns:a16="http://schemas.microsoft.com/office/drawing/2014/main" id="{E1902D3D-A5D8-4F16-B4FC-13A0842E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8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18" name="bar-label-RM: 部屋数">
            <a:extLst xmlns:a="http://schemas.openxmlformats.org/drawingml/2006/main">
              <a:ext uri="{FF2B5EF4-FFF2-40B4-BE49-F238E27FC236}">
                <a16:creationId xmlns:a16="http://schemas.microsoft.com/office/drawing/2014/main" id="{A190740F-21F7-414B-BDA5-9BC45911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336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RM: 部屋数</a:t>
            </a:r>
          </a:p>
        </p:txBody>
      </p:sp>
      <p:sp>
        <p:nvSpPr>
          <p:cNvPr id="19" name="bar-value-RM: 部屋数">
            <a:extLst xmlns:a="http://schemas.openxmlformats.org/drawingml/2006/main">
              <a:ext uri="{FF2B5EF4-FFF2-40B4-BE49-F238E27FC236}">
                <a16:creationId xmlns:a16="http://schemas.microsoft.com/office/drawing/2014/main" id="{FC7D6175-07C8-4BE9-AB06-BD7A444F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3370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20" name="bar-bg-TAX: 税率">
            <a:extLst xmlns:a="http://schemas.openxmlformats.org/drawingml/2006/main">
              <a:ext uri="{FF2B5EF4-FFF2-40B4-BE49-F238E27FC236}">
                <a16:creationId xmlns:a16="http://schemas.microsoft.com/office/drawing/2014/main" id="{9C8874FE-B717-4F6C-8D31-06572FF3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71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B"/>
          </a:solidFill>
          <a:ln xmlns:a="http://schemas.openxmlformats.org/drawingml/2006/main" w="9525">
            <a:solidFill>
              <a:srgbClr val="EEF0EB"/>
            </a:solidFill>
            <a:prstDash val="solid"/>
          </a:ln>
        </p:spPr>
      </p:sp>
      <p:sp>
        <p:nvSpPr>
          <p:cNvPr id="21" name="bar-fill-TAX: 税率">
            <a:extLst xmlns:a="http://schemas.openxmlformats.org/drawingml/2006/main">
              <a:ext uri="{FF2B5EF4-FFF2-40B4-BE49-F238E27FC236}">
                <a16:creationId xmlns:a16="http://schemas.microsoft.com/office/drawing/2014/main" id="{17EA5314-B74B-4617-8E41-E9F16E92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71850"/>
            <a:ext cx="194582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B37"/>
          </a:solidFill>
          <a:ln xmlns:a="http://schemas.openxmlformats.org/drawingml/2006/main" w="0">
            <a:solidFill>
              <a:srgbClr val="D45B37"/>
            </a:solidFill>
            <a:prstDash val="solid"/>
          </a:ln>
        </p:spPr>
      </p:sp>
      <p:sp>
        <p:nvSpPr>
          <p:cNvPr id="22" name="bar-label-TAX: 税率">
            <a:extLst xmlns:a="http://schemas.openxmlformats.org/drawingml/2006/main">
              <a:ext uri="{FF2B5EF4-FFF2-40B4-BE49-F238E27FC236}">
                <a16:creationId xmlns:a16="http://schemas.microsoft.com/office/drawing/2014/main" id="{A1A6880F-5EE4-4D29-A912-C34EE687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TAX: 税率</a:t>
            </a:r>
          </a:p>
        </p:txBody>
      </p:sp>
      <p:sp>
        <p:nvSpPr>
          <p:cNvPr id="23" name="bar-value-TAX: 税率">
            <a:extLst xmlns:a="http://schemas.openxmlformats.org/drawingml/2006/main">
              <a:ext uri="{FF2B5EF4-FFF2-40B4-BE49-F238E27FC236}">
                <a16:creationId xmlns:a16="http://schemas.microsoft.com/office/drawing/2014/main" id="{EB7D2B64-572C-40C0-8B85-C6C08630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5280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rPr>
              <a:t>550</a:t>
            </a:r>
          </a:p>
        </p:txBody>
      </p:sp>
      <p:sp>
        <p:nvSpPr>
          <p:cNvPr id="24" name="after-panel">
            <a:extLst xmlns:a="http://schemas.openxmlformats.org/drawingml/2006/main">
              <a:ext uri="{FF2B5EF4-FFF2-40B4-BE49-F238E27FC236}">
                <a16:creationId xmlns:a16="http://schemas.microsoft.com/office/drawing/2014/main" id="{B3AE6C4E-3FDA-4544-BDD8-D82203B0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4857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25" name="after-title">
            <a:extLst xmlns:a="http://schemas.openxmlformats.org/drawingml/2006/main">
              <a:ext uri="{FF2B5EF4-FFF2-40B4-BE49-F238E27FC236}">
                <a16:creationId xmlns:a16="http://schemas.microsoft.com/office/drawing/2014/main" id="{1FD626E4-F8C1-49A8-A7B9-25E604AB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スケーリング後</a:t>
            </a:r>
          </a:p>
        </p:txBody>
      </p:sp>
      <p:sp>
        <p:nvSpPr>
          <p:cNvPr id="26" name="bar-bg-RM: 標準化後">
            <a:extLst xmlns:a="http://schemas.openxmlformats.org/drawingml/2006/main">
              <a:ext uri="{FF2B5EF4-FFF2-40B4-BE49-F238E27FC236}">
                <a16:creationId xmlns:a16="http://schemas.microsoft.com/office/drawing/2014/main" id="{E20271FD-C889-49CF-8E9F-34A53691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B"/>
          </a:solidFill>
          <a:ln xmlns:a="http://schemas.openxmlformats.org/drawingml/2006/main" w="9525">
            <a:solidFill>
              <a:srgbClr val="EEF0EB"/>
            </a:solidFill>
            <a:prstDash val="solid"/>
          </a:ln>
        </p:spPr>
      </p:sp>
      <p:sp>
        <p:nvSpPr>
          <p:cNvPr id="27" name="bar-fill-RM: 標準化後">
            <a:extLst xmlns:a="http://schemas.openxmlformats.org/drawingml/2006/main">
              <a:ext uri="{FF2B5EF4-FFF2-40B4-BE49-F238E27FC236}">
                <a16:creationId xmlns:a16="http://schemas.microsoft.com/office/drawing/2014/main" id="{1FAED3C5-DAEA-447A-992F-E0375373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1095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28" name="bar-label-RM: 標準化後">
            <a:extLst xmlns:a="http://schemas.openxmlformats.org/drawingml/2006/main">
              <a:ext uri="{FF2B5EF4-FFF2-40B4-BE49-F238E27FC236}">
                <a16:creationId xmlns:a16="http://schemas.microsoft.com/office/drawing/2014/main" id="{882B572D-2012-45BD-BFEC-483CFC41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386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RM: 標準化後</a:t>
            </a:r>
          </a:p>
        </p:txBody>
      </p:sp>
      <p:sp>
        <p:nvSpPr>
          <p:cNvPr id="29" name="bar-value-RM: 標準化後">
            <a:extLst xmlns:a="http://schemas.openxmlformats.org/drawingml/2006/main">
              <a:ext uri="{FF2B5EF4-FFF2-40B4-BE49-F238E27FC236}">
                <a16:creationId xmlns:a16="http://schemas.microsoft.com/office/drawing/2014/main" id="{D6F8D845-F5FF-49F8-B544-6B39D082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3870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115</a:t>
            </a:r>
          </a:p>
        </p:txBody>
      </p:sp>
      <p:sp>
        <p:nvSpPr>
          <p:cNvPr id="30" name="bar-bg-TAX: 標準化後">
            <a:extLst xmlns:a="http://schemas.openxmlformats.org/drawingml/2006/main">
              <a:ext uri="{FF2B5EF4-FFF2-40B4-BE49-F238E27FC236}">
                <a16:creationId xmlns:a16="http://schemas.microsoft.com/office/drawing/2014/main" id="{592865DC-DA68-494A-8343-82403030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76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B"/>
          </a:solidFill>
          <a:ln xmlns:a="http://schemas.openxmlformats.org/drawingml/2006/main" w="9525">
            <a:solidFill>
              <a:srgbClr val="EEF0EB"/>
            </a:solidFill>
            <a:prstDash val="solid"/>
          </a:ln>
        </p:spPr>
      </p:sp>
      <p:sp>
        <p:nvSpPr>
          <p:cNvPr id="31" name="bar-fill-TAX: 標準化後">
            <a:extLst xmlns:a="http://schemas.openxmlformats.org/drawingml/2006/main">
              <a:ext uri="{FF2B5EF4-FFF2-40B4-BE49-F238E27FC236}">
                <a16:creationId xmlns:a16="http://schemas.microsoft.com/office/drawing/2014/main" id="{2C318FD8-E6D1-4F82-844B-F92B5FAF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7685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B37"/>
          </a:solidFill>
          <a:ln xmlns:a="http://schemas.openxmlformats.org/drawingml/2006/main" w="0">
            <a:solidFill>
              <a:srgbClr val="D45B37"/>
            </a:solidFill>
            <a:prstDash val="solid"/>
          </a:ln>
        </p:spPr>
      </p:sp>
      <p:sp>
        <p:nvSpPr>
          <p:cNvPr id="32" name="bar-label-TAX: 標準化後">
            <a:extLst xmlns:a="http://schemas.openxmlformats.org/drawingml/2006/main">
              <a:ext uri="{FF2B5EF4-FFF2-40B4-BE49-F238E27FC236}">
                <a16:creationId xmlns:a16="http://schemas.microsoft.com/office/drawing/2014/main" id="{62C5A91F-FF3C-41C7-AAB0-FF957B69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577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TAX: 標準化後</a:t>
            </a:r>
          </a:p>
        </p:txBody>
      </p:sp>
      <p:sp>
        <p:nvSpPr>
          <p:cNvPr id="33" name="bar-value-TAX: 標準化後">
            <a:extLst xmlns:a="http://schemas.openxmlformats.org/drawingml/2006/main">
              <a:ext uri="{FF2B5EF4-FFF2-40B4-BE49-F238E27FC236}">
                <a16:creationId xmlns:a16="http://schemas.microsoft.com/office/drawing/2014/main" id="{AD9AA1D5-2A39-456F-B7B7-14DBC4CD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5780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rPr>
              <a:t>138</a:t>
            </a:r>
          </a:p>
        </p:txBody>
      </p:sp>
      <p:sp>
        <p:nvSpPr>
          <p:cNvPr id="34" name="equal-axis">
            <a:extLst xmlns:a="http://schemas.openxmlformats.org/drawingml/2006/main">
              <a:ext uri="{FF2B5EF4-FFF2-40B4-BE49-F238E27FC236}">
                <a16:creationId xmlns:a16="http://schemas.microsoft.com/office/drawing/2014/main" id="{C570569F-526E-48CC-A4FC-E59BC7F8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95600"/>
            <a:ext cx="190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8"/>
          </a:solidFill>
          <a:ln xmlns:a="http://schemas.openxmlformats.org/drawingml/2006/main" w="0">
            <a:solidFill>
              <a:srgbClr val="C7D0C8"/>
            </a:solidFill>
            <a:prstDash val="solid"/>
          </a:ln>
        </p:spPr>
      </p:sp>
      <p:sp>
        <p:nvSpPr>
          <p:cNvPr id="35" name="scale-label">
            <a:extLst xmlns:a="http://schemas.openxmlformats.org/drawingml/2006/main">
              <a:ext uri="{FF2B5EF4-FFF2-40B4-BE49-F238E27FC236}">
                <a16:creationId xmlns:a16="http://schemas.microsoft.com/office/drawing/2014/main" id="{6F985072-0BAA-4C9F-920D-46657FF2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276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同じ尺度</a:t>
            </a:r>
          </a:p>
        </p:txBody>
      </p:sp>
    </p:spTree>
    <p:extLst>
      <p:ext uri="{BB962C8B-B14F-4D97-AF65-F5344CB8AC3E}">
        <p14:creationId xmlns:p14="http://schemas.microsoft.com/office/powerpoint/2010/main" val="19967358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3397AFF-8B1D-45BA-893F-1A14F2A1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9CFCEC0-F715-48D2-A750-38F37ADB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8"/>
          </a:solidFill>
          <a:ln xmlns:a="http://schemas.openxmlformats.org/drawingml/2006/main" w="0">
            <a:solidFill>
              <a:srgbClr val="C7D0C8"/>
            </a:solidFill>
            <a:prstDash val="solid"/>
          </a:ln>
        </p:spPr>
      </p:sp>
      <p:sp>
        <p:nvSpPr>
          <p:cNvPr id="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8F1C7C0-71A1-44C1-8ECE-847527F7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rPr>
              <a:t>Source: scikit-learn learning curves / model selection docs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17128CC-08A3-43FA-B44D-DA351AC6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86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B7A8512-53F2-4DAC-8903-D7FA8D3A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F9BCBFB-6F5B-448B-8FF5-64FE7F10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A44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D9A441"/>
                </a:solidFill>
                <a:latin typeface="Hiragino Sans"/>
                <a:ea typeface="Hiragino Sans"/>
                <a:cs typeface="Hiragino Sans"/>
              </a:rPr>
              <a:t>GENERALIZATION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E98F9D-403B-4C73-8894-12AD0E80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過学習は、練習問題だけに合わせすぎる状態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C97F5E5-ABC2-457C-AE90-6C8E5B36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学習データでは高得点でも、まだ見ていないデータで予測精度が落ちる。</a:t>
            </a:r>
          </a:p>
        </p:txBody>
      </p:sp>
      <p:sp>
        <p:nvSpPr>
          <p:cNvPr id="9" name="overfit-panel">
            <a:extLst xmlns:a="http://schemas.openxmlformats.org/drawingml/2006/main">
              <a:ext uri="{FF2B5EF4-FFF2-40B4-BE49-F238E27FC236}">
                <a16:creationId xmlns:a16="http://schemas.microsoft.com/office/drawing/2014/main" id="{2DB2D30D-60B0-4AAC-90ED-DF962375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0" name="overfit-title">
            <a:extLst xmlns:a="http://schemas.openxmlformats.org/drawingml/2006/main">
              <a:ext uri="{FF2B5EF4-FFF2-40B4-BE49-F238E27FC236}">
                <a16:creationId xmlns:a16="http://schemas.microsoft.com/office/drawing/2014/main" id="{5584278F-3616-4459-8E80-9AE4817B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2887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rPr>
              <a:t>過学習しているモデル</a:t>
            </a:r>
          </a:p>
        </p:txBody>
      </p:sp>
      <p:sp>
        <p:nvSpPr>
          <p:cNvPr id="11" name="bar-bg-学習データ">
            <a:extLst xmlns:a="http://schemas.openxmlformats.org/drawingml/2006/main">
              <a:ext uri="{FF2B5EF4-FFF2-40B4-BE49-F238E27FC236}">
                <a16:creationId xmlns:a16="http://schemas.microsoft.com/office/drawing/2014/main" id="{44888B1C-AB0E-4200-A247-E9609BA6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52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B"/>
          </a:solidFill>
          <a:ln xmlns:a="http://schemas.openxmlformats.org/drawingml/2006/main" w="9525">
            <a:solidFill>
              <a:srgbClr val="EEF0EB"/>
            </a:solidFill>
            <a:prstDash val="solid"/>
          </a:ln>
        </p:spPr>
      </p:sp>
      <p:sp>
        <p:nvSpPr>
          <p:cNvPr id="12" name="bar-fill-学習データ">
            <a:extLst xmlns:a="http://schemas.openxmlformats.org/drawingml/2006/main">
              <a:ext uri="{FF2B5EF4-FFF2-40B4-BE49-F238E27FC236}">
                <a16:creationId xmlns:a16="http://schemas.microsoft.com/office/drawing/2014/main" id="{301CE4D9-A806-425F-88E5-04C95300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528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13" name="bar-label-学習データ">
            <a:extLst xmlns:a="http://schemas.openxmlformats.org/drawingml/2006/main">
              <a:ext uri="{FF2B5EF4-FFF2-40B4-BE49-F238E27FC236}">
                <a16:creationId xmlns:a16="http://schemas.microsoft.com/office/drawing/2014/main" id="{B2D928D7-F549-4093-B7FF-3F6E47FA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学習データ</a:t>
            </a:r>
          </a:p>
        </p:txBody>
      </p:sp>
      <p:sp>
        <p:nvSpPr>
          <p:cNvPr id="14" name="bar-value-学習データ">
            <a:extLst xmlns:a="http://schemas.openxmlformats.org/drawingml/2006/main">
              <a:ext uri="{FF2B5EF4-FFF2-40B4-BE49-F238E27FC236}">
                <a16:creationId xmlns:a16="http://schemas.microsoft.com/office/drawing/2014/main" id="{88160F90-BBF0-497E-A460-9F414C39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98%</a:t>
            </a:r>
          </a:p>
        </p:txBody>
      </p:sp>
      <p:sp>
        <p:nvSpPr>
          <p:cNvPr id="15" name="bar-bg-テストデータ">
            <a:extLst xmlns:a="http://schemas.openxmlformats.org/drawingml/2006/main">
              <a:ext uri="{FF2B5EF4-FFF2-40B4-BE49-F238E27FC236}">
                <a16:creationId xmlns:a16="http://schemas.microsoft.com/office/drawing/2014/main" id="{30D57227-5E9D-4AB1-8B90-79640EB2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B"/>
          </a:solidFill>
          <a:ln xmlns:a="http://schemas.openxmlformats.org/drawingml/2006/main" w="9525">
            <a:solidFill>
              <a:srgbClr val="EEF0EB"/>
            </a:solidFill>
            <a:prstDash val="solid"/>
          </a:ln>
        </p:spPr>
      </p:sp>
      <p:sp>
        <p:nvSpPr>
          <p:cNvPr id="16" name="bar-fill-テストデータ">
            <a:extLst xmlns:a="http://schemas.openxmlformats.org/drawingml/2006/main">
              <a:ext uri="{FF2B5EF4-FFF2-40B4-BE49-F238E27FC236}">
                <a16:creationId xmlns:a16="http://schemas.microsoft.com/office/drawing/2014/main" id="{EEE72162-D7FF-4F78-821B-4A6512BA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B37"/>
          </a:solidFill>
          <a:ln xmlns:a="http://schemas.openxmlformats.org/drawingml/2006/main" w="0">
            <a:solidFill>
              <a:srgbClr val="D45B37"/>
            </a:solidFill>
            <a:prstDash val="solid"/>
          </a:ln>
        </p:spPr>
      </p:sp>
      <p:sp>
        <p:nvSpPr>
          <p:cNvPr id="17" name="bar-label-テストデータ">
            <a:extLst xmlns:a="http://schemas.openxmlformats.org/drawingml/2006/main">
              <a:ext uri="{FF2B5EF4-FFF2-40B4-BE49-F238E27FC236}">
                <a16:creationId xmlns:a16="http://schemas.microsoft.com/office/drawing/2014/main" id="{CC21F8A5-C5E9-4E74-830A-E86AC1EB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766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テストデータ</a:t>
            </a:r>
          </a:p>
        </p:txBody>
      </p:sp>
      <p:sp>
        <p:nvSpPr>
          <p:cNvPr id="18" name="bar-value-テストデータ">
            <a:extLst xmlns:a="http://schemas.openxmlformats.org/drawingml/2006/main">
              <a:ext uri="{FF2B5EF4-FFF2-40B4-BE49-F238E27FC236}">
                <a16:creationId xmlns:a16="http://schemas.microsoft.com/office/drawing/2014/main" id="{76CA81A8-E145-443D-A06A-566F2C31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7670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rPr>
              <a:t>52%</a:t>
            </a:r>
          </a:p>
        </p:txBody>
      </p:sp>
      <p:sp>
        <p:nvSpPr>
          <p:cNvPr id="19" name="overfit-note">
            <a:extLst xmlns:a="http://schemas.openxmlformats.org/drawingml/2006/main">
              <a:ext uri="{FF2B5EF4-FFF2-40B4-BE49-F238E27FC236}">
                <a16:creationId xmlns:a16="http://schemas.microsoft.com/office/drawing/2014/main" id="{AEAD8FF7-FBCD-422B-8EF1-A16A5057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3905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細かいノイズまで覚えてしまい、初見問題に弱い。</a:t>
            </a:r>
          </a:p>
        </p:txBody>
      </p:sp>
      <p:sp>
        <p:nvSpPr>
          <p:cNvPr id="20" name="good-panel">
            <a:extLst xmlns:a="http://schemas.openxmlformats.org/drawingml/2006/main">
              <a:ext uri="{FF2B5EF4-FFF2-40B4-BE49-F238E27FC236}">
                <a16:creationId xmlns:a16="http://schemas.microsoft.com/office/drawing/2014/main" id="{549A5D1A-F87B-45CB-99B1-B317817E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21" name="general-title">
            <a:extLst xmlns:a="http://schemas.openxmlformats.org/drawingml/2006/main">
              <a:ext uri="{FF2B5EF4-FFF2-40B4-BE49-F238E27FC236}">
                <a16:creationId xmlns:a16="http://schemas.microsoft.com/office/drawing/2014/main" id="{65644118-AB39-4D01-90C9-84492FF7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2887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汎化できているモデル</a:t>
            </a:r>
          </a:p>
        </p:txBody>
      </p:sp>
      <p:sp>
        <p:nvSpPr>
          <p:cNvPr id="22" name="bar-bg-学習データ">
            <a:extLst xmlns:a="http://schemas.openxmlformats.org/drawingml/2006/main">
              <a:ext uri="{FF2B5EF4-FFF2-40B4-BE49-F238E27FC236}">
                <a16:creationId xmlns:a16="http://schemas.microsoft.com/office/drawing/2014/main" id="{8C3F1E1F-7C74-4B54-983B-C43B1BB7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52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B"/>
          </a:solidFill>
          <a:ln xmlns:a="http://schemas.openxmlformats.org/drawingml/2006/main" w="9525">
            <a:solidFill>
              <a:srgbClr val="EEF0EB"/>
            </a:solidFill>
            <a:prstDash val="solid"/>
          </a:ln>
        </p:spPr>
      </p:sp>
      <p:sp>
        <p:nvSpPr>
          <p:cNvPr id="23" name="bar-fill-学習データ">
            <a:extLst xmlns:a="http://schemas.openxmlformats.org/drawingml/2006/main">
              <a:ext uri="{FF2B5EF4-FFF2-40B4-BE49-F238E27FC236}">
                <a16:creationId xmlns:a16="http://schemas.microsoft.com/office/drawing/2014/main" id="{7D58C24E-9115-4FA1-B01A-32715E4D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528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24" name="bar-label-学習データ">
            <a:extLst xmlns:a="http://schemas.openxmlformats.org/drawingml/2006/main">
              <a:ext uri="{FF2B5EF4-FFF2-40B4-BE49-F238E27FC236}">
                <a16:creationId xmlns:a16="http://schemas.microsoft.com/office/drawing/2014/main" id="{15C266F8-72FB-4D5A-9859-261AA7B3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1337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学習データ</a:t>
            </a:r>
          </a:p>
        </p:txBody>
      </p:sp>
      <p:sp>
        <p:nvSpPr>
          <p:cNvPr id="25" name="bar-value-学習データ">
            <a:extLst xmlns:a="http://schemas.openxmlformats.org/drawingml/2006/main">
              <a:ext uri="{FF2B5EF4-FFF2-40B4-BE49-F238E27FC236}">
                <a16:creationId xmlns:a16="http://schemas.microsoft.com/office/drawing/2014/main" id="{BEC2E0B1-6933-496E-A456-23184798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3337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84%</a:t>
            </a:r>
          </a:p>
        </p:txBody>
      </p:sp>
      <p:sp>
        <p:nvSpPr>
          <p:cNvPr id="26" name="bar-bg-テストデータ">
            <a:extLst xmlns:a="http://schemas.openxmlformats.org/drawingml/2006/main">
              <a:ext uri="{FF2B5EF4-FFF2-40B4-BE49-F238E27FC236}">
                <a16:creationId xmlns:a16="http://schemas.microsoft.com/office/drawing/2014/main" id="{1D4955C8-FDEA-4138-850F-FFD04FC0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095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B"/>
          </a:solidFill>
          <a:ln xmlns:a="http://schemas.openxmlformats.org/drawingml/2006/main" w="9525">
            <a:solidFill>
              <a:srgbClr val="EEF0EB"/>
            </a:solidFill>
            <a:prstDash val="solid"/>
          </a:ln>
        </p:spPr>
      </p:sp>
      <p:sp>
        <p:nvSpPr>
          <p:cNvPr id="27" name="bar-fill-テストデータ">
            <a:extLst xmlns:a="http://schemas.openxmlformats.org/drawingml/2006/main">
              <a:ext uri="{FF2B5EF4-FFF2-40B4-BE49-F238E27FC236}">
                <a16:creationId xmlns:a16="http://schemas.microsoft.com/office/drawing/2014/main" id="{0027FEBE-B0A7-4545-9B1E-0E160307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09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C"/>
          </a:solidFill>
          <a:ln xmlns:a="http://schemas.openxmlformats.org/drawingml/2006/main" w="0">
            <a:solidFill>
              <a:srgbClr val="315E9C"/>
            </a:solidFill>
            <a:prstDash val="solid"/>
          </a:ln>
        </p:spPr>
      </p:sp>
      <p:sp>
        <p:nvSpPr>
          <p:cNvPr id="28" name="bar-label-テストデータ">
            <a:extLst xmlns:a="http://schemas.openxmlformats.org/drawingml/2006/main">
              <a:ext uri="{FF2B5EF4-FFF2-40B4-BE49-F238E27FC236}">
                <a16:creationId xmlns:a16="http://schemas.microsoft.com/office/drawing/2014/main" id="{6FB867BC-B22F-4BC2-89D2-04C85F3C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8766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テストデータ</a:t>
            </a:r>
          </a:p>
        </p:txBody>
      </p:sp>
      <p:sp>
        <p:nvSpPr>
          <p:cNvPr id="29" name="bar-value-テストデータ">
            <a:extLst xmlns:a="http://schemas.openxmlformats.org/drawingml/2006/main">
              <a:ext uri="{FF2B5EF4-FFF2-40B4-BE49-F238E27FC236}">
                <a16:creationId xmlns:a16="http://schemas.microsoft.com/office/drawing/2014/main" id="{BC0C941C-D544-459D-BDB4-F46D333E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07670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rPr>
              <a:t>80%</a:t>
            </a:r>
          </a:p>
        </p:txBody>
      </p:sp>
      <p:sp>
        <p:nvSpPr>
          <p:cNvPr id="30" name="general-note">
            <a:extLst xmlns:a="http://schemas.openxmlformats.org/drawingml/2006/main">
              <a:ext uri="{FF2B5EF4-FFF2-40B4-BE49-F238E27FC236}">
                <a16:creationId xmlns:a16="http://schemas.microsoft.com/office/drawing/2014/main" id="{0F1052AA-88F4-4855-8360-E269EC14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48200"/>
            <a:ext cx="3905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学習データと未知データの両方で、ほどよく当たる。</a:t>
            </a:r>
          </a:p>
        </p:txBody>
      </p:sp>
      <p:sp>
        <p:nvSpPr>
          <p:cNvPr id="31" name="prevention-note">
            <a:extLst xmlns:a="http://schemas.openxmlformats.org/drawingml/2006/main">
              <a:ext uri="{FF2B5EF4-FFF2-40B4-BE49-F238E27FC236}">
                <a16:creationId xmlns:a16="http://schemas.microsoft.com/office/drawing/2014/main" id="{FA823AA5-9E41-437E-BC31-2A33AB93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388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4"/>
          </a:solidFill>
          <a:ln xmlns:a="http://schemas.openxmlformats.org/drawingml/2006/main" w="0">
            <a:solidFill>
              <a:srgbClr val="E3E9E4"/>
            </a:solidFill>
            <a:prstDash val="solid"/>
          </a:ln>
        </p:spPr>
        <p:txBody>
          <a:bodyPr xmlns:a="http://schemas.openxmlformats.org/drawingml/2006/main" lIns="171450" tIns="85725" rIns="17145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防ぎ方: データを分けて評価する、Lassoのalphaを調整する、特徴量や成分数を増やしすぎない。</a:t>
            </a:r>
          </a:p>
        </p:txBody>
      </p:sp>
    </p:spTree>
    <p:extLst>
      <p:ext uri="{BB962C8B-B14F-4D97-AF65-F5344CB8AC3E}">
        <p14:creationId xmlns:p14="http://schemas.microsoft.com/office/powerpoint/2010/main" val="14929751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09941F6-21C7-450D-BEC5-79AA4BA9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3574678-D2D8-46BF-BB5A-A1A0E3D8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8"/>
          </a:solidFill>
          <a:ln xmlns:a="http://schemas.openxmlformats.org/drawingml/2006/main" w="0">
            <a:solidFill>
              <a:srgbClr val="C7D0C8"/>
            </a:solidFill>
            <a:prstDash val="solid"/>
          </a:ln>
        </p:spPr>
      </p:sp>
      <p:sp>
        <p:nvSpPr>
          <p:cNvPr id="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1478C3A-ABF5-4FFA-9BBD-21590206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rPr>
              <a:t>Source: scikit-learn decomposition / PLSRegression docs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40F51D9-1C1D-4BB1-8524-EA02A2C1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86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AC7C68C-7D3A-4187-9D17-5CD8704E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AA6"/>
          </a:solidFill>
          <a:ln xmlns:a="http://schemas.openxmlformats.org/drawingml/2006/main" w="0">
            <a:solidFill>
              <a:srgbClr val="7A5AA6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648D079-A87C-436B-8C62-CA3FBBA9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AA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7A5AA6"/>
                </a:solidFill>
                <a:latin typeface="Hiragino Sans"/>
                <a:ea typeface="Hiragino Sans"/>
                <a:cs typeface="Hiragino Sans"/>
              </a:rPr>
              <a:t>FEATURES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B09C53-442C-4688-920C-2DC9F0AB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次元圧縮は、多すぎる列を少数の情報にまとめ直す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389A32E-D122-4727-A933-D0F2DFE4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特徴量を減らして、過学習を抑えたり、データの構造を見やすくしたりする。</a:t>
            </a:r>
          </a:p>
        </p:txBody>
      </p:sp>
      <p:sp>
        <p:nvSpPr>
          <p:cNvPr id="9" name="features-panel">
            <a:extLst xmlns:a="http://schemas.openxmlformats.org/drawingml/2006/main">
              <a:ext uri="{FF2B5EF4-FFF2-40B4-BE49-F238E27FC236}">
                <a16:creationId xmlns:a16="http://schemas.microsoft.com/office/drawing/2014/main" id="{A749A71F-2FD1-434B-9E1F-4AD672BC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0005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0" name="features-title">
            <a:extLst xmlns:a="http://schemas.openxmlformats.org/drawingml/2006/main">
              <a:ext uri="{FF2B5EF4-FFF2-40B4-BE49-F238E27FC236}">
                <a16:creationId xmlns:a16="http://schemas.microsoft.com/office/drawing/2014/main" id="{C379FCE5-4D66-4B09-B2B6-C30E70D6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03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元の特徴量</a:t>
            </a:r>
          </a:p>
        </p:txBody>
      </p:sp>
      <p:sp>
        <p:nvSpPr>
          <p:cNvPr id="11" name="pill-CRIM">
            <a:extLst xmlns:a="http://schemas.openxmlformats.org/drawingml/2006/main">
              <a:ext uri="{FF2B5EF4-FFF2-40B4-BE49-F238E27FC236}">
                <a16:creationId xmlns:a16="http://schemas.microsoft.com/office/drawing/2014/main" id="{762AF616-CC9F-49FA-A8CE-4583D415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2F6F5E"/>
            </a:solidFill>
            <a:prstDash val="solid"/>
          </a:ln>
        </p:spPr>
      </p:sp>
      <p:sp>
        <p:nvSpPr>
          <p:cNvPr id="12" name="pill-label-CRIM">
            <a:extLst xmlns:a="http://schemas.openxmlformats.org/drawingml/2006/main">
              <a:ext uri="{FF2B5EF4-FFF2-40B4-BE49-F238E27FC236}">
                <a16:creationId xmlns:a16="http://schemas.microsoft.com/office/drawing/2014/main" id="{D06A1D96-CD5F-48FB-90D4-7B3F26BA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CRIM</a:t>
            </a:r>
          </a:p>
        </p:txBody>
      </p:sp>
      <p:sp>
        <p:nvSpPr>
          <p:cNvPr id="13" name="pill-RM">
            <a:extLst xmlns:a="http://schemas.openxmlformats.org/drawingml/2006/main">
              <a:ext uri="{FF2B5EF4-FFF2-40B4-BE49-F238E27FC236}">
                <a16:creationId xmlns:a16="http://schemas.microsoft.com/office/drawing/2014/main" id="{9C20E824-8334-44BB-9C0C-77362064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718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315E9C"/>
            </a:solidFill>
            <a:prstDash val="solid"/>
          </a:ln>
        </p:spPr>
      </p:sp>
      <p:sp>
        <p:nvSpPr>
          <p:cNvPr id="14" name="pill-label-RM">
            <a:extLst xmlns:a="http://schemas.openxmlformats.org/drawingml/2006/main">
              <a:ext uri="{FF2B5EF4-FFF2-40B4-BE49-F238E27FC236}">
                <a16:creationId xmlns:a16="http://schemas.microsoft.com/office/drawing/2014/main" id="{107FDB80-F6A7-4867-8C41-02AF52F6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0990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rPr>
              <a:t>RM</a:t>
            </a:r>
          </a:p>
        </p:txBody>
      </p:sp>
      <p:sp>
        <p:nvSpPr>
          <p:cNvPr id="15" name="pill-AGE">
            <a:extLst xmlns:a="http://schemas.openxmlformats.org/drawingml/2006/main">
              <a:ext uri="{FF2B5EF4-FFF2-40B4-BE49-F238E27FC236}">
                <a16:creationId xmlns:a16="http://schemas.microsoft.com/office/drawing/2014/main" id="{85F27788-1C43-49CF-83E6-A0B1B6AD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2F6F5E"/>
            </a:solidFill>
            <a:prstDash val="solid"/>
          </a:ln>
        </p:spPr>
      </p:sp>
      <p:sp>
        <p:nvSpPr>
          <p:cNvPr id="16" name="pill-label-AGE">
            <a:extLst xmlns:a="http://schemas.openxmlformats.org/drawingml/2006/main">
              <a:ext uri="{FF2B5EF4-FFF2-40B4-BE49-F238E27FC236}">
                <a16:creationId xmlns:a16="http://schemas.microsoft.com/office/drawing/2014/main" id="{0E8D2B9B-F0DA-4A52-8BA6-D6D8B0C1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AGE</a:t>
            </a:r>
          </a:p>
        </p:txBody>
      </p:sp>
      <p:sp>
        <p:nvSpPr>
          <p:cNvPr id="17" name="pill-TAX">
            <a:extLst xmlns:a="http://schemas.openxmlformats.org/drawingml/2006/main">
              <a:ext uri="{FF2B5EF4-FFF2-40B4-BE49-F238E27FC236}">
                <a16:creationId xmlns:a16="http://schemas.microsoft.com/office/drawing/2014/main" id="{99C9E2C0-252E-4E61-B1A6-B76E6B5E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623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315E9C"/>
            </a:solidFill>
            <a:prstDash val="solid"/>
          </a:ln>
        </p:spPr>
      </p:sp>
      <p:sp>
        <p:nvSpPr>
          <p:cNvPr id="18" name="pill-label-TAX">
            <a:extLst xmlns:a="http://schemas.openxmlformats.org/drawingml/2006/main">
              <a:ext uri="{FF2B5EF4-FFF2-40B4-BE49-F238E27FC236}">
                <a16:creationId xmlns:a16="http://schemas.microsoft.com/office/drawing/2014/main" id="{4C1B9428-9F4C-4684-92B9-D1801430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045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rPr>
              <a:t>TAX</a:t>
            </a:r>
          </a:p>
        </p:txBody>
      </p:sp>
      <p:sp>
        <p:nvSpPr>
          <p:cNvPr id="19" name="pill-LSTAT">
            <a:extLst xmlns:a="http://schemas.openxmlformats.org/drawingml/2006/main">
              <a:ext uri="{FF2B5EF4-FFF2-40B4-BE49-F238E27FC236}">
                <a16:creationId xmlns:a16="http://schemas.microsoft.com/office/drawing/2014/main" id="{D3C2BB12-FA32-429A-8770-04BDA76A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2F6F5E"/>
            </a:solidFill>
            <a:prstDash val="solid"/>
          </a:ln>
        </p:spPr>
      </p:sp>
      <p:sp>
        <p:nvSpPr>
          <p:cNvPr id="20" name="pill-label-LSTAT">
            <a:extLst xmlns:a="http://schemas.openxmlformats.org/drawingml/2006/main">
              <a:ext uri="{FF2B5EF4-FFF2-40B4-BE49-F238E27FC236}">
                <a16:creationId xmlns:a16="http://schemas.microsoft.com/office/drawing/2014/main" id="{B277C6B3-7664-44E9-8D03-9C96EA85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LSTAT</a:t>
            </a:r>
          </a:p>
        </p:txBody>
      </p:sp>
      <p:sp>
        <p:nvSpPr>
          <p:cNvPr id="21" name="pill-...">
            <a:extLst xmlns:a="http://schemas.openxmlformats.org/drawingml/2006/main">
              <a:ext uri="{FF2B5EF4-FFF2-40B4-BE49-F238E27FC236}">
                <a16:creationId xmlns:a16="http://schemas.microsoft.com/office/drawing/2014/main" id="{D990C472-9AE7-4995-85FD-46F56764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529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315E9C"/>
            </a:solidFill>
            <a:prstDash val="solid"/>
          </a:ln>
        </p:spPr>
      </p:sp>
      <p:sp>
        <p:nvSpPr>
          <p:cNvPr id="22" name="pill-label-...">
            <a:extLst xmlns:a="http://schemas.openxmlformats.org/drawingml/2006/main">
              <a:ext uri="{FF2B5EF4-FFF2-40B4-BE49-F238E27FC236}">
                <a16:creationId xmlns:a16="http://schemas.microsoft.com/office/drawing/2014/main" id="{85AAE771-6659-4675-8973-27744AE7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9100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rPr>
              <a:t>...</a:t>
            </a:r>
          </a:p>
        </p:txBody>
      </p:sp>
      <p:sp>
        <p:nvSpPr>
          <p:cNvPr id="23" name="features-note">
            <a:extLst xmlns:a="http://schemas.openxmlformats.org/drawingml/2006/main">
              <a:ext uri="{FF2B5EF4-FFF2-40B4-BE49-F238E27FC236}">
                <a16:creationId xmlns:a16="http://schemas.microsoft.com/office/drawing/2014/main" id="{A7313C9E-9235-4E8D-97AB-ECBDDD4D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29150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列が多いほど、モデルは表現力を持つが、過学習や説明の難しさも増える。</a:t>
            </a:r>
          </a:p>
        </p:txBody>
      </p:sp>
      <p:sp>
        <p:nvSpPr>
          <p:cNvPr id="24" name="arrow">
            <a:extLst xmlns:a="http://schemas.openxmlformats.org/drawingml/2006/main">
              <a:ext uri="{FF2B5EF4-FFF2-40B4-BE49-F238E27FC236}">
                <a16:creationId xmlns:a16="http://schemas.microsoft.com/office/drawing/2014/main" id="{E59D4774-76F1-4C3F-8578-9377CBF1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5" name="components-panel">
            <a:extLst xmlns:a="http://schemas.openxmlformats.org/drawingml/2006/main">
              <a:ext uri="{FF2B5EF4-FFF2-40B4-BE49-F238E27FC236}">
                <a16:creationId xmlns:a16="http://schemas.microsoft.com/office/drawing/2014/main" id="{AD2C5973-C768-46E6-8BA5-2D3F8A6F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000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26" name="components-title">
            <a:extLst xmlns:a="http://schemas.openxmlformats.org/drawingml/2006/main">
              <a:ext uri="{FF2B5EF4-FFF2-40B4-BE49-F238E27FC236}">
                <a16:creationId xmlns:a16="http://schemas.microsoft.com/office/drawing/2014/main" id="{687BEF3A-BAD0-4BBD-BF75-B0C287A1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圧縮後の成分</a:t>
            </a:r>
          </a:p>
        </p:txBody>
      </p:sp>
      <p:sp>
        <p:nvSpPr>
          <p:cNvPr id="27" name="pill-成分1: 住宅の広さ・環境">
            <a:extLst xmlns:a="http://schemas.openxmlformats.org/drawingml/2006/main">
              <a:ext uri="{FF2B5EF4-FFF2-40B4-BE49-F238E27FC236}">
                <a16:creationId xmlns:a16="http://schemas.microsoft.com/office/drawing/2014/main" id="{F90F403B-94EC-440F-92B8-843FEAE6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2F6F5E"/>
            </a:solidFill>
            <a:prstDash val="solid"/>
          </a:ln>
        </p:spPr>
      </p:sp>
      <p:sp>
        <p:nvSpPr>
          <p:cNvPr id="28" name="pill-label-成分1: 住宅の広さ・環境">
            <a:extLst xmlns:a="http://schemas.openxmlformats.org/drawingml/2006/main">
              <a:ext uri="{FF2B5EF4-FFF2-40B4-BE49-F238E27FC236}">
                <a16:creationId xmlns:a16="http://schemas.microsoft.com/office/drawing/2014/main" id="{79452EFE-E8D2-460E-9025-C3059D33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86100"/>
            <a:ext cx="2428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成分1: 住宅の広さ・環境</a:t>
            </a:r>
          </a:p>
        </p:txBody>
      </p:sp>
      <p:sp>
        <p:nvSpPr>
          <p:cNvPr id="29" name="pill-成分2: 税率・地域性">
            <a:extLst xmlns:a="http://schemas.openxmlformats.org/drawingml/2006/main">
              <a:ext uri="{FF2B5EF4-FFF2-40B4-BE49-F238E27FC236}">
                <a16:creationId xmlns:a16="http://schemas.microsoft.com/office/drawing/2014/main" id="{F51A5275-412E-4BA3-9E38-A429F092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48075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3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30" name="pill-label-成分2: 税率・地域性">
            <a:extLst xmlns:a="http://schemas.openxmlformats.org/drawingml/2006/main">
              <a:ext uri="{FF2B5EF4-FFF2-40B4-BE49-F238E27FC236}">
                <a16:creationId xmlns:a16="http://schemas.microsoft.com/office/drawing/2014/main" id="{432DD0DF-A725-4397-A84A-5DD4732B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86175"/>
            <a:ext cx="2428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A441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D9A441"/>
                </a:solidFill>
                <a:latin typeface="Hiragino Sans"/>
                <a:ea typeface="Hiragino Sans"/>
                <a:cs typeface="Hiragino Sans"/>
              </a:rPr>
              <a:t>成分2: 税率・地域性</a:t>
            </a:r>
          </a:p>
        </p:txBody>
      </p:sp>
      <p:sp>
        <p:nvSpPr>
          <p:cNvPr id="31" name="pill-成分3: 価格に効く混合情報">
            <a:extLst xmlns:a="http://schemas.openxmlformats.org/drawingml/2006/main">
              <a:ext uri="{FF2B5EF4-FFF2-40B4-BE49-F238E27FC236}">
                <a16:creationId xmlns:a16="http://schemas.microsoft.com/office/drawing/2014/main" id="{A4FF88B1-6897-4C63-9E20-60A2A6FA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4815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7"/>
          </a:solidFill>
          <a:ln xmlns:a="http://schemas.openxmlformats.org/drawingml/2006/main" w="9525">
            <a:solidFill>
              <a:srgbClr val="315E9C"/>
            </a:solidFill>
            <a:prstDash val="solid"/>
          </a:ln>
        </p:spPr>
      </p:sp>
      <p:sp>
        <p:nvSpPr>
          <p:cNvPr id="32" name="pill-label-成分3: 価格に効く混合情報">
            <a:extLst xmlns:a="http://schemas.openxmlformats.org/drawingml/2006/main">
              <a:ext uri="{FF2B5EF4-FFF2-40B4-BE49-F238E27FC236}">
                <a16:creationId xmlns:a16="http://schemas.microsoft.com/office/drawing/2014/main" id="{47B22A0E-555A-456B-AE93-BD1C5E6B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86250"/>
            <a:ext cx="2428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rPr>
              <a:t>成分3: 価格に効く混合情報</a:t>
            </a:r>
          </a:p>
        </p:txBody>
      </p:sp>
      <p:sp>
        <p:nvSpPr>
          <p:cNvPr id="33" name="pls-note">
            <a:extLst xmlns:a="http://schemas.openxmlformats.org/drawingml/2006/main">
              <a:ext uri="{FF2B5EF4-FFF2-40B4-BE49-F238E27FC236}">
                <a16:creationId xmlns:a16="http://schemas.microsoft.com/office/drawing/2014/main" id="{8DDF97F7-88B7-4EE4-AD44-ED2D61EF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62500"/>
            <a:ext cx="3219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rPr>
              <a:t>PLS回帰では、yとの関係も見ながら成分を作る。</a:t>
            </a:r>
          </a:p>
        </p:txBody>
      </p:sp>
      <p:sp>
        <p:nvSpPr>
          <p:cNvPr id="34" name="memory">
            <a:extLst xmlns:a="http://schemas.openxmlformats.org/drawingml/2006/main">
              <a:ext uri="{FF2B5EF4-FFF2-40B4-BE49-F238E27FC236}">
                <a16:creationId xmlns:a16="http://schemas.microsoft.com/office/drawing/2014/main" id="{FE0D22A4-8774-42F2-89A9-024B6FBA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7375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覚え方: 次元圧縮は「列を捨てる」だけでなく、「情報を少ない成分にまとめ直す」こと。</a:t>
            </a:r>
          </a:p>
        </p:txBody>
      </p:sp>
    </p:spTree>
    <p:extLst>
      <p:ext uri="{BB962C8B-B14F-4D97-AF65-F5344CB8AC3E}">
        <p14:creationId xmlns:p14="http://schemas.microsoft.com/office/powerpoint/2010/main" val="20923649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11143D3-9C05-4F99-8667-73B27D19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5BC6DA9-D255-4F95-8CE7-247EDDAE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8"/>
          </a:solidFill>
          <a:ln xmlns:a="http://schemas.openxmlformats.org/drawingml/2006/main" w="0">
            <a:solidFill>
              <a:srgbClr val="C7D0C8"/>
            </a:solidFill>
            <a:prstDash val="solid"/>
          </a:ln>
        </p:spPr>
      </p:sp>
      <p:sp>
        <p:nvSpPr>
          <p:cNvPr id="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37F5A83-0AE6-4AF4-91AA-52A3E44F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rPr>
              <a:t>Source: scikit-learn Lasso / PLSRegression docs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A0DF68B-676B-44DA-875D-18CF8930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86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26B72E2-A8DE-448E-977F-70375D59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7F7E76B-C144-4483-BFF5-BE7A979A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MODEL SETTINGS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8A1884-6ECD-4B7F-9127-25E7B7DF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ハイパーパラメータは、学習前に決めて検証で選ぶ設定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056DB8E-33FB-4053-B69F-53426A0A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モデルが学習して見つける係数とは違い、事前に候補を決めて予測精度で比べる。</a:t>
            </a:r>
          </a:p>
        </p:txBody>
      </p:sp>
      <p:sp>
        <p:nvSpPr>
          <p:cNvPr id="9" name="alpha-panel">
            <a:extLst xmlns:a="http://schemas.openxmlformats.org/drawingml/2006/main">
              <a:ext uri="{FF2B5EF4-FFF2-40B4-BE49-F238E27FC236}">
                <a16:creationId xmlns:a16="http://schemas.microsoft.com/office/drawing/2014/main" id="{EF2671B6-6BD5-41BF-BAA4-765CA468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9530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0" name="alpha-title">
            <a:extLst xmlns:a="http://schemas.openxmlformats.org/drawingml/2006/main">
              <a:ext uri="{FF2B5EF4-FFF2-40B4-BE49-F238E27FC236}">
                <a16:creationId xmlns:a16="http://schemas.microsoft.com/office/drawing/2014/main" id="{1A136AF6-4096-4767-AAF8-00C6E7B1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4333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例: Lasso回帰の alpha</a:t>
            </a:r>
          </a:p>
        </p:txBody>
      </p:sp>
      <p:sp>
        <p:nvSpPr>
          <p:cNvPr id="11" name="slider-rule">
            <a:extLst xmlns:a="http://schemas.openxmlformats.org/drawingml/2006/main">
              <a:ext uri="{FF2B5EF4-FFF2-40B4-BE49-F238E27FC236}">
                <a16:creationId xmlns:a16="http://schemas.microsoft.com/office/drawing/2014/main" id="{B0D3EFAE-B41B-4BED-9F15-9D2B498C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76625"/>
            <a:ext cx="3571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5BA"/>
          </a:solidFill>
          <a:ln xmlns:a="http://schemas.openxmlformats.org/drawingml/2006/main" w="0">
            <a:solidFill>
              <a:srgbClr val="BAC5BA"/>
            </a:solidFill>
            <a:prstDash val="solid"/>
          </a:ln>
        </p:spPr>
      </p:sp>
      <p:sp>
        <p:nvSpPr>
          <p:cNvPr id="12" name="slider-knob">
            <a:extLst xmlns:a="http://schemas.openxmlformats.org/drawingml/2006/main">
              <a:ext uri="{FF2B5EF4-FFF2-40B4-BE49-F238E27FC236}">
                <a16:creationId xmlns:a16="http://schemas.microsoft.com/office/drawing/2014/main" id="{22875209-047B-4771-A1BE-CAB09092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52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5B37"/>
          </a:solidFill>
          <a:ln xmlns:a="http://schemas.openxmlformats.org/drawingml/2006/main" w="0">
            <a:solidFill>
              <a:srgbClr val="D45B37"/>
            </a:solidFill>
            <a:prstDash val="solid"/>
          </a:ln>
        </p:spPr>
      </p:sp>
      <p:sp>
        <p:nvSpPr>
          <p:cNvPr id="13" name="low-label">
            <a:extLst xmlns:a="http://schemas.openxmlformats.org/drawingml/2006/main">
              <a:ext uri="{FF2B5EF4-FFF2-40B4-BE49-F238E27FC236}">
                <a16:creationId xmlns:a16="http://schemas.microsoft.com/office/drawing/2014/main" id="{9CEF88D1-299C-44D4-8D80-09C249CB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小さい</a:t>
            </a:r>
          </a:p>
        </p:txBody>
      </p:sp>
      <p:sp>
        <p:nvSpPr>
          <p:cNvPr id="14" name="high-label">
            <a:extLst xmlns:a="http://schemas.openxmlformats.org/drawingml/2006/main">
              <a:ext uri="{FF2B5EF4-FFF2-40B4-BE49-F238E27FC236}">
                <a16:creationId xmlns:a16="http://schemas.microsoft.com/office/drawing/2014/main" id="{2485E4F5-1422-44E8-8257-FDE87B76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57625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大きい</a:t>
            </a:r>
          </a:p>
        </p:txBody>
      </p:sp>
      <p:sp>
        <p:nvSpPr>
          <p:cNvPr id="15" name="alpha-note">
            <a:extLst xmlns:a="http://schemas.openxmlformats.org/drawingml/2006/main">
              <a:ext uri="{FF2B5EF4-FFF2-40B4-BE49-F238E27FC236}">
                <a16:creationId xmlns:a16="http://schemas.microsoft.com/office/drawing/2014/main" id="{55982815-5843-42EA-962D-11F9A196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alphaが大きいほど、係数が0になりやすく、削減される特徴量が増える。</a:t>
            </a:r>
          </a:p>
        </p:txBody>
      </p:sp>
      <p:sp>
        <p:nvSpPr>
          <p:cNvPr id="16" name="contrast-panel">
            <a:extLst xmlns:a="http://schemas.openxmlformats.org/drawingml/2006/main">
              <a:ext uri="{FF2B5EF4-FFF2-40B4-BE49-F238E27FC236}">
                <a16:creationId xmlns:a16="http://schemas.microsoft.com/office/drawing/2014/main" id="{D890ACE5-1142-45F0-9D8B-0A319F8C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433387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17" name="contrast-title">
            <a:extLst xmlns:a="http://schemas.openxmlformats.org/drawingml/2006/main">
              <a:ext uri="{FF2B5EF4-FFF2-40B4-BE49-F238E27FC236}">
                <a16:creationId xmlns:a16="http://schemas.microsoft.com/office/drawing/2014/main" id="{9E61434A-C2D6-43A5-98ED-6829A9B8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パラメータとの違い</a:t>
            </a:r>
          </a:p>
        </p:txBody>
      </p:sp>
      <p:sp>
        <p:nvSpPr>
          <p:cNvPr id="18" name="param-title">
            <a:extLst xmlns:a="http://schemas.openxmlformats.org/drawingml/2006/main">
              <a:ext uri="{FF2B5EF4-FFF2-40B4-BE49-F238E27FC236}">
                <a16:creationId xmlns:a16="http://schemas.microsoft.com/office/drawing/2014/main" id="{0B278665-0B2E-4EEE-A4A6-C4DC14AD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7657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FD8C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FD8CD"/>
                </a:solidFill>
                <a:latin typeface="Hiragino Sans"/>
                <a:ea typeface="Hiragino Sans"/>
                <a:cs typeface="Hiragino Sans"/>
              </a:rPr>
              <a:t>パラメータ</a:t>
            </a:r>
          </a:p>
        </p:txBody>
      </p:sp>
      <p:sp>
        <p:nvSpPr>
          <p:cNvPr id="19" name="param-body">
            <a:extLst xmlns:a="http://schemas.openxmlformats.org/drawingml/2006/main">
              <a:ext uri="{FF2B5EF4-FFF2-40B4-BE49-F238E27FC236}">
                <a16:creationId xmlns:a16="http://schemas.microsoft.com/office/drawing/2014/main" id="{D9A4A290-CC27-4CF2-A9C4-353BF07F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99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rPr>
              <a:t>学習後にモデルが持つ値</a:t>
            </a:r>
          </a:p>
          <a:p xmlns:a="http://schemas.openxmlformats.org/drawingml/2006/main">
            <a:pPr algn="l">
              <a:defRPr sz="1275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rPr>
              <a:t>例: 線形回帰の係数 w</a:t>
            </a:r>
          </a:p>
        </p:txBody>
      </p:sp>
      <p:sp>
        <p:nvSpPr>
          <p:cNvPr id="20" name="hyper-title">
            <a:extLst xmlns:a="http://schemas.openxmlformats.org/drawingml/2006/main">
              <a:ext uri="{FF2B5EF4-FFF2-40B4-BE49-F238E27FC236}">
                <a16:creationId xmlns:a16="http://schemas.microsoft.com/office/drawing/2014/main" id="{E3F77E7F-BF3B-4D52-8247-48F156F4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0C76B"/>
                </a:solidFill>
                <a:latin typeface="Hiragino Sans"/>
                <a:ea typeface="Hiragino Sans"/>
                <a:cs typeface="Hiragino Sans"/>
              </a:rPr>
              <a:t>ハイパーパラメータ</a:t>
            </a:r>
          </a:p>
        </p:txBody>
      </p:sp>
      <p:sp>
        <p:nvSpPr>
          <p:cNvPr id="21" name="hyper-body">
            <a:extLst xmlns:a="http://schemas.openxmlformats.org/drawingml/2006/main">
              <a:ext uri="{FF2B5EF4-FFF2-40B4-BE49-F238E27FC236}">
                <a16:creationId xmlns:a16="http://schemas.microsoft.com/office/drawing/2014/main" id="{82EE61F7-D946-4347-AC2F-A581AA03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29125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rPr>
              <a:t>学習前に人が候補を決める設定</a:t>
            </a:r>
          </a:p>
          <a:p xmlns:a="http://schemas.openxmlformats.org/drawingml/2006/main">
            <a:pPr algn="l">
              <a:defRPr sz="1275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rPr>
              <a:t>例: alpha, n_components</a:t>
            </a:r>
          </a:p>
        </p:txBody>
      </p:sp>
      <p:sp>
        <p:nvSpPr>
          <p:cNvPr id="22" name="homework-view">
            <a:extLst xmlns:a="http://schemas.openxmlformats.org/drawingml/2006/main">
              <a:ext uri="{FF2B5EF4-FFF2-40B4-BE49-F238E27FC236}">
                <a16:creationId xmlns:a16="http://schemas.microsoft.com/office/drawing/2014/main" id="{74D911F9-A1D3-412D-B7B4-E68D22B1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9448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4"/>
          </a:solidFill>
          <a:ln xmlns:a="http://schemas.openxmlformats.org/drawingml/2006/main" w="0">
            <a:solidFill>
              <a:srgbClr val="E3E9E4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課題の見方: alphaを変える → 削減された特徴量数を見る → テストデータの予測精度を比較する。</a:t>
            </a:r>
          </a:p>
        </p:txBody>
      </p:sp>
    </p:spTree>
    <p:extLst>
      <p:ext uri="{BB962C8B-B14F-4D97-AF65-F5344CB8AC3E}">
        <p14:creationId xmlns:p14="http://schemas.microsoft.com/office/powerpoint/2010/main" val="956432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F917C47-CD24-42EA-94EC-394225E3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C121AB-7F5E-45B7-AD1C-6AD50B6F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8"/>
          </a:solidFill>
          <a:ln xmlns:a="http://schemas.openxmlformats.org/drawingml/2006/main" w="0">
            <a:solidFill>
              <a:srgbClr val="C7D0C8"/>
            </a:solidFill>
            <a:prstDash val="solid"/>
          </a:ln>
        </p:spPr>
      </p:sp>
      <p:sp>
        <p:nvSpPr>
          <p:cNvPr id="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FEABCC2-16BC-4ADA-BD27-3C7E0398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rPr>
              <a:t>Source: scikit-learn LinearRegression / Lasso / PLSRegression docs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5627BC6-F7D0-4A04-BDBF-DF973B35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86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6163F1C-FED6-4E5B-AFCB-C40D3296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9C"/>
          </a:solidFill>
          <a:ln xmlns:a="http://schemas.openxmlformats.org/drawingml/2006/main" w="0">
            <a:solidFill>
              <a:srgbClr val="315E9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BC33A8F-349C-4F01-A4B0-37FADB44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rPr>
              <a:t>MODEL COMPARISON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CD3685-CB1E-4806-BB93-9D2F5385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最小二乗・Lasso・PLSは、特徴量の扱いが違う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88BA16D-0230-493E-871E-B5CF2801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同じ「回帰」でも、モデルの原理を理解すると特徴が説明しやすい。</a:t>
            </a:r>
          </a:p>
        </p:txBody>
      </p:sp>
      <p:sp>
        <p:nvSpPr>
          <p:cNvPr id="9" name="header-0">
            <a:extLst xmlns:a="http://schemas.openxmlformats.org/drawingml/2006/main">
              <a:ext uri="{FF2B5EF4-FFF2-40B4-BE49-F238E27FC236}">
                <a16:creationId xmlns:a16="http://schemas.microsoft.com/office/drawing/2014/main" id="{BE571DD9-8138-45EA-B455-BCADAD6F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8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0" name="header-text-0">
            <a:extLst xmlns:a="http://schemas.openxmlformats.org/drawingml/2006/main">
              <a:ext uri="{FF2B5EF4-FFF2-40B4-BE49-F238E27FC236}">
                <a16:creationId xmlns:a16="http://schemas.microsoft.com/office/drawing/2014/main" id="{F7EA43EF-774B-4ED4-A428-4491F5AB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モデル</a:t>
            </a:r>
          </a:p>
        </p:txBody>
      </p:sp>
      <p:sp>
        <p:nvSpPr>
          <p:cNvPr id="11" name="header-1">
            <a:extLst xmlns:a="http://schemas.openxmlformats.org/drawingml/2006/main">
              <a:ext uri="{FF2B5EF4-FFF2-40B4-BE49-F238E27FC236}">
                <a16:creationId xmlns:a16="http://schemas.microsoft.com/office/drawing/2014/main" id="{BBA8AD09-25DB-40D2-8E35-10A2711C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47875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8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2" name="header-text-1">
            <a:extLst xmlns:a="http://schemas.openxmlformats.org/drawingml/2006/main">
              <a:ext uri="{FF2B5EF4-FFF2-40B4-BE49-F238E27FC236}">
                <a16:creationId xmlns:a16="http://schemas.microsoft.com/office/drawing/2014/main" id="{5B00EB63-4168-41CD-A6BB-12262BC4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526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原理</a:t>
            </a:r>
          </a:p>
        </p:txBody>
      </p:sp>
      <p:sp>
        <p:nvSpPr>
          <p:cNvPr id="13" name="header-2">
            <a:extLst xmlns:a="http://schemas.openxmlformats.org/drawingml/2006/main">
              <a:ext uri="{FF2B5EF4-FFF2-40B4-BE49-F238E27FC236}">
                <a16:creationId xmlns:a16="http://schemas.microsoft.com/office/drawing/2014/main" id="{FC79624A-14D9-4D9B-8168-2BD1484D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47875"/>
            <a:ext cx="3000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8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4" name="header-text-2">
            <a:extLst xmlns:a="http://schemas.openxmlformats.org/drawingml/2006/main">
              <a:ext uri="{FF2B5EF4-FFF2-40B4-BE49-F238E27FC236}">
                <a16:creationId xmlns:a16="http://schemas.microsoft.com/office/drawing/2014/main" id="{A8910188-C76A-4F6F-AF1C-974B2A7E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52650"/>
            <a:ext cx="2752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特徴量の扱い</a:t>
            </a:r>
          </a:p>
        </p:txBody>
      </p:sp>
      <p:sp>
        <p:nvSpPr>
          <p:cNvPr id="15" name="header-3">
            <a:extLst xmlns:a="http://schemas.openxmlformats.org/drawingml/2006/main">
              <a:ext uri="{FF2B5EF4-FFF2-40B4-BE49-F238E27FC236}">
                <a16:creationId xmlns:a16="http://schemas.microsoft.com/office/drawing/2014/main" id="{5313B726-9AF7-4617-A88E-9236B1CE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047875"/>
            <a:ext cx="3000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8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6" name="header-text-3">
            <a:extLst xmlns:a="http://schemas.openxmlformats.org/drawingml/2006/main">
              <a:ext uri="{FF2B5EF4-FFF2-40B4-BE49-F238E27FC236}">
                <a16:creationId xmlns:a16="http://schemas.microsoft.com/office/drawing/2014/main" id="{676AAFA1-6984-432F-B752-AE1B00BB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52650"/>
            <a:ext cx="2752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使う場面・注意点</a:t>
            </a:r>
          </a:p>
        </p:txBody>
      </p:sp>
      <p:sp>
        <p:nvSpPr>
          <p:cNvPr id="17" name="cell-0-0">
            <a:extLst xmlns:a="http://schemas.openxmlformats.org/drawingml/2006/main">
              <a:ext uri="{FF2B5EF4-FFF2-40B4-BE49-F238E27FC236}">
                <a16:creationId xmlns:a16="http://schemas.microsoft.com/office/drawing/2014/main" id="{E2587DC8-13D1-4AD8-BDC8-48EB86C6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8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0FD02546-9CB4-4554-94C3-726E0910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rPr>
              <a:t>最小二乗回帰</a:t>
            </a:r>
          </a:p>
        </p:txBody>
      </p:sp>
      <p:sp>
        <p:nvSpPr>
          <p:cNvPr id="19" name="cell-0-1">
            <a:extLst xmlns:a="http://schemas.openxmlformats.org/drawingml/2006/main">
              <a:ext uri="{FF2B5EF4-FFF2-40B4-BE49-F238E27FC236}">
                <a16:creationId xmlns:a16="http://schemas.microsoft.com/office/drawing/2014/main" id="{1529E05F-A6D6-40C4-AEB7-4CFE50E2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4317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20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EBD7C6F2-425B-4494-B7E5-4751EB54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47950"/>
            <a:ext cx="2609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誤差の二乗和が最小になる係数を探す。</a:t>
            </a:r>
          </a:p>
        </p:txBody>
      </p:sp>
      <p:sp>
        <p:nvSpPr>
          <p:cNvPr id="21" name="cell-0-2">
            <a:extLst xmlns:a="http://schemas.openxmlformats.org/drawingml/2006/main">
              <a:ext uri="{FF2B5EF4-FFF2-40B4-BE49-F238E27FC236}">
                <a16:creationId xmlns:a16="http://schemas.microsoft.com/office/drawing/2014/main" id="{C63AED9F-82E1-48EB-8F21-D52F4270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43175"/>
            <a:ext cx="3000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22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4107426F-4B6A-4D71-8954-270D452A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47950"/>
            <a:ext cx="27527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基本的には全特徴量を残す。</a:t>
            </a:r>
          </a:p>
        </p:txBody>
      </p:sp>
      <p:sp>
        <p:nvSpPr>
          <p:cNvPr id="23" name="cell-0-3">
            <a:extLst xmlns:a="http://schemas.openxmlformats.org/drawingml/2006/main">
              <a:ext uri="{FF2B5EF4-FFF2-40B4-BE49-F238E27FC236}">
                <a16:creationId xmlns:a16="http://schemas.microsoft.com/office/drawing/2014/main" id="{2A3F4B21-943F-4DB0-A45F-3027771C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43175"/>
            <a:ext cx="3000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24" name="cell-text-0-3">
            <a:extLst xmlns:a="http://schemas.openxmlformats.org/drawingml/2006/main">
              <a:ext uri="{FF2B5EF4-FFF2-40B4-BE49-F238E27FC236}">
                <a16:creationId xmlns:a16="http://schemas.microsoft.com/office/drawing/2014/main" id="{525241BF-AFBD-4A3F-8812-525A7E4F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47950"/>
            <a:ext cx="27527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最初の基準モデルに向く。特徴量が多い・強く相関する時は不安定になりやすい。</a:t>
            </a:r>
          </a:p>
        </p:txBody>
      </p:sp>
      <p:sp>
        <p:nvSpPr>
          <p:cNvPr id="25" name="cell-1-0">
            <a:extLst xmlns:a="http://schemas.openxmlformats.org/drawingml/2006/main">
              <a:ext uri="{FF2B5EF4-FFF2-40B4-BE49-F238E27FC236}">
                <a16:creationId xmlns:a16="http://schemas.microsoft.com/office/drawing/2014/main" id="{6F82D913-9F67-4A2A-B70A-18475D63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57575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26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B19B8893-09D3-438A-B0CD-6D6D95FA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Lasso回帰</a:t>
            </a:r>
          </a:p>
        </p:txBody>
      </p:sp>
      <p:sp>
        <p:nvSpPr>
          <p:cNvPr id="27" name="cell-1-1">
            <a:extLst xmlns:a="http://schemas.openxmlformats.org/drawingml/2006/main">
              <a:ext uri="{FF2B5EF4-FFF2-40B4-BE49-F238E27FC236}">
                <a16:creationId xmlns:a16="http://schemas.microsoft.com/office/drawing/2014/main" id="{AE5C8646-1ABC-4CB0-BC58-8A0B23AE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5757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28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37BC2E75-542A-46B1-83CE-51EF1D44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62350"/>
            <a:ext cx="2609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誤差に加えて、係数の絶対値の大きさに罰則をかける。</a:t>
            </a:r>
          </a:p>
        </p:txBody>
      </p:sp>
      <p:sp>
        <p:nvSpPr>
          <p:cNvPr id="29" name="cell-1-2">
            <a:extLst xmlns:a="http://schemas.openxmlformats.org/drawingml/2006/main">
              <a:ext uri="{FF2B5EF4-FFF2-40B4-BE49-F238E27FC236}">
                <a16:creationId xmlns:a16="http://schemas.microsoft.com/office/drawing/2014/main" id="{DAAD09A3-66B8-4DCC-9C46-CE4A959C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57575"/>
            <a:ext cx="3000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30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08356A85-A547-49A1-99D7-86A76AAB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62350"/>
            <a:ext cx="27527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係数が0になる特徴量があり、特徴量選択のように使える。</a:t>
            </a:r>
          </a:p>
        </p:txBody>
      </p:sp>
      <p:sp>
        <p:nvSpPr>
          <p:cNvPr id="31" name="cell-1-3">
            <a:extLst xmlns:a="http://schemas.openxmlformats.org/drawingml/2006/main">
              <a:ext uri="{FF2B5EF4-FFF2-40B4-BE49-F238E27FC236}">
                <a16:creationId xmlns:a16="http://schemas.microsoft.com/office/drawing/2014/main" id="{8536F7A2-4CF9-4822-A07F-507D0B3D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457575"/>
            <a:ext cx="3000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32" name="cell-text-1-3">
            <a:extLst xmlns:a="http://schemas.openxmlformats.org/drawingml/2006/main">
              <a:ext uri="{FF2B5EF4-FFF2-40B4-BE49-F238E27FC236}">
                <a16:creationId xmlns:a16="http://schemas.microsoft.com/office/drawing/2014/main" id="{87397DD6-E680-471C-B398-FB625406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62350"/>
            <a:ext cx="27527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alphaを変えて、削減数と予測精度のバランスを見る。</a:t>
            </a:r>
          </a:p>
        </p:txBody>
      </p:sp>
      <p:sp>
        <p:nvSpPr>
          <p:cNvPr id="33" name="cell-2-0">
            <a:extLst xmlns:a="http://schemas.openxmlformats.org/drawingml/2006/main">
              <a:ext uri="{FF2B5EF4-FFF2-40B4-BE49-F238E27FC236}">
                <a16:creationId xmlns:a16="http://schemas.microsoft.com/office/drawing/2014/main" id="{69C98530-B9DC-4DAA-83B5-B7650295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71975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34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CE7915FD-B014-49A2-A272-9FD34C8C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A5AA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7A5AA6"/>
                </a:solidFill>
                <a:latin typeface="Hiragino Sans"/>
                <a:ea typeface="Hiragino Sans"/>
                <a:cs typeface="Hiragino Sans"/>
              </a:rPr>
              <a:t>PLS回帰</a:t>
            </a:r>
          </a:p>
        </p:txBody>
      </p:sp>
      <p:sp>
        <p:nvSpPr>
          <p:cNvPr id="35" name="cell-2-1">
            <a:extLst xmlns:a="http://schemas.openxmlformats.org/drawingml/2006/main">
              <a:ext uri="{FF2B5EF4-FFF2-40B4-BE49-F238E27FC236}">
                <a16:creationId xmlns:a16="http://schemas.microsoft.com/office/drawing/2014/main" id="{BC50C454-6378-4294-884B-3611F9DB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7197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36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FCE968D8-A261-4728-BB44-BE77CE42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76750"/>
            <a:ext cx="2609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Xとyの関係が強く出る少数の成分を作り、その成分で回帰する。</a:t>
            </a:r>
          </a:p>
        </p:txBody>
      </p:sp>
      <p:sp>
        <p:nvSpPr>
          <p:cNvPr id="37" name="cell-2-2">
            <a:extLst xmlns:a="http://schemas.openxmlformats.org/drawingml/2006/main">
              <a:ext uri="{FF2B5EF4-FFF2-40B4-BE49-F238E27FC236}">
                <a16:creationId xmlns:a16="http://schemas.microsoft.com/office/drawing/2014/main" id="{1913BD07-9E0A-4DB7-9547-3F6EDE11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71975"/>
            <a:ext cx="3000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38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D0765339-97C6-4F79-BB03-7F692FA2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76750"/>
            <a:ext cx="27527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多くの特徴量を成分にまとめる。</a:t>
            </a:r>
          </a:p>
        </p:txBody>
      </p:sp>
      <p:sp>
        <p:nvSpPr>
          <p:cNvPr id="39" name="cell-2-3">
            <a:extLst xmlns:a="http://schemas.openxmlformats.org/drawingml/2006/main">
              <a:ext uri="{FF2B5EF4-FFF2-40B4-BE49-F238E27FC236}">
                <a16:creationId xmlns:a16="http://schemas.microsoft.com/office/drawing/2014/main" id="{D89146C9-6B0C-4C15-8328-255A2FA2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71975"/>
            <a:ext cx="3000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40" name="cell-text-2-3">
            <a:extLst xmlns:a="http://schemas.openxmlformats.org/drawingml/2006/main">
              <a:ext uri="{FF2B5EF4-FFF2-40B4-BE49-F238E27FC236}">
                <a16:creationId xmlns:a16="http://schemas.microsoft.com/office/drawing/2014/main" id="{33AEC7A2-8F2F-4ACB-AFF4-CCEBC468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476750"/>
            <a:ext cx="27527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特徴量が多い・相関が強い時に便利。n_componentsを選ぶ必要がある。</a:t>
            </a:r>
          </a:p>
        </p:txBody>
      </p:sp>
      <p:sp>
        <p:nvSpPr>
          <p:cNvPr id="41" name="cell-3-0">
            <a:extLst xmlns:a="http://schemas.openxmlformats.org/drawingml/2006/main">
              <a:ext uri="{FF2B5EF4-FFF2-40B4-BE49-F238E27FC236}">
                <a16:creationId xmlns:a16="http://schemas.microsoft.com/office/drawing/2014/main" id="{8E6C9F05-73DC-4F6D-86B5-C5E3E54B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42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E0A0AC5C-0138-48BC-81B3-2BCFB04B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共通点</a:t>
            </a:r>
          </a:p>
        </p:txBody>
      </p:sp>
      <p:sp>
        <p:nvSpPr>
          <p:cNvPr id="43" name="cell-3-1">
            <a:extLst xmlns:a="http://schemas.openxmlformats.org/drawingml/2006/main">
              <a:ext uri="{FF2B5EF4-FFF2-40B4-BE49-F238E27FC236}">
                <a16:creationId xmlns:a16="http://schemas.microsoft.com/office/drawing/2014/main" id="{06C03611-C580-486D-9C9B-878E5312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86375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44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C5B71FD0-3BB7-44D2-B8AC-A811AE7C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91150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どれも数値を予測する回帰モデル。</a:t>
            </a:r>
          </a:p>
        </p:txBody>
      </p:sp>
      <p:sp>
        <p:nvSpPr>
          <p:cNvPr id="45" name="cell-3-2">
            <a:extLst xmlns:a="http://schemas.openxmlformats.org/drawingml/2006/main">
              <a:ext uri="{FF2B5EF4-FFF2-40B4-BE49-F238E27FC236}">
                <a16:creationId xmlns:a16="http://schemas.microsoft.com/office/drawing/2014/main" id="{E6F69AB8-E809-4E67-A296-12B29960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286375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46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996E0A20-1A14-48CF-B245-5D3E8640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391150"/>
            <a:ext cx="2752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前処理や評価方法が重要。</a:t>
            </a:r>
          </a:p>
        </p:txBody>
      </p:sp>
      <p:sp>
        <p:nvSpPr>
          <p:cNvPr id="47" name="cell-3-3">
            <a:extLst xmlns:a="http://schemas.openxmlformats.org/drawingml/2006/main">
              <a:ext uri="{FF2B5EF4-FFF2-40B4-BE49-F238E27FC236}">
                <a16:creationId xmlns:a16="http://schemas.microsoft.com/office/drawing/2014/main" id="{1F611B66-CFD5-4C75-820E-33B09D3F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286375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48" name="cell-text-3-3">
            <a:extLst xmlns:a="http://schemas.openxmlformats.org/drawingml/2006/main">
              <a:ext uri="{FF2B5EF4-FFF2-40B4-BE49-F238E27FC236}">
                <a16:creationId xmlns:a16="http://schemas.microsoft.com/office/drawing/2014/main" id="{DE87EFFE-1AD3-4865-A040-680F3EBD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391150"/>
            <a:ext cx="2752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学習データだけで判断せず、テストデータで予測精度を比べる。</a:t>
            </a:r>
          </a:p>
        </p:txBody>
      </p:sp>
      <p:sp>
        <p:nvSpPr>
          <p:cNvPr id="49" name="table-bottom-rule">
            <a:extLst xmlns:a="http://schemas.openxmlformats.org/drawingml/2006/main">
              <a:ext uri="{FF2B5EF4-FFF2-40B4-BE49-F238E27FC236}">
                <a16:creationId xmlns:a16="http://schemas.microsoft.com/office/drawing/2014/main" id="{27ECF5B8-E1CD-4FDB-88AE-AE7B2895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8"/>
          </a:solidFill>
          <a:ln xmlns:a="http://schemas.openxmlformats.org/drawingml/2006/main" w="0">
            <a:solidFill>
              <a:srgbClr val="C7D0C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95307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9D60102-1548-4F1E-8960-29152E03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12A7379-0B2B-44A6-AF9F-32F119B6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8"/>
          </a:solidFill>
          <a:ln xmlns:a="http://schemas.openxmlformats.org/drawingml/2006/main" w="0">
            <a:solidFill>
              <a:srgbClr val="C7D0C8"/>
            </a:solidFill>
            <a:prstDash val="solid"/>
          </a:ln>
        </p:spPr>
      </p:sp>
      <p:sp>
        <p:nvSpPr>
          <p:cNvPr id="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7FE2AF3-5476-404A-A6C5-33D5A77B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rPr>
              <a:t>References: scikit-learn docs / source preview slide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D618F2D-9AC9-47A0-90D0-FA5C2E4E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86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7B838B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63E93EB-BD17-461A-A07C-647B18BD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C4BA77-6011-4851-80C0-6FF2B4D7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HOMEWORK CHEAT SHEET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78E8F1-A376-491D-AE9C-224F7EC8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定義とモデルの特徴をつなげて話す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3D32474-5F06-4D3C-BBB4-EAA23E20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E6872"/>
                </a:solidFill>
                <a:latin typeface="Hiragino Sans"/>
                <a:ea typeface="Hiragino Sans"/>
                <a:cs typeface="Hiragino Sans"/>
              </a:rPr>
              <a:t>当てられて説明するなら、この順番で答えると筋が通る。</a:t>
            </a:r>
          </a:p>
        </p:txBody>
      </p:sp>
      <p:sp>
        <p:nvSpPr>
          <p:cNvPr id="9" name="cheat-panel-0">
            <a:extLst xmlns:a="http://schemas.openxmlformats.org/drawingml/2006/main">
              <a:ext uri="{FF2B5EF4-FFF2-40B4-BE49-F238E27FC236}">
                <a16:creationId xmlns:a16="http://schemas.microsoft.com/office/drawing/2014/main" id="{E931098C-DA48-41A6-8328-DDCFFDBA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05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0" name="pill-回帰">
            <a:extLst xmlns:a="http://schemas.openxmlformats.org/drawingml/2006/main">
              <a:ext uri="{FF2B5EF4-FFF2-40B4-BE49-F238E27FC236}">
                <a16:creationId xmlns:a16="http://schemas.microsoft.com/office/drawing/2014/main" id="{64F1D151-8C77-4E21-97A3-67B21267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2F6F5E"/>
            </a:solidFill>
            <a:prstDash val="solid"/>
          </a:ln>
        </p:spPr>
      </p:sp>
      <p:sp>
        <p:nvSpPr>
          <p:cNvPr id="11" name="pill-label-回帰">
            <a:extLst xmlns:a="http://schemas.openxmlformats.org/drawingml/2006/main">
              <a:ext uri="{FF2B5EF4-FFF2-40B4-BE49-F238E27FC236}">
                <a16:creationId xmlns:a16="http://schemas.microsoft.com/office/drawing/2014/main" id="{3F84B9D1-372D-4266-BE7D-F87AC6BF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回帰</a:t>
            </a:r>
          </a:p>
        </p:txBody>
      </p:sp>
      <p:sp>
        <p:nvSpPr>
          <p:cNvPr id="12" name="cheat-text-0">
            <a:extLst xmlns:a="http://schemas.openxmlformats.org/drawingml/2006/main">
              <a:ext uri="{FF2B5EF4-FFF2-40B4-BE49-F238E27FC236}">
                <a16:creationId xmlns:a16="http://schemas.microsoft.com/office/drawing/2014/main" id="{10BAA8C0-DD04-47BE-B5CA-5EE0DAD3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193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数値を予測する問題。MEDVを当てるのが今回の回帰。</a:t>
            </a:r>
          </a:p>
        </p:txBody>
      </p:sp>
      <p:sp>
        <p:nvSpPr>
          <p:cNvPr id="13" name="cheat-panel-1">
            <a:extLst xmlns:a="http://schemas.openxmlformats.org/drawingml/2006/main">
              <a:ext uri="{FF2B5EF4-FFF2-40B4-BE49-F238E27FC236}">
                <a16:creationId xmlns:a16="http://schemas.microsoft.com/office/drawing/2014/main" id="{20FC4B93-4284-48DB-9ADA-98E85D72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4905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4" name="pill-線形">
            <a:extLst xmlns:a="http://schemas.openxmlformats.org/drawingml/2006/main">
              <a:ext uri="{FF2B5EF4-FFF2-40B4-BE49-F238E27FC236}">
                <a16:creationId xmlns:a16="http://schemas.microsoft.com/office/drawing/2014/main" id="{C1B6CEC1-4241-4822-9E38-ABE5458F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315E9C"/>
            </a:solidFill>
            <a:prstDash val="solid"/>
          </a:ln>
        </p:spPr>
      </p:sp>
      <p:sp>
        <p:nvSpPr>
          <p:cNvPr id="15" name="pill-label-線形">
            <a:extLst xmlns:a="http://schemas.openxmlformats.org/drawingml/2006/main">
              <a:ext uri="{FF2B5EF4-FFF2-40B4-BE49-F238E27FC236}">
                <a16:creationId xmlns:a16="http://schemas.microsoft.com/office/drawing/2014/main" id="{F10C0436-6AA6-4273-9CFB-0BF81475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479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315E9C"/>
                </a:solidFill>
                <a:latin typeface="Hiragino Sans"/>
                <a:ea typeface="Hiragino Sans"/>
                <a:cs typeface="Hiragino Sans"/>
              </a:rPr>
              <a:t>線形</a:t>
            </a:r>
          </a:p>
        </p:txBody>
      </p:sp>
      <p:sp>
        <p:nvSpPr>
          <p:cNvPr id="16" name="cheat-text-1">
            <a:extLst xmlns:a="http://schemas.openxmlformats.org/drawingml/2006/main">
              <a:ext uri="{FF2B5EF4-FFF2-40B4-BE49-F238E27FC236}">
                <a16:creationId xmlns:a16="http://schemas.microsoft.com/office/drawing/2014/main" id="{10E1F7C2-BC0F-44C0-A5B5-93C1E6BC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193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特徴量に重みをかけて足す、まっすぐな関係。</a:t>
            </a:r>
          </a:p>
        </p:txBody>
      </p:sp>
      <p:sp>
        <p:nvSpPr>
          <p:cNvPr id="17" name="cheat-panel-2">
            <a:extLst xmlns:a="http://schemas.openxmlformats.org/drawingml/2006/main">
              <a:ext uri="{FF2B5EF4-FFF2-40B4-BE49-F238E27FC236}">
                <a16:creationId xmlns:a16="http://schemas.microsoft.com/office/drawing/2014/main" id="{BA3A4822-6441-4067-84C8-180ED2A0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4905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8" name="pill-オートスケーリング">
            <a:extLst xmlns:a="http://schemas.openxmlformats.org/drawingml/2006/main">
              <a:ext uri="{FF2B5EF4-FFF2-40B4-BE49-F238E27FC236}">
                <a16:creationId xmlns:a16="http://schemas.microsoft.com/office/drawing/2014/main" id="{D63FD175-E1F5-4FCC-A6E2-27ED1C25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D45B37"/>
            </a:solidFill>
            <a:prstDash val="solid"/>
          </a:ln>
        </p:spPr>
      </p:sp>
      <p:sp>
        <p:nvSpPr>
          <p:cNvPr id="19" name="pill-label-オートスケーリング">
            <a:extLst xmlns:a="http://schemas.openxmlformats.org/drawingml/2006/main">
              <a:ext uri="{FF2B5EF4-FFF2-40B4-BE49-F238E27FC236}">
                <a16:creationId xmlns:a16="http://schemas.microsoft.com/office/drawing/2014/main" id="{9298A861-A1A7-4247-A3F7-3A1EBC19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D45B37"/>
                </a:solidFill>
                <a:latin typeface="Hiragino Sans"/>
                <a:ea typeface="Hiragino Sans"/>
                <a:cs typeface="Hiragino Sans"/>
              </a:rPr>
              <a:t>オートスケーリング</a:t>
            </a:r>
          </a:p>
        </p:txBody>
      </p:sp>
      <p:sp>
        <p:nvSpPr>
          <p:cNvPr id="20" name="cheat-text-2">
            <a:extLst xmlns:a="http://schemas.openxmlformats.org/drawingml/2006/main">
              <a:ext uri="{FF2B5EF4-FFF2-40B4-BE49-F238E27FC236}">
                <a16:creationId xmlns:a16="http://schemas.microsoft.com/office/drawing/2014/main" id="{248E5600-7F7A-4FDF-8976-FE38ED5D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575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平均0・標準偏差1にして、単位の違いをそろえる。</a:t>
            </a:r>
          </a:p>
        </p:txBody>
      </p:sp>
      <p:sp>
        <p:nvSpPr>
          <p:cNvPr id="21" name="cheat-panel-3">
            <a:extLst xmlns:a="http://schemas.openxmlformats.org/drawingml/2006/main">
              <a:ext uri="{FF2B5EF4-FFF2-40B4-BE49-F238E27FC236}">
                <a16:creationId xmlns:a16="http://schemas.microsoft.com/office/drawing/2014/main" id="{55B6E7D9-10EE-4DB0-AC70-11AB1644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33700"/>
            <a:ext cx="4905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22" name="pill-過学習">
            <a:extLst xmlns:a="http://schemas.openxmlformats.org/drawingml/2006/main">
              <a:ext uri="{FF2B5EF4-FFF2-40B4-BE49-F238E27FC236}">
                <a16:creationId xmlns:a16="http://schemas.microsoft.com/office/drawing/2014/main" id="{916E1689-8169-4389-9819-6A5B6ED2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480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23" name="pill-label-過学習">
            <a:extLst xmlns:a="http://schemas.openxmlformats.org/drawingml/2006/main">
              <a:ext uri="{FF2B5EF4-FFF2-40B4-BE49-F238E27FC236}">
                <a16:creationId xmlns:a16="http://schemas.microsoft.com/office/drawing/2014/main" id="{08BC1A24-94D3-4006-B783-21BC956C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0861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A441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D9A441"/>
                </a:solidFill>
                <a:latin typeface="Hiragino Sans"/>
                <a:ea typeface="Hiragino Sans"/>
                <a:cs typeface="Hiragino Sans"/>
              </a:rPr>
              <a:t>過学習</a:t>
            </a:r>
          </a:p>
        </p:txBody>
      </p:sp>
      <p:sp>
        <p:nvSpPr>
          <p:cNvPr id="24" name="cheat-text-3">
            <a:extLst xmlns:a="http://schemas.openxmlformats.org/drawingml/2006/main">
              <a:ext uri="{FF2B5EF4-FFF2-40B4-BE49-F238E27FC236}">
                <a16:creationId xmlns:a16="http://schemas.microsoft.com/office/drawing/2014/main" id="{67EE5BDC-8264-466D-BA8D-D05D49F5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575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学習データに合わせすぎ、未知データで外す状態。</a:t>
            </a:r>
          </a:p>
        </p:txBody>
      </p:sp>
      <p:sp>
        <p:nvSpPr>
          <p:cNvPr id="25" name="cheat-panel-4">
            <a:extLst xmlns:a="http://schemas.openxmlformats.org/drawingml/2006/main">
              <a:ext uri="{FF2B5EF4-FFF2-40B4-BE49-F238E27FC236}">
                <a16:creationId xmlns:a16="http://schemas.microsoft.com/office/drawing/2014/main" id="{7A669FC3-9233-4303-8EE2-6117A7C5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4905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26" name="pill-次元圧縮">
            <a:extLst xmlns:a="http://schemas.openxmlformats.org/drawingml/2006/main">
              <a:ext uri="{FF2B5EF4-FFF2-40B4-BE49-F238E27FC236}">
                <a16:creationId xmlns:a16="http://schemas.microsoft.com/office/drawing/2014/main" id="{3A7EE78A-2833-47CC-95E9-A94A14D1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7A5AA6"/>
            </a:solidFill>
            <a:prstDash val="solid"/>
          </a:ln>
        </p:spPr>
      </p:sp>
      <p:sp>
        <p:nvSpPr>
          <p:cNvPr id="27" name="pill-label-次元圧縮">
            <a:extLst xmlns:a="http://schemas.openxmlformats.org/drawingml/2006/main">
              <a:ext uri="{FF2B5EF4-FFF2-40B4-BE49-F238E27FC236}">
                <a16:creationId xmlns:a16="http://schemas.microsoft.com/office/drawing/2014/main" id="{850925FC-B207-4C1A-BDD9-49A80E5E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A5AA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7A5AA6"/>
                </a:solidFill>
                <a:latin typeface="Hiragino Sans"/>
                <a:ea typeface="Hiragino Sans"/>
                <a:cs typeface="Hiragino Sans"/>
              </a:rPr>
              <a:t>次元圧縮</a:t>
            </a:r>
          </a:p>
        </p:txBody>
      </p:sp>
      <p:sp>
        <p:nvSpPr>
          <p:cNvPr id="28" name="cheat-text-4">
            <a:extLst xmlns:a="http://schemas.openxmlformats.org/drawingml/2006/main">
              <a:ext uri="{FF2B5EF4-FFF2-40B4-BE49-F238E27FC236}">
                <a16:creationId xmlns:a16="http://schemas.microsoft.com/office/drawing/2014/main" id="{46071E26-0BFB-4120-B8A9-BE477545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957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多くの特徴量を少数の成分や重要特徴量にまとめる。</a:t>
            </a:r>
          </a:p>
        </p:txBody>
      </p:sp>
      <p:sp>
        <p:nvSpPr>
          <p:cNvPr id="29" name="cheat-panel-5">
            <a:extLst xmlns:a="http://schemas.openxmlformats.org/drawingml/2006/main">
              <a:ext uri="{FF2B5EF4-FFF2-40B4-BE49-F238E27FC236}">
                <a16:creationId xmlns:a16="http://schemas.microsoft.com/office/drawing/2014/main" id="{5F479C2F-FF16-4AEA-9B85-7342F916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71900"/>
            <a:ext cx="4905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30" name="pill-ハイパーパラメータ">
            <a:extLst xmlns:a="http://schemas.openxmlformats.org/drawingml/2006/main">
              <a:ext uri="{FF2B5EF4-FFF2-40B4-BE49-F238E27FC236}">
                <a16:creationId xmlns:a16="http://schemas.microsoft.com/office/drawing/2014/main" id="{B4F048A9-F941-4444-9B7B-6C10BA3F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862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2F6F5E"/>
            </a:solidFill>
            <a:prstDash val="solid"/>
          </a:ln>
        </p:spPr>
      </p:sp>
      <p:sp>
        <p:nvSpPr>
          <p:cNvPr id="31" name="pill-label-ハイパーパラメータ">
            <a:extLst xmlns:a="http://schemas.openxmlformats.org/drawingml/2006/main">
              <a:ext uri="{FF2B5EF4-FFF2-40B4-BE49-F238E27FC236}">
                <a16:creationId xmlns:a16="http://schemas.microsoft.com/office/drawing/2014/main" id="{DB3820E8-83FC-41D9-B13B-748DC57D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9243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ハイパーパラメータ</a:t>
            </a:r>
          </a:p>
        </p:txBody>
      </p:sp>
      <p:sp>
        <p:nvSpPr>
          <p:cNvPr id="32" name="cheat-text-5">
            <a:extLst xmlns:a="http://schemas.openxmlformats.org/drawingml/2006/main">
              <a:ext uri="{FF2B5EF4-FFF2-40B4-BE49-F238E27FC236}">
                <a16:creationId xmlns:a16="http://schemas.microsoft.com/office/drawing/2014/main" id="{63514D07-7E4D-4414-91EF-99879C65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957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alphaや成分数など、学習前に人が選ぶ設定。</a:t>
            </a:r>
          </a:p>
        </p:txBody>
      </p:sp>
      <p:sp>
        <p:nvSpPr>
          <p:cNvPr id="33" name="medv-panel">
            <a:extLst xmlns:a="http://schemas.openxmlformats.org/drawingml/2006/main">
              <a:ext uri="{FF2B5EF4-FFF2-40B4-BE49-F238E27FC236}">
                <a16:creationId xmlns:a16="http://schemas.microsoft.com/office/drawing/2014/main" id="{B541C611-4109-4B4A-900C-B902DC12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4905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34" name="medv-title">
            <a:extLst xmlns:a="http://schemas.openxmlformats.org/drawingml/2006/main">
              <a:ext uri="{FF2B5EF4-FFF2-40B4-BE49-F238E27FC236}">
                <a16:creationId xmlns:a16="http://schemas.microsoft.com/office/drawing/2014/main" id="{4198A20E-AA9B-4D7A-94D1-A51DE181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MEDV / 特徴量 / 予測精度</a:t>
            </a:r>
          </a:p>
        </p:txBody>
      </p:sp>
      <p:sp>
        <p:nvSpPr>
          <p:cNvPr id="35" name="medv-body">
            <a:extLst xmlns:a="http://schemas.openxmlformats.org/drawingml/2006/main">
              <a:ext uri="{FF2B5EF4-FFF2-40B4-BE49-F238E27FC236}">
                <a16:creationId xmlns:a16="http://schemas.microsoft.com/office/drawing/2014/main" id="{B3BD4DFB-EE93-42F7-B77B-CA2CF46E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3400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D7DDD9"/>
                </a:solidFill>
                <a:latin typeface="Hiragino Sans"/>
                <a:ea typeface="Hiragino Sans"/>
                <a:cs typeface="Hiragino Sans"/>
              </a:rPr>
              <a:t>MEDVは予測したい目的変数。特徴量は予測に使う列。予測精度は実測値と予測値の近さ。</a:t>
            </a:r>
          </a:p>
        </p:txBody>
      </p:sp>
      <p:sp>
        <p:nvSpPr>
          <p:cNvPr id="36" name="flow-panel">
            <a:extLst xmlns:a="http://schemas.openxmlformats.org/drawingml/2006/main">
              <a:ext uri="{FF2B5EF4-FFF2-40B4-BE49-F238E27FC236}">
                <a16:creationId xmlns:a16="http://schemas.microsoft.com/office/drawing/2014/main" id="{13A6F6E0-9B63-4443-90C8-B6DAA684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10125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4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37" name="flow-title">
            <a:extLst xmlns:a="http://schemas.openxmlformats.org/drawingml/2006/main">
              <a:ext uri="{FF2B5EF4-FFF2-40B4-BE49-F238E27FC236}">
                <a16:creationId xmlns:a16="http://schemas.microsoft.com/office/drawing/2014/main" id="{D465FAB6-3A2A-469E-B857-14C1CDF5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19675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41A1F"/>
                </a:solidFill>
                <a:latin typeface="Hiragino Sans"/>
                <a:ea typeface="Hiragino Sans"/>
                <a:cs typeface="Hiragino Sans"/>
              </a:rPr>
              <a:t>Lasso課題の説明の流れ</a:t>
            </a:r>
          </a:p>
        </p:txBody>
      </p:sp>
      <p:sp>
        <p:nvSpPr>
          <p:cNvPr id="38" name="flow-body">
            <a:extLst xmlns:a="http://schemas.openxmlformats.org/drawingml/2006/main">
              <a:ext uri="{FF2B5EF4-FFF2-40B4-BE49-F238E27FC236}">
                <a16:creationId xmlns:a16="http://schemas.microsoft.com/office/drawing/2014/main" id="{1DF8D067-7428-4A0B-9D4D-11F5B7AF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53050"/>
            <a:ext cx="4238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F6F5E"/>
                </a:solidFill>
                <a:latin typeface="Hiragino Sans"/>
                <a:ea typeface="Hiragino Sans"/>
                <a:cs typeface="Hiragino Sans"/>
              </a:rPr>
              <a:t>標準化 → alpha変更 → 削減特徴量数 → 予測精度を比較</a:t>
            </a:r>
          </a:p>
        </p:txBody>
      </p:sp>
    </p:spTree>
    <p:extLst>
      <p:ext uri="{BB962C8B-B14F-4D97-AF65-F5344CB8AC3E}">
        <p14:creationId xmlns:p14="http://schemas.microsoft.com/office/powerpoint/2010/main" val="1499718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2026-06-07T07:53:06.0030000Z</dcterms:created>
  <dcterms:modified xsi:type="dcterms:W3CDTF">2026-06-07T07:53:06.0030000Z</dcterms:modified>
</coreProperties>
</file>