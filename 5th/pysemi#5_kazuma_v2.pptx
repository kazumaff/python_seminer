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8" r:id="rId3"/>
    <p:sldId id="257" r:id="rId4"/>
    <p:sldId id="26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78428"/>
  </p:normalViewPr>
  <p:slideViewPr>
    <p:cSldViewPr snapToGrid="0">
      <p:cViewPr>
        <p:scale>
          <a:sx n="88" d="100"/>
          <a:sy n="88" d="100"/>
        </p:scale>
        <p:origin x="121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AE20E-D310-7F4F-83A9-5A44E5F6BD3D}" type="datetimeFigureOut">
              <a:rPr kumimoji="1" lang="ja-JP" altLang="en-US" smtClean="0"/>
              <a:t>2026/6/18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3B8CC-6341-254C-A7EB-C775FF99E84D}" type="slidenum">
              <a:rPr kumimoji="1" lang="ja-JP" altLang="en-US" smtClean="0"/>
              <a:t>‹#›</a:t>
            </a:fld>
            <a:endParaRPr kumimoji="1" lang="ja-JP" altLang="en-US"/>
          </a:p>
        </p:txBody>
      </p:sp>
    </p:spTree>
    <p:extLst>
      <p:ext uri="{BB962C8B-B14F-4D97-AF65-F5344CB8AC3E}">
        <p14:creationId xmlns:p14="http://schemas.microsoft.com/office/powerpoint/2010/main" val="5542249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出てきた出力が連続の値：回帰</a:t>
            </a:r>
            <a:br>
              <a:rPr kumimoji="1" lang="en-US" altLang="ja-JP" dirty="0"/>
            </a:br>
            <a:r>
              <a:rPr kumimoji="1" lang="ja-JP" altLang="en-US"/>
              <a:t>連続ではない</a:t>
            </a:r>
            <a:r>
              <a:rPr kumimoji="1" lang="en-US" altLang="ja-JP" dirty="0"/>
              <a:t>or</a:t>
            </a:r>
            <a:r>
              <a:rPr kumimoji="1" lang="ja-JP" altLang="en-US"/>
              <a:t>カテゴリー：分類</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3</a:t>
            </a:fld>
            <a:endParaRPr kumimoji="1" lang="ja-JP" altLang="en-US"/>
          </a:p>
        </p:txBody>
      </p:sp>
    </p:spTree>
    <p:extLst>
      <p:ext uri="{BB962C8B-B14F-4D97-AF65-F5344CB8AC3E}">
        <p14:creationId xmlns:p14="http://schemas.microsoft.com/office/powerpoint/2010/main" val="2111989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88B81-4BE0-BEC7-DC71-95F606F930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F53986-8C74-886F-F0B5-A47089CBDA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14547C6-7ECE-B6FD-EF96-BA9CDA1C5237}"/>
              </a:ext>
            </a:extLst>
          </p:cNvPr>
          <p:cNvSpPr>
            <a:spLocks noGrp="1"/>
          </p:cNvSpPr>
          <p:nvPr>
            <p:ph type="body" idx="1"/>
          </p:nvPr>
        </p:nvSpPr>
        <p:spPr/>
        <p:txBody>
          <a:bodyPr/>
          <a:lstStyle/>
          <a:p>
            <a:r>
              <a:rPr kumimoji="1" lang="ja-JP" altLang="en-US"/>
              <a:t>出てきた出力が連続の値：回帰</a:t>
            </a:r>
            <a:br>
              <a:rPr kumimoji="1" lang="en-US" altLang="ja-JP" dirty="0"/>
            </a:br>
            <a:r>
              <a:rPr kumimoji="1" lang="ja-JP" altLang="en-US"/>
              <a:t>連続ではない</a:t>
            </a:r>
            <a:r>
              <a:rPr kumimoji="1" lang="en-US" altLang="ja-JP" dirty="0"/>
              <a:t>or</a:t>
            </a:r>
            <a:r>
              <a:rPr kumimoji="1" lang="ja-JP" altLang="en-US"/>
              <a:t>カテゴリー：分類</a:t>
            </a:r>
          </a:p>
        </p:txBody>
      </p:sp>
      <p:sp>
        <p:nvSpPr>
          <p:cNvPr id="4" name="スライド番号プレースホルダー 3">
            <a:extLst>
              <a:ext uri="{FF2B5EF4-FFF2-40B4-BE49-F238E27FC236}">
                <a16:creationId xmlns:a16="http://schemas.microsoft.com/office/drawing/2014/main" id="{55D03478-1C94-68B8-1511-0B2CDD699272}"/>
              </a:ext>
            </a:extLst>
          </p:cNvPr>
          <p:cNvSpPr>
            <a:spLocks noGrp="1"/>
          </p:cNvSpPr>
          <p:nvPr>
            <p:ph type="sldNum" sz="quarter" idx="5"/>
          </p:nvPr>
        </p:nvSpPr>
        <p:spPr/>
        <p:txBody>
          <a:bodyPr/>
          <a:lstStyle/>
          <a:p>
            <a:fld id="{EAD3B8CC-6341-254C-A7EB-C775FF99E84D}" type="slidenum">
              <a:rPr kumimoji="1" lang="ja-JP" altLang="en-US" smtClean="0"/>
              <a:t>4</a:t>
            </a:fld>
            <a:endParaRPr kumimoji="1" lang="ja-JP" altLang="en-US"/>
          </a:p>
        </p:txBody>
      </p:sp>
    </p:spTree>
    <p:extLst>
      <p:ext uri="{BB962C8B-B14F-4D97-AF65-F5344CB8AC3E}">
        <p14:creationId xmlns:p14="http://schemas.microsoft.com/office/powerpoint/2010/main" val="1177460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あるサンプルのクラスを推定する時にクラスがすでにわかっているサンプルの中から、クラスを推定したいサンプルに最も近いk個のサンプルを選び、それらのクラスで多数決をとってクラスを決定する方法</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5</a:t>
            </a:fld>
            <a:endParaRPr kumimoji="1" lang="ja-JP" altLang="en-US"/>
          </a:p>
        </p:txBody>
      </p:sp>
    </p:spTree>
    <p:extLst>
      <p:ext uri="{BB962C8B-B14F-4D97-AF65-F5344CB8AC3E}">
        <p14:creationId xmlns:p14="http://schemas.microsoft.com/office/powerpoint/2010/main" val="145824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メリット：</a:t>
            </a:r>
            <a:r>
              <a:rPr lang="ja-JP" altLang="ja-JP"/>
              <a:t>非常にシンプルな手法である、学習を必要としない、外れ値に頑健である</a:t>
            </a:r>
            <a:br>
              <a:rPr lang="en-US" altLang="ja-JP" dirty="0"/>
            </a:br>
            <a:r>
              <a:rPr lang="ja-JP" altLang="en-US"/>
              <a:t>デメリット：</a:t>
            </a:r>
            <a:r>
              <a:rPr lang="ja-JP" altLang="ja-JP"/>
              <a:t>それぞれのデータについて多数決を取らなければならないという性質上、データ数が増えるに伴って計算量も非常に多くなってしまうというデメリットがあります。</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6</a:t>
            </a:fld>
            <a:endParaRPr kumimoji="1" lang="ja-JP" altLang="en-US"/>
          </a:p>
        </p:txBody>
      </p:sp>
    </p:spTree>
    <p:extLst>
      <p:ext uri="{BB962C8B-B14F-4D97-AF65-F5344CB8AC3E}">
        <p14:creationId xmlns:p14="http://schemas.microsoft.com/office/powerpoint/2010/main" val="2770411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Random</a:t>
            </a:r>
            <a:r>
              <a:rPr kumimoji="1" lang="ja-JP" altLang="en-US"/>
              <a:t> </a:t>
            </a:r>
            <a:r>
              <a:rPr kumimoji="1" lang="en-US" altLang="ja-JP" dirty="0"/>
              <a:t>Forest</a:t>
            </a:r>
            <a:r>
              <a:rPr kumimoji="1" lang="ja-JP" altLang="en-US"/>
              <a:t>の説明の前に決定木の説明</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Yes/Noで答えられる分岐で構成された階層的な木構造を構築</a:t>
            </a:r>
            <a:br>
              <a:rPr lang="ja-JP" altLang="ja-JP"/>
            </a:br>
            <a:r>
              <a:rPr lang="ja-JP" altLang="ja-JP"/>
              <a:t>分岐の数と閾値をさまざまに変えて入力データに最適化</a:t>
            </a:r>
            <a:br>
              <a:rPr lang="ja-JP" altLang="ja-JP"/>
            </a:br>
            <a:r>
              <a:rPr lang="ja-JP" altLang="ja-JP"/>
              <a:t>過学習に注意、外挿は不得意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7</a:t>
            </a:fld>
            <a:endParaRPr kumimoji="1" lang="ja-JP" altLang="en-US"/>
          </a:p>
        </p:txBody>
      </p:sp>
    </p:spTree>
    <p:extLst>
      <p:ext uri="{BB962C8B-B14F-4D97-AF65-F5344CB8AC3E}">
        <p14:creationId xmlns:p14="http://schemas.microsoft.com/office/powerpoint/2010/main" val="3917880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複数の機械学習を組み合わせにより強力なモデルを構築するアンサンブル法の一つ</a:t>
            </a:r>
            <a:br>
              <a:rPr lang="ja-JP" altLang="ja-JP"/>
            </a:br>
            <a:r>
              <a:rPr lang="ja-JP" altLang="ja-JP"/>
              <a:t> Rondom Forestは決定木のアンサンブル手法</a:t>
            </a:r>
            <a:br>
              <a:rPr lang="ja-JP" altLang="ja-JP"/>
            </a:br>
            <a:r>
              <a:rPr lang="ja-JP" altLang="ja-JP"/>
              <a:t>データの一部をサンプルしてN個の決定木を学習</a:t>
            </a:r>
            <a:br>
              <a:rPr lang="ja-JP" altLang="ja-JP"/>
            </a:br>
            <a:r>
              <a:rPr lang="ja-JP" altLang="ja-JP"/>
              <a:t>N個の決定木の多数決(or 平均)で予測</a:t>
            </a:r>
            <a:br>
              <a:rPr lang="ja-JP" altLang="ja-JP"/>
            </a:br>
            <a:r>
              <a:rPr lang="ja-JP" altLang="ja-JP"/>
              <a:t> 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8</a:t>
            </a:fld>
            <a:endParaRPr kumimoji="1" lang="ja-JP" altLang="en-US"/>
          </a:p>
        </p:txBody>
      </p:sp>
    </p:spTree>
    <p:extLst>
      <p:ext uri="{BB962C8B-B14F-4D97-AF65-F5344CB8AC3E}">
        <p14:creationId xmlns:p14="http://schemas.microsoft.com/office/powerpoint/2010/main" val="3909857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クラス分類の結果をまとめた表</a:t>
            </a:r>
          </a:p>
          <a:p>
            <a:r>
              <a:rPr kumimoji="1" lang="en-US" altLang="ja-JP" dirty="0"/>
              <a:t>TP : True Positive </a:t>
            </a:r>
            <a:r>
              <a:rPr kumimoji="1" lang="ja-JP" altLang="en-US"/>
              <a:t>（実際に犬で、正しく犬と推測できている）（真陽性）</a:t>
            </a:r>
            <a:br>
              <a:rPr kumimoji="1" lang="en-US" altLang="ja-JP" dirty="0"/>
            </a:br>
            <a:r>
              <a:rPr kumimoji="1" lang="en-US" altLang="ja-JP" dirty="0"/>
              <a:t>TN : True Negative</a:t>
            </a:r>
            <a:r>
              <a:rPr kumimoji="1" lang="ja-JP" altLang="en-US"/>
              <a:t>（犬でないものを、正しく犬でないと推測できる）（真陰性）</a:t>
            </a:r>
            <a:br>
              <a:rPr kumimoji="1" lang="en-US" altLang="ja-JP" dirty="0"/>
            </a:br>
            <a:r>
              <a:rPr kumimoji="1" lang="en-US" altLang="ja-JP" dirty="0"/>
              <a:t>FP : False Positive </a:t>
            </a:r>
            <a:r>
              <a:rPr kumimoji="1" lang="ja-JP" altLang="en-US"/>
              <a:t>（実際に犬で、誤って犬でないと推測してしまっている）（偽陽性）</a:t>
            </a:r>
            <a:br>
              <a:rPr kumimoji="1" lang="en-US" altLang="ja-JP" dirty="0"/>
            </a:br>
            <a:r>
              <a:rPr kumimoji="1" lang="en-US" altLang="ja-JP" dirty="0"/>
              <a:t>FN : False Negative</a:t>
            </a:r>
            <a:r>
              <a:rPr kumimoji="1" lang="ja-JP" altLang="en-US"/>
              <a:t>（犬でないものを、誤って犬と推測してしまっている）（偽陰性）</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9</a:t>
            </a:fld>
            <a:endParaRPr kumimoji="1" lang="ja-JP" altLang="en-US"/>
          </a:p>
        </p:txBody>
      </p:sp>
    </p:spTree>
    <p:extLst>
      <p:ext uri="{BB962C8B-B14F-4D97-AF65-F5344CB8AC3E}">
        <p14:creationId xmlns:p14="http://schemas.microsoft.com/office/powerpoint/2010/main" val="3999730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これらは全て</a:t>
            </a:r>
            <a:r>
              <a:rPr kumimoji="1" lang="en-US" altLang="ja-JP" dirty="0"/>
              <a:t>0~1</a:t>
            </a:r>
            <a:r>
              <a:rPr kumimoji="1" lang="ja-JP" altLang="en-US"/>
              <a:t>の値を取る。</a:t>
            </a:r>
            <a:endParaRPr kumimoji="1" lang="en-US" altLang="ja-JP" dirty="0"/>
          </a:p>
          <a:p>
            <a:r>
              <a:rPr kumimoji="1" lang="en-US" altLang="ja-JP" dirty="0"/>
              <a:t>Accuracy</a:t>
            </a:r>
            <a:r>
              <a:rPr kumimoji="1" lang="ja-JP" altLang="en-US"/>
              <a:t>：正しく予測されたサンプルの割合、１に近づくほどよい</a:t>
            </a:r>
            <a:endParaRPr kumimoji="1" lang="en-US" altLang="ja-JP" dirty="0"/>
          </a:p>
          <a:p>
            <a:r>
              <a:rPr kumimoji="1" lang="en-US" altLang="ja-JP" dirty="0"/>
              <a:t>Precision</a:t>
            </a:r>
            <a:r>
              <a:rPr kumimoji="1" lang="ja-JP" altLang="en-US"/>
              <a:t>：陽性と予測されたサンプルの内、実際に陽性であるサンプルの割合、１に近づくほど良い</a:t>
            </a:r>
            <a:endParaRPr kumimoji="1" lang="en-US" altLang="ja-JP" dirty="0"/>
          </a:p>
          <a:p>
            <a:r>
              <a:rPr kumimoji="1" lang="en-US" altLang="ja-JP" dirty="0"/>
              <a:t>Recall</a:t>
            </a:r>
            <a:r>
              <a:rPr kumimoji="1" lang="ja-JP" altLang="en-US"/>
              <a:t>：実際に陽性であるサンプルの内、正しく陽性と予測されたサンプルの割合（真陽性率）、１に近づくほど良い</a:t>
            </a:r>
            <a:endParaRPr kumimoji="1" lang="en-US" altLang="ja-JP" dirty="0"/>
          </a:p>
          <a:p>
            <a:r>
              <a:rPr kumimoji="1" lang="en-US" altLang="ja-JP" dirty="0"/>
              <a:t>Accuracy</a:t>
            </a:r>
            <a:r>
              <a:rPr kumimoji="1" lang="ja-JP" altLang="en-US"/>
              <a:t>だけではダメなのか：材料開発データを分類問題に落とし込むと、作成サンプルが正常</a:t>
            </a:r>
            <a:r>
              <a:rPr kumimoji="1" lang="en-US" altLang="ja-JP" dirty="0"/>
              <a:t>or</a:t>
            </a:r>
            <a:r>
              <a:rPr kumimoji="1" lang="ja-JP" altLang="en-US"/>
              <a:t>異常を判定する。普通は正常なモノを狙うため正常データが多くなり、</a:t>
            </a:r>
            <a:br>
              <a:rPr kumimoji="1" lang="en-US" altLang="ja-JP" dirty="0"/>
            </a:br>
            <a:r>
              <a:rPr kumimoji="1" lang="ja-JP" altLang="en-US"/>
              <a:t>データ数が均一でない不均衡なデータになる場合が多い。正解率で機械学習モデルの性能を適切に評価することは難しくなる</a:t>
            </a:r>
            <a:br>
              <a:rPr kumimoji="1" lang="en-US" altLang="ja-JP" dirty="0"/>
            </a:br>
            <a:r>
              <a:rPr kumimoji="1" lang="ja-JP" altLang="en-US"/>
              <a:t>（予測時に全て正常と予測しても正解率としては高い数値になるから）</a:t>
            </a:r>
            <a:br>
              <a:rPr kumimoji="1" lang="en-US" altLang="ja-JP" dirty="0"/>
            </a:br>
            <a:r>
              <a:rPr kumimoji="1" lang="en-US" altLang="ja-JP" dirty="0"/>
              <a:t>Precision</a:t>
            </a:r>
            <a:r>
              <a:rPr kumimoji="1" lang="ja-JP" altLang="en-US"/>
              <a:t>は誤検知を減らしたい時に重視する。本当に自信のあるモノしか選べないと評価値としては高く出るが、見逃しも多くなる。</a:t>
            </a:r>
            <a:endParaRPr kumimoji="1" lang="en-US" altLang="ja-JP" dirty="0"/>
          </a:p>
          <a:p>
            <a:r>
              <a:rPr kumimoji="1" lang="en-US" altLang="ja-JP" dirty="0"/>
              <a:t>Recall</a:t>
            </a:r>
            <a:r>
              <a:rPr kumimoji="1" lang="ja-JP" altLang="en-US"/>
              <a:t>は見逃しをしたくないときに重視する。ただし全てのサンプルをそのクラスと予測すれば評価値は高くなる一方で、誤検知も多くなる。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10</a:t>
            </a:fld>
            <a:endParaRPr kumimoji="1" lang="ja-JP" altLang="en-US"/>
          </a:p>
        </p:txBody>
      </p:sp>
    </p:spTree>
    <p:extLst>
      <p:ext uri="{BB962C8B-B14F-4D97-AF65-F5344CB8AC3E}">
        <p14:creationId xmlns:p14="http://schemas.microsoft.com/office/powerpoint/2010/main" val="3972376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適合率と再現性から構成される重み付きの指標、代表的なβの値としてはβ＝1,0.5,2などがある。</a:t>
            </a:r>
            <a:br>
              <a:rPr lang="ja-JP" altLang="ja-JP"/>
            </a:br>
            <a:r>
              <a:rPr lang="ja-JP" altLang="ja-JP"/>
              <a:t>β＝１の場合は適合率と再現性の調和平均となる適合率と再現性のバランスのとれた評価指標である。</a:t>
            </a:r>
          </a:p>
          <a:p>
            <a:r>
              <a:rPr lang="ja-JP" altLang="ja-JP"/>
              <a:t>β＝</a:t>
            </a:r>
            <a:r>
              <a:rPr lang="en-US" altLang="ja-JP" dirty="0"/>
              <a:t>0.5</a:t>
            </a:r>
            <a:r>
              <a:rPr lang="ja-JP" altLang="ja-JP"/>
              <a:t>の場合は</a:t>
            </a:r>
            <a:r>
              <a:rPr lang="ja-JP" altLang="en-US"/>
              <a:t>誤差検知を避けたい＝</a:t>
            </a:r>
            <a:r>
              <a:rPr lang="en-US" altLang="ja-JP" dirty="0"/>
              <a:t>Precision</a:t>
            </a:r>
            <a:r>
              <a:rPr lang="ja-JP" altLang="en-US"/>
              <a:t>（適合率）を重視したい</a:t>
            </a:r>
            <a:endParaRPr lang="en-US" altLang="ja-JP" dirty="0"/>
          </a:p>
          <a:p>
            <a:r>
              <a:rPr lang="ja-JP" altLang="ja-JP"/>
              <a:t>β＝</a:t>
            </a:r>
            <a:r>
              <a:rPr lang="en-US" altLang="ja-JP" dirty="0"/>
              <a:t>2</a:t>
            </a:r>
            <a:r>
              <a:rPr lang="ja-JP" altLang="ja-JP"/>
              <a:t>の場合は</a:t>
            </a:r>
            <a:r>
              <a:rPr lang="ja-JP" altLang="en-US"/>
              <a:t>見逃しを避けたい＝</a:t>
            </a:r>
            <a:r>
              <a:rPr lang="en-US" altLang="ja-JP" dirty="0"/>
              <a:t>Recall</a:t>
            </a:r>
            <a:r>
              <a:rPr lang="ja-JP" altLang="en-US"/>
              <a:t>（再現率）を重視したい</a:t>
            </a:r>
            <a:br>
              <a:rPr lang="en-US" altLang="ja-JP" dirty="0"/>
            </a:br>
            <a:r>
              <a:rPr lang="en-US" altLang="ja-JP" dirty="0"/>
              <a:t>Precision</a:t>
            </a:r>
            <a:r>
              <a:rPr lang="ja-JP" altLang="en-US"/>
              <a:t>と</a:t>
            </a:r>
            <a:r>
              <a:rPr lang="en-US" altLang="ja-JP" dirty="0"/>
              <a:t>Recall</a:t>
            </a:r>
            <a:r>
              <a:rPr lang="ja-JP" altLang="en-US"/>
              <a:t>のバランスを見る</a:t>
            </a:r>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11</a:t>
            </a:fld>
            <a:endParaRPr kumimoji="1" lang="ja-JP" altLang="en-US"/>
          </a:p>
        </p:txBody>
      </p:sp>
    </p:spTree>
    <p:extLst>
      <p:ext uri="{BB962C8B-B14F-4D97-AF65-F5344CB8AC3E}">
        <p14:creationId xmlns:p14="http://schemas.microsoft.com/office/powerpoint/2010/main" val="2175974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機械学習の性能が良いほど、プロットされた</a:t>
            </a:r>
            <a:r>
              <a:rPr kumimoji="1" lang="en-US" altLang="ja-JP" dirty="0"/>
              <a:t>ROC</a:t>
            </a:r>
            <a:r>
              <a:rPr kumimoji="1" lang="ja-JP" altLang="en-US"/>
              <a:t>曲線が左上に近づく。</a:t>
            </a:r>
            <a:br>
              <a:rPr kumimoji="1" lang="en-US" altLang="ja-JP" dirty="0"/>
            </a:br>
            <a:r>
              <a:rPr kumimoji="1" lang="ja-JP" altLang="en-US"/>
              <a:t>→</a:t>
            </a:r>
            <a:r>
              <a:rPr kumimoji="1" lang="en-US" altLang="ja-JP" dirty="0"/>
              <a:t>AUC</a:t>
            </a:r>
            <a:r>
              <a:rPr kumimoji="1" lang="ja-JP" altLang="en-US"/>
              <a:t>（</a:t>
            </a:r>
            <a:r>
              <a:rPr kumimoji="1" lang="en-US" altLang="ja-JP" dirty="0"/>
              <a:t>ROC</a:t>
            </a:r>
            <a:r>
              <a:rPr kumimoji="1" lang="ja-JP" altLang="en-US"/>
              <a:t>曲線下の面積）が大きくなるとモデルが良くなる。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12</a:t>
            </a:fld>
            <a:endParaRPr kumimoji="1" lang="ja-JP" altLang="en-US"/>
          </a:p>
        </p:txBody>
      </p:sp>
    </p:spTree>
    <p:extLst>
      <p:ext uri="{BB962C8B-B14F-4D97-AF65-F5344CB8AC3E}">
        <p14:creationId xmlns:p14="http://schemas.microsoft.com/office/powerpoint/2010/main" val="2887761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機械学習の性能が良いほど、プロットされた</a:t>
            </a:r>
            <a:r>
              <a:rPr kumimoji="1" lang="en-US" altLang="ja-JP" dirty="0"/>
              <a:t>PR</a:t>
            </a:r>
            <a:r>
              <a:rPr kumimoji="1" lang="ja-JP" altLang="en-US"/>
              <a:t>曲線が右上に近づく。</a:t>
            </a:r>
            <a:br>
              <a:rPr kumimoji="1" lang="en-US" altLang="ja-JP" dirty="0"/>
            </a:br>
            <a:r>
              <a:rPr kumimoji="1" lang="ja-JP" altLang="en-US"/>
              <a:t>→</a:t>
            </a:r>
            <a:r>
              <a:rPr kumimoji="1" lang="en-US" altLang="ja-JP" dirty="0"/>
              <a:t>AUC</a:t>
            </a:r>
            <a:r>
              <a:rPr kumimoji="1" lang="ja-JP" altLang="en-US"/>
              <a:t>（</a:t>
            </a:r>
            <a:r>
              <a:rPr kumimoji="1" lang="en-US" altLang="ja-JP" dirty="0"/>
              <a:t>PR</a:t>
            </a:r>
            <a:r>
              <a:rPr kumimoji="1" lang="ja-JP" altLang="en-US"/>
              <a:t>曲線下の面積）が大きくなるとモデルが良くなる。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13</a:t>
            </a:fld>
            <a:endParaRPr kumimoji="1" lang="ja-JP" altLang="en-US"/>
          </a:p>
        </p:txBody>
      </p:sp>
    </p:spTree>
    <p:extLst>
      <p:ext uri="{BB962C8B-B14F-4D97-AF65-F5344CB8AC3E}">
        <p14:creationId xmlns:p14="http://schemas.microsoft.com/office/powerpoint/2010/main" val="996997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724480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772E2BD-A581-49AD-59A9-3BDC4F5D88BD}"/>
              </a:ext>
            </a:extLst>
          </p:cNvPr>
          <p:cNvSpPr/>
          <p:nvPr userDrawn="1"/>
        </p:nvSpPr>
        <p:spPr>
          <a:xfrm>
            <a:off x="0" y="-54767"/>
            <a:ext cx="9144000" cy="970360"/>
          </a:xfrm>
          <a:prstGeom prst="rect">
            <a:avLst/>
          </a:prstGeom>
          <a:gradFill flip="none" rotWithShape="1">
            <a:gsLst>
              <a:gs pos="0">
                <a:srgbClr val="0070C0">
                  <a:tint val="66000"/>
                  <a:satMod val="160000"/>
                  <a:lumMod val="89347"/>
                </a:srgbClr>
              </a:gs>
              <a:gs pos="50000">
                <a:srgbClr val="0070C0">
                  <a:tint val="44500"/>
                  <a:satMod val="160000"/>
                </a:srgbClr>
              </a:gs>
              <a:gs pos="100000">
                <a:srgbClr val="0070C0">
                  <a:tint val="23500"/>
                  <a:satMod val="160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i="0" baseline="0">
              <a:latin typeface="Hiragino Sans W6" panose="020B0400000000000000" pitchFamily="34" charset="-128"/>
              <a:ea typeface="Hiragino Sans W6" panose="020B0400000000000000" pitchFamily="34" charset="-128"/>
            </a:endParaRPr>
          </a:p>
        </p:txBody>
      </p:sp>
      <p:sp>
        <p:nvSpPr>
          <p:cNvPr id="2" name="Title 1"/>
          <p:cNvSpPr>
            <a:spLocks noGrp="1"/>
          </p:cNvSpPr>
          <p:nvPr>
            <p:ph type="title"/>
          </p:nvPr>
        </p:nvSpPr>
        <p:spPr>
          <a:xfrm>
            <a:off x="0" y="18256"/>
            <a:ext cx="9144000" cy="897337"/>
          </a:xfrm>
        </p:spPr>
        <p:txBody>
          <a:bodyPr/>
          <a:lstStyle>
            <a:lvl1pPr>
              <a:defRPr b="1" i="0" baseline="0">
                <a:latin typeface="Hiragino Sans W6" panose="020B0400000000000000" pitchFamily="34" charset="-128"/>
                <a:ea typeface="Hiragino Sans W6" panose="020B0400000000000000" pitchFamily="34" charset="-128"/>
              </a:defRPr>
            </a:lvl1pPr>
          </a:lstStyle>
          <a:p>
            <a:r>
              <a:rPr lang="ja-JP" altLang="en-US"/>
              <a:t>マスター タイトルの書式設定</a:t>
            </a:r>
            <a:endParaRPr lang="en-US"/>
          </a:p>
        </p:txBody>
      </p:sp>
      <p:sp>
        <p:nvSpPr>
          <p:cNvPr id="3" name="Content Placeholder 2"/>
          <p:cNvSpPr>
            <a:spLocks noGrp="1"/>
          </p:cNvSpPr>
          <p:nvPr>
            <p:ph idx="1"/>
          </p:nvPr>
        </p:nvSpPr>
        <p:spPr>
          <a:xfrm>
            <a:off x="628650" y="4220876"/>
            <a:ext cx="7886700" cy="1834236"/>
          </a:xfrm>
          <a:solidFill>
            <a:schemeClr val="accent4">
              <a:lumMod val="20000"/>
              <a:lumOff val="80000"/>
              <a:alpha val="65669"/>
            </a:schemeClr>
          </a:solid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lvl1pPr>
              <a:defRPr b="0" i="0" baseline="0">
                <a:latin typeface="Helvetica" pitchFamily="2" charset="0"/>
                <a:ea typeface="Hiragino Sans W4" panose="020B0400000000000000" pitchFamily="34" charset="-128"/>
              </a:defRPr>
            </a:lvl1pPr>
          </a:lstStyle>
          <a:p>
            <a:fld id="{32394990-A274-8E4A-90A0-60225761FA15}" type="datetimeFigureOut">
              <a:rPr kumimoji="1" lang="ja-JP" altLang="en-US" smtClean="0"/>
              <a:pPr/>
              <a:t>2026/6/18</a:t>
            </a:fld>
            <a:endParaRPr kumimoji="1" lang="ja-JP" altLang="en-US">
              <a:latin typeface="Helvetica" pitchFamily="2" charset="0"/>
            </a:endParaRPr>
          </a:p>
        </p:txBody>
      </p:sp>
      <p:sp>
        <p:nvSpPr>
          <p:cNvPr id="5" name="Footer Placeholder 4"/>
          <p:cNvSpPr>
            <a:spLocks noGrp="1"/>
          </p:cNvSpPr>
          <p:nvPr>
            <p:ph type="ftr" sz="quarter" idx="11"/>
          </p:nvPr>
        </p:nvSpPr>
        <p:spPr/>
        <p:txBody>
          <a:bodyPr/>
          <a:lstStyle>
            <a:lvl1pPr>
              <a:defRPr b="0" i="0" baseline="0">
                <a:latin typeface="Helvetica" pitchFamily="2" charset="0"/>
                <a:ea typeface="Hiragino Sans W4" panose="020B0400000000000000" pitchFamily="34" charset="-128"/>
              </a:defRPr>
            </a:lvl1pPr>
          </a:lstStyle>
          <a:p>
            <a:endParaRPr kumimoji="1" lang="ja-JP" altLang="en-US">
              <a:latin typeface="Helvetica" pitchFamily="2" charset="0"/>
            </a:endParaRPr>
          </a:p>
        </p:txBody>
      </p:sp>
      <p:sp>
        <p:nvSpPr>
          <p:cNvPr id="6" name="Slide Number Placeholder 5"/>
          <p:cNvSpPr>
            <a:spLocks noGrp="1"/>
          </p:cNvSpPr>
          <p:nvPr>
            <p:ph type="sldNum" sz="quarter" idx="12"/>
          </p:nvPr>
        </p:nvSpPr>
        <p:spPr>
          <a:xfrm>
            <a:off x="8515350" y="6474618"/>
            <a:ext cx="628650" cy="365125"/>
          </a:xfrm>
        </p:spPr>
        <p:txBody>
          <a:bodyPr/>
          <a:lstStyle>
            <a:lvl1pPr>
              <a:defRPr b="0" i="0" baseline="0">
                <a:latin typeface="Helvetica" pitchFamily="2" charset="0"/>
                <a:ea typeface="Hiragino Sans W4" panose="020B0400000000000000" pitchFamily="34" charset="-128"/>
              </a:defRPr>
            </a:lvl1pPr>
          </a:lstStyle>
          <a:p>
            <a:fld id="{A500AC58-3283-5748-9D35-E5F45705EE4F}" type="slidenum">
              <a:rPr kumimoji="1" lang="ja-JP" altLang="en-US" smtClean="0"/>
              <a:pPr/>
              <a:t>‹#›</a:t>
            </a:fld>
            <a:endParaRPr kumimoji="1" lang="ja-JP" altLang="en-US">
              <a:latin typeface="Helvetica" pitchFamily="2" charset="0"/>
            </a:endParaRPr>
          </a:p>
        </p:txBody>
      </p:sp>
      <p:cxnSp>
        <p:nvCxnSpPr>
          <p:cNvPr id="10" name="直線コネクタ 9">
            <a:extLst>
              <a:ext uri="{FF2B5EF4-FFF2-40B4-BE49-F238E27FC236}">
                <a16:creationId xmlns:a16="http://schemas.microsoft.com/office/drawing/2014/main" id="{A316EAD2-933B-B126-230A-436943039E46}"/>
              </a:ext>
            </a:extLst>
          </p:cNvPr>
          <p:cNvCxnSpPr>
            <a:cxnSpLocks/>
          </p:cNvCxnSpPr>
          <p:nvPr userDrawn="1"/>
        </p:nvCxnSpPr>
        <p:spPr>
          <a:xfrm>
            <a:off x="0" y="807695"/>
            <a:ext cx="9144000" cy="0"/>
          </a:xfrm>
          <a:prstGeom prst="line">
            <a:avLst/>
          </a:prstGeom>
          <a:ln w="1905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82BFB155-7EDD-7691-228F-77E9F6419112}"/>
              </a:ext>
            </a:extLst>
          </p:cNvPr>
          <p:cNvCxnSpPr>
            <a:cxnSpLocks/>
          </p:cNvCxnSpPr>
          <p:nvPr userDrawn="1"/>
        </p:nvCxnSpPr>
        <p:spPr>
          <a:xfrm>
            <a:off x="0" y="890197"/>
            <a:ext cx="9144000" cy="0"/>
          </a:xfrm>
          <a:prstGeom prst="line">
            <a:avLst/>
          </a:prstGeom>
          <a:ln w="3810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14EA3819-5723-6670-0020-3556E7C455AB}"/>
              </a:ext>
            </a:extLst>
          </p:cNvPr>
          <p:cNvSpPr>
            <a:spLocks noGrp="1"/>
          </p:cNvSpPr>
          <p:nvPr>
            <p:ph idx="13"/>
          </p:nvPr>
        </p:nvSpPr>
        <p:spPr>
          <a:xfrm>
            <a:off x="628650" y="1658489"/>
            <a:ext cx="7886700" cy="1954500"/>
          </a:xfrm>
          <a:no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extLst>
      <p:ext uri="{BB962C8B-B14F-4D97-AF65-F5344CB8AC3E}">
        <p14:creationId xmlns:p14="http://schemas.microsoft.com/office/powerpoint/2010/main" val="3870843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08460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143911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393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850877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019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116070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99972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65842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162279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32394990-A274-8E4A-90A0-60225761FA15}" type="datetimeFigureOut">
              <a:rPr kumimoji="1" lang="ja-JP" altLang="en-US" smtClean="0"/>
              <a:pPr/>
              <a:t>2026/6/18</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aseline="0">
                <a:solidFill>
                  <a:schemeClr val="tx1">
                    <a:tint val="82000"/>
                  </a:schemeClr>
                </a:solidFill>
                <a:latin typeface="Arial" panose="020B0604020202020204" pitchFamily="34" charset="0"/>
                <a:ea typeface="ＭＳ ゴシック" panose="020B0609070205080204" pitchFamily="49" charset="-128"/>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A500AC58-3283-5748-9D35-E5F45705EE4F}" type="slidenum">
              <a:rPr kumimoji="1" lang="ja-JP" altLang="en-US" smtClean="0"/>
              <a:pPr/>
              <a:t>‹#›</a:t>
            </a:fld>
            <a:endParaRPr kumimoji="1" lang="ja-JP" altLang="en-US"/>
          </a:p>
        </p:txBody>
      </p:sp>
    </p:spTree>
    <p:extLst>
      <p:ext uri="{BB962C8B-B14F-4D97-AF65-F5344CB8AC3E}">
        <p14:creationId xmlns:p14="http://schemas.microsoft.com/office/powerpoint/2010/main" val="14188732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baseline="0">
          <a:solidFill>
            <a:schemeClr val="tx1"/>
          </a:solidFill>
          <a:latin typeface="Arial" panose="020B0604020202020204" pitchFamily="34" charset="0"/>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Arial" panose="020B0604020202020204" pitchFamily="34" charset="0"/>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Arial" panose="020B0604020202020204" pitchFamily="34" charset="0"/>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Arial" panose="020B0604020202020204" pitchFamily="34" charset="0"/>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B3A897-C947-CA14-2AC4-FC2D3FAE4091}"/>
              </a:ext>
            </a:extLst>
          </p:cNvPr>
          <p:cNvSpPr>
            <a:spLocks noGrp="1"/>
          </p:cNvSpPr>
          <p:nvPr>
            <p:ph type="ctrTitle"/>
          </p:nvPr>
        </p:nvSpPr>
        <p:spPr/>
        <p:txBody>
          <a:bodyPr/>
          <a:lstStyle/>
          <a:p>
            <a:r>
              <a:rPr lang="en" altLang="ja-JP" b="1" dirty="0">
                <a:latin typeface="Helvetica" pitchFamily="2" charset="0"/>
                <a:ea typeface="Hiragino Sans W6" panose="020B0400000000000000" pitchFamily="34" charset="-128"/>
              </a:rPr>
              <a:t>Python Seminar #5</a:t>
            </a:r>
            <a:endParaRPr kumimoji="1" lang="ja-JP" altLang="en-US" b="1">
              <a:latin typeface="Helvetica" pitchFamily="2" charset="0"/>
              <a:ea typeface="Hiragino Sans W6" panose="020B0400000000000000" pitchFamily="34" charset="-128"/>
            </a:endParaRPr>
          </a:p>
        </p:txBody>
      </p:sp>
      <p:sp>
        <p:nvSpPr>
          <p:cNvPr id="3" name="字幕 2">
            <a:extLst>
              <a:ext uri="{FF2B5EF4-FFF2-40B4-BE49-F238E27FC236}">
                <a16:creationId xmlns:a16="http://schemas.microsoft.com/office/drawing/2014/main" id="{CDD90598-9D1F-5783-7ACC-1CAE9F09609B}"/>
              </a:ext>
            </a:extLst>
          </p:cNvPr>
          <p:cNvSpPr>
            <a:spLocks noGrp="1"/>
          </p:cNvSpPr>
          <p:nvPr>
            <p:ph type="subTitle" idx="1"/>
          </p:nvPr>
        </p:nvSpPr>
        <p:spPr/>
        <p:txBody>
          <a:bodyPr/>
          <a:lstStyle/>
          <a:p>
            <a:r>
              <a:rPr lang="en-US" altLang="ja-JP" dirty="0"/>
              <a:t>M1_KazumaFujii</a:t>
            </a:r>
            <a:endParaRPr kumimoji="1" lang="ja-JP" altLang="en-US"/>
          </a:p>
        </p:txBody>
      </p:sp>
    </p:spTree>
    <p:extLst>
      <p:ext uri="{BB962C8B-B14F-4D97-AF65-F5344CB8AC3E}">
        <p14:creationId xmlns:p14="http://schemas.microsoft.com/office/powerpoint/2010/main" val="3071912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5996C-4DAD-0037-7AEB-2307D2A39713}"/>
              </a:ext>
            </a:extLst>
          </p:cNvPr>
          <p:cNvSpPr>
            <a:spLocks noGrp="1"/>
          </p:cNvSpPr>
          <p:nvPr>
            <p:ph type="title"/>
          </p:nvPr>
        </p:nvSpPr>
        <p:spPr/>
        <p:txBody>
          <a:bodyPr>
            <a:normAutofit/>
          </a:bodyPr>
          <a:lstStyle/>
          <a:p>
            <a:r>
              <a:rPr kumimoji="1" lang="en-US" altLang="ja-JP" dirty="0">
                <a:latin typeface="Helvetica" pitchFamily="2" charset="0"/>
              </a:rPr>
              <a:t>Topics</a:t>
            </a:r>
            <a:endParaRPr kumimoji="1" lang="ja-JP" altLang="en-US">
              <a:latin typeface="Helvetica" pitchFamily="2" charset="0"/>
            </a:endParaRPr>
          </a:p>
        </p:txBody>
      </p:sp>
      <p:sp>
        <p:nvSpPr>
          <p:cNvPr id="8" name="コンテンツ プレースホルダー 7">
            <a:extLst>
              <a:ext uri="{FF2B5EF4-FFF2-40B4-BE49-F238E27FC236}">
                <a16:creationId xmlns:a16="http://schemas.microsoft.com/office/drawing/2014/main" id="{DFF9CF79-D86C-CC25-9193-483EB62208D2}"/>
              </a:ext>
            </a:extLst>
          </p:cNvPr>
          <p:cNvSpPr>
            <a:spLocks noGrp="1"/>
          </p:cNvSpPr>
          <p:nvPr>
            <p:ph idx="1"/>
          </p:nvPr>
        </p:nvSpPr>
        <p:spPr>
          <a:xfrm>
            <a:off x="330505" y="1048018"/>
            <a:ext cx="8394853" cy="5044310"/>
          </a:xfrm>
          <a:solidFill>
            <a:schemeClr val="bg2">
              <a:alpha val="65669"/>
            </a:schemeClr>
          </a:solidFill>
        </p:spPr>
        <p:txBody>
          <a:bodyPr/>
          <a:lstStyle/>
          <a:p>
            <a:pPr marL="0" indent="0">
              <a:buNone/>
            </a:pPr>
            <a:r>
              <a:rPr lang="en-US" altLang="ja-JP" b="1" dirty="0"/>
              <a:t>1. What is </a:t>
            </a:r>
            <a:r>
              <a:rPr lang="en-US" altLang="ja-JP" sz="3200" b="1" i="1" dirty="0"/>
              <a:t>Classification</a:t>
            </a:r>
          </a:p>
          <a:p>
            <a:pPr marL="0" indent="0">
              <a:buNone/>
            </a:pPr>
            <a:r>
              <a:rPr lang="en-US" altLang="ja-JP" b="1" dirty="0"/>
              <a:t>2. Principles and Characteristics </a:t>
            </a:r>
          </a:p>
          <a:p>
            <a:pPr marL="0" indent="0">
              <a:buNone/>
            </a:pPr>
            <a:r>
              <a:rPr lang="en-US" altLang="ja-JP" b="1" dirty="0"/>
              <a:t>     </a:t>
            </a:r>
            <a:r>
              <a:rPr lang="ja-JP" altLang="en-US" b="1"/>
              <a:t>・</a:t>
            </a:r>
            <a:r>
              <a:rPr lang="en-US" altLang="ja-JP" sz="3200" b="1" i="1" dirty="0"/>
              <a:t>k-NN</a:t>
            </a:r>
            <a:r>
              <a:rPr lang="en-US" altLang="ja-JP" b="1" dirty="0"/>
              <a:t> </a:t>
            </a:r>
          </a:p>
          <a:p>
            <a:pPr marL="0" indent="0">
              <a:buNone/>
            </a:pPr>
            <a:r>
              <a:rPr lang="en-US" altLang="ja-JP" b="1" dirty="0"/>
              <a:t>     </a:t>
            </a:r>
            <a:r>
              <a:rPr lang="ja-JP" altLang="en-US" b="1"/>
              <a:t>・</a:t>
            </a:r>
            <a:r>
              <a:rPr lang="en-US" altLang="ja-JP" sz="3200" b="1" i="1" dirty="0"/>
              <a:t>Random Forest</a:t>
            </a:r>
          </a:p>
          <a:p>
            <a:pPr marL="0" indent="0">
              <a:buNone/>
            </a:pPr>
            <a:r>
              <a:rPr lang="en-US" altLang="ja-JP" b="1" dirty="0"/>
              <a:t>3. Evaluation Metrics for Classification Models</a:t>
            </a:r>
          </a:p>
          <a:p>
            <a:pPr marL="0" indent="0">
              <a:buNone/>
            </a:pPr>
            <a:r>
              <a:rPr lang="en-US" altLang="ja-JP" b="1" dirty="0"/>
              <a:t>     </a:t>
            </a:r>
            <a:r>
              <a:rPr lang="ja-JP" altLang="en-US" sz="3200" b="1" i="1"/>
              <a:t>・</a:t>
            </a:r>
            <a:r>
              <a:rPr lang="en" altLang="ja-JP" sz="3200" b="1" i="1" dirty="0"/>
              <a:t>Mixed-order matrix</a:t>
            </a:r>
            <a:r>
              <a:rPr lang="ja-JP" altLang="en-US" sz="3200" b="1" i="1"/>
              <a:t>　・</a:t>
            </a:r>
            <a:r>
              <a:rPr lang="en-US" altLang="ja-JP" sz="3200" b="1" i="1" dirty="0"/>
              <a:t>Accuracy</a:t>
            </a:r>
          </a:p>
          <a:p>
            <a:pPr marL="0" indent="0">
              <a:buNone/>
            </a:pPr>
            <a:r>
              <a:rPr lang="en-US" altLang="ja-JP" sz="3200" b="1" i="1" dirty="0"/>
              <a:t>     </a:t>
            </a:r>
            <a:r>
              <a:rPr lang="ja-JP" altLang="en-US" sz="3200" b="1" i="1"/>
              <a:t>・</a:t>
            </a:r>
            <a:r>
              <a:rPr lang="en-US" altLang="ja-JP" sz="3200" b="1" i="1" dirty="0"/>
              <a:t>Precision </a:t>
            </a:r>
            <a:r>
              <a:rPr lang="ja-JP" altLang="en-US" sz="3200" b="1" i="1"/>
              <a:t>　・</a:t>
            </a:r>
            <a:r>
              <a:rPr lang="en-US" altLang="ja-JP" sz="3200" b="1" i="1" dirty="0"/>
              <a:t>Recall</a:t>
            </a:r>
            <a:r>
              <a:rPr lang="ja-JP" altLang="en-US" sz="3200" b="1" i="1"/>
              <a:t>　・</a:t>
            </a:r>
            <a:r>
              <a:rPr lang="en-US" altLang="ja-JP" sz="3200" b="1" i="1" dirty="0"/>
              <a:t>F1</a:t>
            </a:r>
            <a:r>
              <a:rPr lang="ja-JP" altLang="en-US" sz="3200" b="1" i="1"/>
              <a:t> </a:t>
            </a:r>
            <a:r>
              <a:rPr lang="en-US" altLang="ja-JP" sz="3200" b="1" i="1" dirty="0"/>
              <a:t>score</a:t>
            </a:r>
          </a:p>
          <a:p>
            <a:pPr marL="0" indent="0">
              <a:buNone/>
            </a:pPr>
            <a:r>
              <a:rPr lang="en-US" altLang="ja-JP" sz="3200" b="1" i="1" dirty="0"/>
              <a:t>     </a:t>
            </a:r>
            <a:r>
              <a:rPr lang="ja-JP" altLang="en-US" sz="3200" b="1" i="1"/>
              <a:t>・</a:t>
            </a:r>
            <a:r>
              <a:rPr lang="en-US" altLang="ja-JP" sz="3200" b="1" i="1" dirty="0"/>
              <a:t>ROC Curve</a:t>
            </a:r>
            <a:r>
              <a:rPr lang="ja-JP" altLang="en-US" sz="3200" b="1" i="1"/>
              <a:t>　・</a:t>
            </a:r>
            <a:r>
              <a:rPr lang="en-US" altLang="ja-JP" sz="3200" b="1" i="1" dirty="0"/>
              <a:t>PR Curve</a:t>
            </a:r>
          </a:p>
          <a:p>
            <a:pPr marL="0" indent="0">
              <a:buNone/>
            </a:pPr>
            <a:r>
              <a:rPr lang="en-US" altLang="ja-JP" b="1" dirty="0"/>
              <a:t>     </a:t>
            </a:r>
            <a:endParaRPr lang="ja-JP" altLang="en-US" b="1"/>
          </a:p>
        </p:txBody>
      </p:sp>
    </p:spTree>
    <p:extLst>
      <p:ext uri="{BB962C8B-B14F-4D97-AF65-F5344CB8AC3E}">
        <p14:creationId xmlns:p14="http://schemas.microsoft.com/office/powerpoint/2010/main" val="3933568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548A1F-B12C-E1DC-566C-93AB71FE42C9}"/>
              </a:ext>
            </a:extLst>
          </p:cNvPr>
          <p:cNvSpPr>
            <a:spLocks noGrp="1"/>
          </p:cNvSpPr>
          <p:nvPr>
            <p:ph type="title"/>
          </p:nvPr>
        </p:nvSpPr>
        <p:spPr/>
        <p:txBody>
          <a:bodyPr/>
          <a:lstStyle/>
          <a:p>
            <a:r>
              <a:rPr lang="en" altLang="ja-JP" dirty="0">
                <a:latin typeface="Helvetica" pitchFamily="2" charset="0"/>
              </a:rPr>
              <a:t>Classification</a:t>
            </a:r>
            <a:endParaRPr kumimoji="1" lang="ja-JP" altLang="en-US">
              <a:latin typeface="Helvetica" pitchFamily="2" charset="0"/>
            </a:endParaRPr>
          </a:p>
        </p:txBody>
      </p:sp>
      <p:sp>
        <p:nvSpPr>
          <p:cNvPr id="3" name="コンテンツ プレースホルダー 2">
            <a:extLst>
              <a:ext uri="{FF2B5EF4-FFF2-40B4-BE49-F238E27FC236}">
                <a16:creationId xmlns:a16="http://schemas.microsoft.com/office/drawing/2014/main" id="{2B2600F6-F70A-48B9-E39B-ECD8146D3D1D}"/>
              </a:ext>
            </a:extLst>
          </p:cNvPr>
          <p:cNvSpPr>
            <a:spLocks noGrp="1"/>
          </p:cNvSpPr>
          <p:nvPr>
            <p:ph idx="1"/>
          </p:nvPr>
        </p:nvSpPr>
        <p:spPr>
          <a:xfrm>
            <a:off x="240632" y="4876014"/>
            <a:ext cx="8815137" cy="1528688"/>
          </a:xfrm>
        </p:spPr>
        <p:txBody>
          <a:bodyPr/>
          <a:lstStyle/>
          <a:p>
            <a:pPr marL="0" indent="0">
              <a:buNone/>
            </a:pPr>
            <a:r>
              <a:rPr lang="en" altLang="ja-JP" b="1" dirty="0"/>
              <a:t>The output is a continuous number : </a:t>
            </a:r>
            <a:r>
              <a:rPr lang="en" altLang="ja-JP" b="1" dirty="0">
                <a:highlight>
                  <a:srgbClr val="FFFF00"/>
                </a:highlight>
              </a:rPr>
              <a:t>Regression</a:t>
            </a:r>
          </a:p>
          <a:p>
            <a:pPr marL="0" indent="0">
              <a:buNone/>
            </a:pPr>
            <a:r>
              <a:rPr lang="en" altLang="ja-JP" sz="3200" b="1" dirty="0"/>
              <a:t>Discontinuity or Category: </a:t>
            </a:r>
            <a:r>
              <a:rPr lang="en" altLang="ja-JP" sz="3200" b="1" dirty="0">
                <a:highlight>
                  <a:srgbClr val="FFFF00"/>
                </a:highlight>
              </a:rPr>
              <a:t>Classification</a:t>
            </a:r>
          </a:p>
          <a:p>
            <a:pPr marL="0" indent="0">
              <a:buNone/>
            </a:pPr>
            <a:r>
              <a:rPr kumimoji="1" lang="en" altLang="ja-JP" sz="2000" b="1" dirty="0"/>
              <a:t>E.g</a:t>
            </a:r>
            <a:r>
              <a:rPr lang="en" altLang="ja-JP" sz="2000" b="1" dirty="0"/>
              <a:t>. Identifying Spam Emails, Dog or Cat Photos </a:t>
            </a:r>
            <a:endParaRPr kumimoji="1" lang="ja-JP" altLang="en-US" sz="2000" b="1"/>
          </a:p>
        </p:txBody>
      </p:sp>
      <p:sp>
        <p:nvSpPr>
          <p:cNvPr id="4" name="テキスト ボックス 3">
            <a:extLst>
              <a:ext uri="{FF2B5EF4-FFF2-40B4-BE49-F238E27FC236}">
                <a16:creationId xmlns:a16="http://schemas.microsoft.com/office/drawing/2014/main" id="{ED311C6C-9C03-501E-7A94-37280FA226B7}"/>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93F0884B-604D-10DD-2AB3-21C29BED439E}"/>
              </a:ext>
            </a:extLst>
          </p:cNvPr>
          <p:cNvSpPr txBox="1"/>
          <p:nvPr/>
        </p:nvSpPr>
        <p:spPr>
          <a:xfrm>
            <a:off x="1470113" y="1405721"/>
            <a:ext cx="1116164" cy="523220"/>
          </a:xfrm>
          <a:prstGeom prst="rect">
            <a:avLst/>
          </a:prstGeom>
          <a:noFill/>
        </p:spPr>
        <p:txBody>
          <a:bodyPr wrap="square" rtlCol="0">
            <a:spAutoFit/>
          </a:bodyPr>
          <a:lstStyle/>
          <a:p>
            <a:r>
              <a:rPr kumimoji="1" lang="en" altLang="ja-JP" sz="2800" b="1" dirty="0">
                <a:latin typeface="Helvetica" pitchFamily="2" charset="0"/>
              </a:rPr>
              <a:t>Input</a:t>
            </a:r>
            <a:endParaRPr kumimoji="1" lang="ja-JP" altLang="en-US" sz="2800" b="1">
              <a:latin typeface="Helvetica" pitchFamily="2" charset="0"/>
            </a:endParaRPr>
          </a:p>
        </p:txBody>
      </p:sp>
      <p:sp>
        <p:nvSpPr>
          <p:cNvPr id="6" name="テキスト ボックス 5">
            <a:extLst>
              <a:ext uri="{FF2B5EF4-FFF2-40B4-BE49-F238E27FC236}">
                <a16:creationId xmlns:a16="http://schemas.microsoft.com/office/drawing/2014/main" id="{05A4A067-CFB7-F75A-9F42-65E630926B22}"/>
              </a:ext>
            </a:extLst>
          </p:cNvPr>
          <p:cNvSpPr txBox="1"/>
          <p:nvPr/>
        </p:nvSpPr>
        <p:spPr>
          <a:xfrm>
            <a:off x="5989600" y="142366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
        <p:nvSpPr>
          <p:cNvPr id="7" name="右矢印 6">
            <a:extLst>
              <a:ext uri="{FF2B5EF4-FFF2-40B4-BE49-F238E27FC236}">
                <a16:creationId xmlns:a16="http://schemas.microsoft.com/office/drawing/2014/main" id="{E9C835FC-1AC3-7961-17B3-4C6AF6AE009C}"/>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0DF083BD-B6A2-68A2-E697-51D8D426D1CF}"/>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en" altLang="ja-JP" sz="2800" b="1" dirty="0">
                <a:solidFill>
                  <a:schemeClr val="bg1"/>
                </a:solidFill>
                <a:latin typeface="Helvetica" pitchFamily="2" charset="0"/>
              </a:rPr>
              <a:t>Learning Correlations</a:t>
            </a:r>
            <a:endParaRPr kumimoji="1" lang="ja-JP" altLang="en-US" sz="2800" b="1">
              <a:solidFill>
                <a:schemeClr val="bg1"/>
              </a:solidFill>
              <a:latin typeface="Helvetica" pitchFamily="2" charset="0"/>
            </a:endParaRP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80C0D7F-6251-D37A-CE5E-98585A1735B4}"/>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a:latin typeface="Cambria Math" panose="02040503050406030204" pitchFamily="18" charset="0"/>
                                </a:rPr>
                                <m:t>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a:latin typeface="Cambria Math" panose="02040503050406030204" pitchFamily="18" charset="0"/>
                                </a:rPr>
                                <m:t>𝟏</m:t>
                              </m:r>
                            </m:sub>
                          </m:sSub>
                        </m:e>
                      </m:d>
                    </m:oMath>
                  </m:oMathPara>
                </a14:m>
                <a:endParaRPr kumimoji="1" lang="ja-JP" altLang="en-US" sz="2800" b="1"/>
              </a:p>
            </p:txBody>
          </p:sp>
        </mc:Choice>
        <mc:Fallback xmlns="">
          <p:sp>
            <p:nvSpPr>
              <p:cNvPr id="10" name="テキスト ボックス 9">
                <a:extLst>
                  <a:ext uri="{FF2B5EF4-FFF2-40B4-BE49-F238E27FC236}">
                    <a16:creationId xmlns:a16="http://schemas.microsoft.com/office/drawing/2014/main" id="{480C0D7F-6251-D37A-CE5E-98585A1735B4}"/>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10976"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6CA1D7B-22DE-8B94-E3B1-FA27051B3BEA}"/>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𝟐</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𝟐</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𝟐</m:t>
                              </m:r>
                            </m:sub>
                          </m:sSub>
                        </m:e>
                      </m:d>
                    </m:oMath>
                  </m:oMathPara>
                </a14:m>
                <a:endParaRPr kumimoji="1" lang="ja-JP" altLang="en-US" sz="2800" b="1"/>
              </a:p>
            </p:txBody>
          </p:sp>
        </mc:Choice>
        <mc:Fallback xmlns="">
          <p:sp>
            <p:nvSpPr>
              <p:cNvPr id="11" name="テキスト ボックス 10">
                <a:extLst>
                  <a:ext uri="{FF2B5EF4-FFF2-40B4-BE49-F238E27FC236}">
                    <a16:creationId xmlns:a16="http://schemas.microsoft.com/office/drawing/2014/main" id="{56CA1D7B-22DE-8B94-E3B1-FA27051B3BEA}"/>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10976" b="-7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6AE7187E-A929-80FC-6FCA-51DB0BB34102}"/>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𝒏</m:t>
                              </m:r>
                            </m:sub>
                          </m:sSub>
                        </m:e>
                      </m:d>
                    </m:oMath>
                  </m:oMathPara>
                </a14:m>
                <a:endParaRPr kumimoji="1" lang="ja-JP" altLang="en-US" sz="2800" b="1"/>
              </a:p>
            </p:txBody>
          </p:sp>
        </mc:Choice>
        <mc:Fallback xmlns="">
          <p:sp>
            <p:nvSpPr>
              <p:cNvPr id="12" name="テキスト ボックス 11">
                <a:extLst>
                  <a:ext uri="{FF2B5EF4-FFF2-40B4-BE49-F238E27FC236}">
                    <a16:creationId xmlns:a16="http://schemas.microsoft.com/office/drawing/2014/main" id="{6AE7187E-A929-80FC-6FCA-51DB0BB34102}"/>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10778" b="-75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73026B4D-F0FA-32AC-EB6B-EA37F0386FD5}"/>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B33EA8BA-FBA2-8CAD-2B5B-7F492B8B8DE7}"/>
              </a:ext>
            </a:extLst>
          </p:cNvPr>
          <p:cNvSpPr txBox="1"/>
          <p:nvPr/>
        </p:nvSpPr>
        <p:spPr>
          <a:xfrm>
            <a:off x="1470113" y="3623358"/>
            <a:ext cx="2719501" cy="523220"/>
          </a:xfrm>
          <a:prstGeom prst="rect">
            <a:avLst/>
          </a:prstGeom>
          <a:noFill/>
        </p:spPr>
        <p:txBody>
          <a:bodyPr wrap="square" rtlCol="0">
            <a:spAutoFit/>
          </a:bodyPr>
          <a:lstStyle/>
          <a:p>
            <a:r>
              <a:rPr kumimoji="1" lang="en" altLang="ja-JP" sz="2800" b="1" dirty="0" err="1">
                <a:latin typeface="Helvetica" pitchFamily="2" charset="0"/>
              </a:rPr>
              <a:t>Unkown</a:t>
            </a:r>
            <a:r>
              <a:rPr kumimoji="1" lang="ja-JP" altLang="en-US" sz="2800" b="1">
                <a:latin typeface="Helvetica" pitchFamily="2" charset="0"/>
              </a:rPr>
              <a:t> </a:t>
            </a:r>
            <a:r>
              <a:rPr kumimoji="1" lang="en-US" altLang="ja-JP" sz="2800" b="1" dirty="0">
                <a:latin typeface="Helvetica" pitchFamily="2" charset="0"/>
              </a:rPr>
              <a:t>input</a:t>
            </a:r>
            <a:endParaRPr kumimoji="1" lang="ja-JP" altLang="en-US" sz="2800" b="1">
              <a:latin typeface="Helvetica" pitchFamily="2" charset="0"/>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C8B586A-B974-5716-2A4D-F833FA6DCBB3}"/>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a:latin typeface="Cambria Math" panose="02040503050406030204" pitchFamily="18" charset="0"/>
                            </a:rPr>
                          </m:ctrlPr>
                        </m:sSubPr>
                        <m:e>
                          <m:r>
                            <a:rPr lang="en-US" altLang="ja-JP" sz="2800">
                              <a:latin typeface="Cambria Math" panose="02040503050406030204" pitchFamily="18" charset="0"/>
                            </a:rPr>
                            <m:t>𝑦</m:t>
                          </m:r>
                        </m:e>
                        <m:sub>
                          <m:r>
                            <a:rPr lang="en-US" altLang="ja-JP" sz="2800">
                              <a:latin typeface="Cambria Math" panose="02040503050406030204" pitchFamily="18" charset="0"/>
                            </a:rPr>
                            <m:t>1</m:t>
                          </m:r>
                        </m:sub>
                      </m:sSub>
                    </m:oMath>
                  </m:oMathPara>
                </a14:m>
                <a:endParaRPr lang="ja-JP" altLang="en-US" sz="2800"/>
              </a:p>
            </p:txBody>
          </p:sp>
        </mc:Choice>
        <mc:Fallback xmlns="">
          <p:sp>
            <p:nvSpPr>
              <p:cNvPr id="15" name="テキスト ボックス 14">
                <a:extLst>
                  <a:ext uri="{FF2B5EF4-FFF2-40B4-BE49-F238E27FC236}">
                    <a16:creationId xmlns:a16="http://schemas.microsoft.com/office/drawing/2014/main" id="{9C8B586A-B974-5716-2A4D-F833FA6DCBB3}"/>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E3EB779-0331-2508-D9C6-9F2FC1FC0E40}"/>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smtClean="0">
                              <a:latin typeface="Cambria Math" panose="02040503050406030204" pitchFamily="18" charset="0"/>
                            </a:rPr>
                          </m:ctrlPr>
                        </m:sSubPr>
                        <m:e>
                          <m:r>
                            <a:rPr lang="en-US" altLang="ja-JP" sz="2800">
                              <a:latin typeface="Cambria Math" panose="02040503050406030204" pitchFamily="18" charset="0"/>
                            </a:rPr>
                            <m:t>𝑦</m:t>
                          </m:r>
                        </m:e>
                        <m:sub>
                          <m:r>
                            <a:rPr lang="en-US" altLang="ja-JP" sz="2800" b="1" i="1" smtClean="0">
                              <a:latin typeface="Cambria Math" panose="02040503050406030204" pitchFamily="18" charset="0"/>
                            </a:rPr>
                            <m:t>𝟐</m:t>
                          </m:r>
                        </m:sub>
                      </m:sSub>
                    </m:oMath>
                  </m:oMathPara>
                </a14:m>
                <a:endParaRPr lang="ja-JP" altLang="en-US" sz="2800"/>
              </a:p>
            </p:txBody>
          </p:sp>
        </mc:Choice>
        <mc:Fallback xmlns="">
          <p:sp>
            <p:nvSpPr>
              <p:cNvPr id="16" name="テキスト ボックス 15">
                <a:extLst>
                  <a:ext uri="{FF2B5EF4-FFF2-40B4-BE49-F238E27FC236}">
                    <a16:creationId xmlns:a16="http://schemas.microsoft.com/office/drawing/2014/main" id="{AE3EB779-0331-2508-D9C6-9F2FC1FC0E40}"/>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D863247-E92C-F77C-2205-519B31F99DC6}"/>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smtClean="0">
                              <a:latin typeface="Cambria Math" panose="02040503050406030204" pitchFamily="18" charset="0"/>
                            </a:rPr>
                          </m:ctrlPr>
                        </m:sSubPr>
                        <m:e>
                          <m:r>
                            <a:rPr lang="en-US" altLang="ja-JP" sz="2800">
                              <a:latin typeface="Cambria Math" panose="02040503050406030204" pitchFamily="18" charset="0"/>
                            </a:rPr>
                            <m:t>𝑦</m:t>
                          </m:r>
                        </m:e>
                        <m:sub>
                          <m:r>
                            <a:rPr lang="en-US" altLang="ja-JP" sz="2800" b="1" i="1" smtClean="0">
                              <a:latin typeface="Cambria Math" panose="02040503050406030204" pitchFamily="18" charset="0"/>
                            </a:rPr>
                            <m:t>𝒏</m:t>
                          </m:r>
                        </m:sub>
                      </m:sSub>
                    </m:oMath>
                  </m:oMathPara>
                </a14:m>
                <a:endParaRPr lang="ja-JP" altLang="en-US" sz="2800"/>
              </a:p>
            </p:txBody>
          </p:sp>
        </mc:Choice>
        <mc:Fallback xmlns="">
          <p:sp>
            <p:nvSpPr>
              <p:cNvPr id="17" name="テキスト ボックス 16">
                <a:extLst>
                  <a:ext uri="{FF2B5EF4-FFF2-40B4-BE49-F238E27FC236}">
                    <a16:creationId xmlns:a16="http://schemas.microsoft.com/office/drawing/2014/main" id="{DD863247-E92C-F77C-2205-519B31F99DC6}"/>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B614E244-E4F4-7E65-5FEF-E073962FFB2E}"/>
              </a:ext>
            </a:extLst>
          </p:cNvPr>
          <p:cNvSpPr txBox="1"/>
          <p:nvPr/>
        </p:nvSpPr>
        <p:spPr>
          <a:xfrm>
            <a:off x="5989599" y="368491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Tree>
    <p:extLst>
      <p:ext uri="{BB962C8B-B14F-4D97-AF65-F5344CB8AC3E}">
        <p14:creationId xmlns:p14="http://schemas.microsoft.com/office/powerpoint/2010/main" val="1944985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87637-F9CA-9DEC-168E-1A3F78A53D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8F1919-ECFB-A983-1EA5-030B8B18B523}"/>
              </a:ext>
            </a:extLst>
          </p:cNvPr>
          <p:cNvSpPr>
            <a:spLocks noGrp="1"/>
          </p:cNvSpPr>
          <p:nvPr>
            <p:ph type="title"/>
          </p:nvPr>
        </p:nvSpPr>
        <p:spPr/>
        <p:txBody>
          <a:bodyPr/>
          <a:lstStyle/>
          <a:p>
            <a:r>
              <a:rPr lang="en" altLang="ja-JP" dirty="0">
                <a:latin typeface="Helvetica" pitchFamily="2" charset="0"/>
              </a:rPr>
              <a:t>Classification</a:t>
            </a:r>
            <a:endParaRPr kumimoji="1" lang="ja-JP" altLang="en-US">
              <a:latin typeface="Helvetica" pitchFamily="2" charset="0"/>
            </a:endParaRPr>
          </a:p>
        </p:txBody>
      </p:sp>
      <p:sp>
        <p:nvSpPr>
          <p:cNvPr id="3" name="コンテンツ プレースホルダー 2">
            <a:extLst>
              <a:ext uri="{FF2B5EF4-FFF2-40B4-BE49-F238E27FC236}">
                <a16:creationId xmlns:a16="http://schemas.microsoft.com/office/drawing/2014/main" id="{D1B34157-2ECE-6E51-3A28-478463C057C1}"/>
              </a:ext>
            </a:extLst>
          </p:cNvPr>
          <p:cNvSpPr>
            <a:spLocks noGrp="1"/>
          </p:cNvSpPr>
          <p:nvPr>
            <p:ph idx="1"/>
          </p:nvPr>
        </p:nvSpPr>
        <p:spPr>
          <a:xfrm>
            <a:off x="240632" y="4876014"/>
            <a:ext cx="8815137" cy="1528688"/>
          </a:xfrm>
        </p:spPr>
        <p:txBody>
          <a:bodyPr/>
          <a:lstStyle/>
          <a:p>
            <a:pPr marL="0" indent="0">
              <a:buNone/>
            </a:pPr>
            <a:r>
              <a:rPr lang="en" altLang="ja-JP" b="1" dirty="0"/>
              <a:t>The output is a continuous number : </a:t>
            </a:r>
            <a:r>
              <a:rPr lang="en" altLang="ja-JP" b="1" dirty="0">
                <a:highlight>
                  <a:srgbClr val="FFFF00"/>
                </a:highlight>
              </a:rPr>
              <a:t>Regression</a:t>
            </a:r>
          </a:p>
          <a:p>
            <a:pPr marL="0" indent="0">
              <a:buNone/>
            </a:pPr>
            <a:r>
              <a:rPr lang="en" altLang="ja-JP" sz="3200" b="1" dirty="0"/>
              <a:t>Discontinuity or Category: </a:t>
            </a:r>
            <a:r>
              <a:rPr lang="en" altLang="ja-JP" sz="3200" b="1" dirty="0">
                <a:highlight>
                  <a:srgbClr val="FFFF00"/>
                </a:highlight>
              </a:rPr>
              <a:t>Classification</a:t>
            </a:r>
          </a:p>
          <a:p>
            <a:pPr marL="0" indent="0">
              <a:buNone/>
            </a:pPr>
            <a:r>
              <a:rPr kumimoji="1" lang="en" altLang="ja-JP" sz="2000" b="1" dirty="0"/>
              <a:t>E.g</a:t>
            </a:r>
            <a:r>
              <a:rPr lang="en" altLang="ja-JP" sz="2000" b="1" dirty="0"/>
              <a:t>. Identifying Spam Emails, Dog or Cat Photos </a:t>
            </a:r>
            <a:endParaRPr kumimoji="1" lang="ja-JP" altLang="en-US" sz="2000" b="1"/>
          </a:p>
        </p:txBody>
      </p:sp>
      <p:sp>
        <p:nvSpPr>
          <p:cNvPr id="4" name="テキスト ボックス 3">
            <a:extLst>
              <a:ext uri="{FF2B5EF4-FFF2-40B4-BE49-F238E27FC236}">
                <a16:creationId xmlns:a16="http://schemas.microsoft.com/office/drawing/2014/main" id="{F2EDCDA0-BFC6-2D7D-8E19-1CBF3009B1B3}"/>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085AF2E7-5334-C36A-D81D-BD95D8077AC4}"/>
              </a:ext>
            </a:extLst>
          </p:cNvPr>
          <p:cNvSpPr txBox="1"/>
          <p:nvPr/>
        </p:nvSpPr>
        <p:spPr>
          <a:xfrm>
            <a:off x="1470113" y="1405721"/>
            <a:ext cx="1116164" cy="523220"/>
          </a:xfrm>
          <a:prstGeom prst="rect">
            <a:avLst/>
          </a:prstGeom>
          <a:noFill/>
        </p:spPr>
        <p:txBody>
          <a:bodyPr wrap="square" rtlCol="0">
            <a:spAutoFit/>
          </a:bodyPr>
          <a:lstStyle/>
          <a:p>
            <a:r>
              <a:rPr kumimoji="1" lang="en" altLang="ja-JP" sz="2800" b="1" dirty="0">
                <a:latin typeface="Helvetica" pitchFamily="2" charset="0"/>
              </a:rPr>
              <a:t>Input</a:t>
            </a:r>
            <a:endParaRPr kumimoji="1" lang="ja-JP" altLang="en-US" sz="2800" b="1">
              <a:latin typeface="Helvetica" pitchFamily="2" charset="0"/>
            </a:endParaRPr>
          </a:p>
        </p:txBody>
      </p:sp>
      <p:sp>
        <p:nvSpPr>
          <p:cNvPr id="6" name="テキスト ボックス 5">
            <a:extLst>
              <a:ext uri="{FF2B5EF4-FFF2-40B4-BE49-F238E27FC236}">
                <a16:creationId xmlns:a16="http://schemas.microsoft.com/office/drawing/2014/main" id="{07EBB114-4208-C41B-4700-17B93192EF23}"/>
              </a:ext>
            </a:extLst>
          </p:cNvPr>
          <p:cNvSpPr txBox="1"/>
          <p:nvPr/>
        </p:nvSpPr>
        <p:spPr>
          <a:xfrm>
            <a:off x="5989600" y="142366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
        <p:nvSpPr>
          <p:cNvPr id="7" name="右矢印 6">
            <a:extLst>
              <a:ext uri="{FF2B5EF4-FFF2-40B4-BE49-F238E27FC236}">
                <a16:creationId xmlns:a16="http://schemas.microsoft.com/office/drawing/2014/main" id="{DAEA9D56-C7C4-F788-3B5F-2CA911D3889F}"/>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AA5512F4-47A2-545A-DE5B-9A0BEE77D026}"/>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en" altLang="ja-JP" sz="2800" b="1" dirty="0">
                <a:solidFill>
                  <a:schemeClr val="bg1"/>
                </a:solidFill>
                <a:latin typeface="Helvetica" pitchFamily="2" charset="0"/>
              </a:rPr>
              <a:t>Learning Correlations</a:t>
            </a:r>
            <a:endParaRPr kumimoji="1" lang="ja-JP" altLang="en-US" sz="2800" b="1">
              <a:solidFill>
                <a:schemeClr val="bg1"/>
              </a:solidFill>
              <a:latin typeface="Helvetica" pitchFamily="2" charset="0"/>
            </a:endParaRP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CF4E27D-3634-861D-DD8A-F5167442F8E7}"/>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a:latin typeface="Cambria Math" panose="02040503050406030204" pitchFamily="18" charset="0"/>
                                </a:rPr>
                                <m:t>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a:latin typeface="Cambria Math" panose="02040503050406030204" pitchFamily="18" charset="0"/>
                                </a:rPr>
                                <m:t>𝟏</m:t>
                              </m:r>
                            </m:sub>
                          </m:sSub>
                        </m:e>
                      </m:d>
                    </m:oMath>
                  </m:oMathPara>
                </a14:m>
                <a:endParaRPr kumimoji="1" lang="ja-JP" altLang="en-US" sz="2800" b="1"/>
              </a:p>
            </p:txBody>
          </p:sp>
        </mc:Choice>
        <mc:Fallback xmlns="">
          <p:sp>
            <p:nvSpPr>
              <p:cNvPr id="10" name="テキスト ボックス 9">
                <a:extLst>
                  <a:ext uri="{FF2B5EF4-FFF2-40B4-BE49-F238E27FC236}">
                    <a16:creationId xmlns:a16="http://schemas.microsoft.com/office/drawing/2014/main" id="{480C0D7F-6251-D37A-CE5E-98585A1735B4}"/>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10976"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08591EFC-D189-2E8E-524F-6F5898C99ED0}"/>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𝟐</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𝟐</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𝟐</m:t>
                              </m:r>
                            </m:sub>
                          </m:sSub>
                        </m:e>
                      </m:d>
                    </m:oMath>
                  </m:oMathPara>
                </a14:m>
                <a:endParaRPr kumimoji="1" lang="ja-JP" altLang="en-US" sz="2800" b="1"/>
              </a:p>
            </p:txBody>
          </p:sp>
        </mc:Choice>
        <mc:Fallback xmlns="">
          <p:sp>
            <p:nvSpPr>
              <p:cNvPr id="11" name="テキスト ボックス 10">
                <a:extLst>
                  <a:ext uri="{FF2B5EF4-FFF2-40B4-BE49-F238E27FC236}">
                    <a16:creationId xmlns:a16="http://schemas.microsoft.com/office/drawing/2014/main" id="{56CA1D7B-22DE-8B94-E3B1-FA27051B3BEA}"/>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10976" b="-7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5783069B-DDA8-1A43-9C42-38EA0EC22758}"/>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b="1" i="1" smtClean="0">
                              <a:latin typeface="Cambria Math" panose="02040503050406030204" pitchFamily="18" charset="0"/>
                            </a:rPr>
                          </m:ctrlPr>
                        </m:dPr>
                        <m:e>
                          <m:sSub>
                            <m:sSubPr>
                              <m:ctrlPr>
                                <a:rPr kumimoji="1" lang="ja-JP" altLang="en-US" sz="2800" b="1" i="1" smtClean="0">
                                  <a:latin typeface="Cambria Math" panose="02040503050406030204" pitchFamily="18" charset="0"/>
                                </a:rPr>
                              </m:ctrlPr>
                            </m:sSubPr>
                            <m:e>
                              <m:r>
                                <a:rPr kumimoji="1" lang="en-US" altLang="ja-JP" sz="2800" b="1" i="1" smtClean="0">
                                  <a:latin typeface="Cambria Math" panose="02040503050406030204" pitchFamily="18" charset="0"/>
                                </a:rPr>
                                <m:t>𝒙</m:t>
                              </m:r>
                            </m:e>
                            <m:sub>
                              <m:r>
                                <a:rPr kumimoji="1" lang="en-US" altLang="ja-JP" sz="2800" b="1" i="1" smtClean="0">
                                  <a:latin typeface="Cambria Math" panose="02040503050406030204" pitchFamily="18" charset="0"/>
                                </a:rPr>
                                <m:t>𝒂</m:t>
                              </m:r>
                              <m:r>
                                <a:rPr kumimoji="1" lang="en-US" altLang="ja-JP" sz="2800" b="1" i="1" smtClean="0">
                                  <a:latin typeface="Cambria Math" panose="02040503050406030204" pitchFamily="18" charset="0"/>
                                </a:rPr>
                                <m:t>,</m:t>
                              </m:r>
                              <m:r>
                                <a:rPr kumimoji="1" lang="en-US" altLang="ja-JP" sz="2800" b="1" i="1" smtClean="0">
                                  <a:latin typeface="Cambria Math" panose="02040503050406030204" pitchFamily="18" charset="0"/>
                                </a:rPr>
                                <m:t>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𝒃</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𝒏</m:t>
                              </m:r>
                            </m:sub>
                          </m:sSub>
                          <m:r>
                            <a:rPr kumimoji="1" lang="en-US" altLang="ja-JP" sz="2800" b="1" i="1" smtClean="0">
                              <a:latin typeface="Cambria Math" panose="02040503050406030204" pitchFamily="18" charset="0"/>
                            </a:rPr>
                            <m:t>,</m:t>
                          </m:r>
                          <m:sSub>
                            <m:sSubPr>
                              <m:ctrlPr>
                                <a:rPr kumimoji="1" lang="ja-JP" altLang="en-US" sz="2800" b="1" i="1">
                                  <a:latin typeface="Cambria Math" panose="02040503050406030204" pitchFamily="18" charset="0"/>
                                </a:rPr>
                              </m:ctrlPr>
                            </m:sSubPr>
                            <m:e>
                              <m:r>
                                <a:rPr kumimoji="1" lang="en-US" altLang="ja-JP" sz="2800" b="1" i="1">
                                  <a:latin typeface="Cambria Math" panose="02040503050406030204" pitchFamily="18" charset="0"/>
                                </a:rPr>
                                <m:t>𝒙</m:t>
                              </m:r>
                            </m:e>
                            <m:sub>
                              <m:r>
                                <a:rPr kumimoji="1" lang="en-US" altLang="ja-JP" sz="2800" b="1" i="1" smtClean="0">
                                  <a:latin typeface="Cambria Math" panose="02040503050406030204" pitchFamily="18" charset="0"/>
                                </a:rPr>
                                <m:t>𝒄</m:t>
                              </m:r>
                              <m:r>
                                <a:rPr kumimoji="1" lang="en-US" altLang="ja-JP" sz="2800" b="1" i="1">
                                  <a:latin typeface="Cambria Math" panose="02040503050406030204" pitchFamily="18" charset="0"/>
                                </a:rPr>
                                <m:t>,</m:t>
                              </m:r>
                              <m:r>
                                <a:rPr kumimoji="1" lang="en-US" altLang="ja-JP" sz="2800" b="1" i="1" smtClean="0">
                                  <a:latin typeface="Cambria Math" panose="02040503050406030204" pitchFamily="18" charset="0"/>
                                </a:rPr>
                                <m:t>𝒏</m:t>
                              </m:r>
                            </m:sub>
                          </m:sSub>
                        </m:e>
                      </m:d>
                    </m:oMath>
                  </m:oMathPara>
                </a14:m>
                <a:endParaRPr kumimoji="1" lang="ja-JP" altLang="en-US" sz="2800" b="1"/>
              </a:p>
            </p:txBody>
          </p:sp>
        </mc:Choice>
        <mc:Fallback xmlns="">
          <p:sp>
            <p:nvSpPr>
              <p:cNvPr id="12" name="テキスト ボックス 11">
                <a:extLst>
                  <a:ext uri="{FF2B5EF4-FFF2-40B4-BE49-F238E27FC236}">
                    <a16:creationId xmlns:a16="http://schemas.microsoft.com/office/drawing/2014/main" id="{6AE7187E-A929-80FC-6FCA-51DB0BB34102}"/>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10778" b="-75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5F0C9433-4AA7-C999-5852-CC61BDD1C689}"/>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385DA709-91E4-EDAB-B23F-297CE027713D}"/>
              </a:ext>
            </a:extLst>
          </p:cNvPr>
          <p:cNvSpPr txBox="1"/>
          <p:nvPr/>
        </p:nvSpPr>
        <p:spPr>
          <a:xfrm>
            <a:off x="1470113" y="3623358"/>
            <a:ext cx="2719501" cy="523220"/>
          </a:xfrm>
          <a:prstGeom prst="rect">
            <a:avLst/>
          </a:prstGeom>
          <a:noFill/>
        </p:spPr>
        <p:txBody>
          <a:bodyPr wrap="square" rtlCol="0">
            <a:spAutoFit/>
          </a:bodyPr>
          <a:lstStyle/>
          <a:p>
            <a:r>
              <a:rPr kumimoji="1" lang="en" altLang="ja-JP" sz="2800" b="1" dirty="0" err="1">
                <a:latin typeface="Helvetica" pitchFamily="2" charset="0"/>
              </a:rPr>
              <a:t>Unkown</a:t>
            </a:r>
            <a:r>
              <a:rPr kumimoji="1" lang="ja-JP" altLang="en-US" sz="2800" b="1">
                <a:latin typeface="Helvetica" pitchFamily="2" charset="0"/>
              </a:rPr>
              <a:t> </a:t>
            </a:r>
            <a:r>
              <a:rPr kumimoji="1" lang="en-US" altLang="ja-JP" sz="2800" b="1" dirty="0">
                <a:latin typeface="Helvetica" pitchFamily="2" charset="0"/>
              </a:rPr>
              <a:t>input</a:t>
            </a:r>
            <a:endParaRPr kumimoji="1" lang="ja-JP" altLang="en-US" sz="2800" b="1">
              <a:latin typeface="Helvetica" pitchFamily="2" charset="0"/>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566CCC76-0760-592B-6539-CD526E1FD0E4}"/>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a:latin typeface="Cambria Math" panose="02040503050406030204" pitchFamily="18" charset="0"/>
                            </a:rPr>
                          </m:ctrlPr>
                        </m:sSubPr>
                        <m:e>
                          <m:r>
                            <a:rPr lang="en-US" altLang="ja-JP" sz="2800">
                              <a:latin typeface="Cambria Math" panose="02040503050406030204" pitchFamily="18" charset="0"/>
                            </a:rPr>
                            <m:t>𝑦</m:t>
                          </m:r>
                        </m:e>
                        <m:sub>
                          <m:r>
                            <a:rPr lang="en-US" altLang="ja-JP" sz="2800">
                              <a:latin typeface="Cambria Math" panose="02040503050406030204" pitchFamily="18" charset="0"/>
                            </a:rPr>
                            <m:t>1</m:t>
                          </m:r>
                        </m:sub>
                      </m:sSub>
                    </m:oMath>
                  </m:oMathPara>
                </a14:m>
                <a:endParaRPr lang="ja-JP" altLang="en-US" sz="2800"/>
              </a:p>
            </p:txBody>
          </p:sp>
        </mc:Choice>
        <mc:Fallback xmlns="">
          <p:sp>
            <p:nvSpPr>
              <p:cNvPr id="15" name="テキスト ボックス 14">
                <a:extLst>
                  <a:ext uri="{FF2B5EF4-FFF2-40B4-BE49-F238E27FC236}">
                    <a16:creationId xmlns:a16="http://schemas.microsoft.com/office/drawing/2014/main" id="{9C8B586A-B974-5716-2A4D-F833FA6DCBB3}"/>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8F44BE95-5A10-BCB1-15D1-4195212CB0FE}"/>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smtClean="0">
                              <a:latin typeface="Cambria Math" panose="02040503050406030204" pitchFamily="18" charset="0"/>
                            </a:rPr>
                          </m:ctrlPr>
                        </m:sSubPr>
                        <m:e>
                          <m:r>
                            <a:rPr lang="en-US" altLang="ja-JP" sz="2800">
                              <a:latin typeface="Cambria Math" panose="02040503050406030204" pitchFamily="18" charset="0"/>
                            </a:rPr>
                            <m:t>𝑦</m:t>
                          </m:r>
                        </m:e>
                        <m:sub>
                          <m:r>
                            <a:rPr lang="en-US" altLang="ja-JP" sz="2800" b="1" i="1" smtClean="0">
                              <a:latin typeface="Cambria Math" panose="02040503050406030204" pitchFamily="18" charset="0"/>
                            </a:rPr>
                            <m:t>𝟐</m:t>
                          </m:r>
                        </m:sub>
                      </m:sSub>
                    </m:oMath>
                  </m:oMathPara>
                </a14:m>
                <a:endParaRPr lang="ja-JP" altLang="en-US" sz="2800"/>
              </a:p>
            </p:txBody>
          </p:sp>
        </mc:Choice>
        <mc:Fallback xmlns="">
          <p:sp>
            <p:nvSpPr>
              <p:cNvPr id="16" name="テキスト ボックス 15">
                <a:extLst>
                  <a:ext uri="{FF2B5EF4-FFF2-40B4-BE49-F238E27FC236}">
                    <a16:creationId xmlns:a16="http://schemas.microsoft.com/office/drawing/2014/main" id="{AE3EB779-0331-2508-D9C6-9F2FC1FC0E40}"/>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08E4388-EAC2-42B7-5D69-ABBF7B8274BF}"/>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i="1" smtClean="0">
                              <a:latin typeface="Cambria Math" panose="02040503050406030204" pitchFamily="18" charset="0"/>
                            </a:rPr>
                          </m:ctrlPr>
                        </m:sSubPr>
                        <m:e>
                          <m:r>
                            <a:rPr lang="en-US" altLang="ja-JP" sz="2800">
                              <a:latin typeface="Cambria Math" panose="02040503050406030204" pitchFamily="18" charset="0"/>
                            </a:rPr>
                            <m:t>𝑦</m:t>
                          </m:r>
                        </m:e>
                        <m:sub>
                          <m:r>
                            <a:rPr lang="en-US" altLang="ja-JP" sz="2800" b="1" i="1" smtClean="0">
                              <a:latin typeface="Cambria Math" panose="02040503050406030204" pitchFamily="18" charset="0"/>
                            </a:rPr>
                            <m:t>𝒏</m:t>
                          </m:r>
                        </m:sub>
                      </m:sSub>
                    </m:oMath>
                  </m:oMathPara>
                </a14:m>
                <a:endParaRPr lang="ja-JP" altLang="en-US" sz="2800"/>
              </a:p>
            </p:txBody>
          </p:sp>
        </mc:Choice>
        <mc:Fallback xmlns="">
          <p:sp>
            <p:nvSpPr>
              <p:cNvPr id="17" name="テキスト ボックス 16">
                <a:extLst>
                  <a:ext uri="{FF2B5EF4-FFF2-40B4-BE49-F238E27FC236}">
                    <a16:creationId xmlns:a16="http://schemas.microsoft.com/office/drawing/2014/main" id="{DD863247-E92C-F77C-2205-519B31F99DC6}"/>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06DDC7B-DE02-6E32-1A83-C4CC22EEC087}"/>
              </a:ext>
            </a:extLst>
          </p:cNvPr>
          <p:cNvSpPr txBox="1"/>
          <p:nvPr/>
        </p:nvSpPr>
        <p:spPr>
          <a:xfrm>
            <a:off x="5989599" y="368491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Tree>
    <p:extLst>
      <p:ext uri="{BB962C8B-B14F-4D97-AF65-F5344CB8AC3E}">
        <p14:creationId xmlns:p14="http://schemas.microsoft.com/office/powerpoint/2010/main" val="4261504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B570D73-01D1-954F-8D5E-D47022239875}"/>
              </a:ext>
            </a:extLst>
          </p:cNvPr>
          <p:cNvSpPr/>
          <p:nvPr/>
        </p:nvSpPr>
        <p:spPr>
          <a:xfrm>
            <a:off x="406400" y="2766448"/>
            <a:ext cx="8205584" cy="3827392"/>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1AD9F09-684D-4CFD-1750-BEBCA75DED7E}"/>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4" name="コンテンツ プレースホルダー 3">
            <a:extLst>
              <a:ext uri="{FF2B5EF4-FFF2-40B4-BE49-F238E27FC236}">
                <a16:creationId xmlns:a16="http://schemas.microsoft.com/office/drawing/2014/main" id="{A65A3161-F85B-314A-2E64-B8E1FB0512DB}"/>
              </a:ext>
            </a:extLst>
          </p:cNvPr>
          <p:cNvSpPr>
            <a:spLocks noGrp="1"/>
          </p:cNvSpPr>
          <p:nvPr>
            <p:ph idx="13"/>
          </p:nvPr>
        </p:nvSpPr>
        <p:spPr>
          <a:xfrm>
            <a:off x="229637" y="1074907"/>
            <a:ext cx="8382347" cy="1691541"/>
          </a:xfrm>
        </p:spPr>
        <p:txBody>
          <a:bodyPr/>
          <a:lstStyle/>
          <a:p>
            <a:r>
              <a:rPr lang="en-US" altLang="ja-JP" b="1" dirty="0"/>
              <a:t>k</a:t>
            </a:r>
            <a:r>
              <a:rPr kumimoji="1" lang="en-US" altLang="ja-JP" b="1" dirty="0"/>
              <a:t>-NN </a:t>
            </a:r>
            <a:r>
              <a:rPr kumimoji="1" lang="ja-JP" altLang="en-US" b="1"/>
              <a:t>（</a:t>
            </a:r>
            <a:r>
              <a:rPr kumimoji="1" lang="en-US" altLang="ja-JP" b="1" dirty="0"/>
              <a:t>k-nearest-neighbor</a:t>
            </a:r>
            <a:r>
              <a:rPr lang="en-US" altLang="ja-JP" b="1" dirty="0"/>
              <a:t> </a:t>
            </a:r>
            <a:r>
              <a:rPr kumimoji="1" lang="en-US" altLang="ja-JP" b="1" dirty="0"/>
              <a:t>k</a:t>
            </a:r>
            <a:r>
              <a:rPr kumimoji="1" lang="ja-JP" altLang="en-US" b="1"/>
              <a:t>近傍法</a:t>
            </a:r>
            <a:r>
              <a:rPr lang="ja-JP" altLang="en-US" b="1"/>
              <a:t>）</a:t>
            </a:r>
            <a:br>
              <a:rPr lang="en-US" altLang="ja-JP" b="1" dirty="0"/>
            </a:br>
            <a:r>
              <a:rPr lang="ja-JP" altLang="ja-JP"/>
              <a:t> </a:t>
            </a:r>
            <a:r>
              <a:rPr lang="en-US" altLang="ja-JP" b="1" dirty="0"/>
              <a:t>C</a:t>
            </a:r>
            <a:r>
              <a:rPr lang="ja-JP" altLang="ja-JP" b="1"/>
              <a:t>lassifies an unknown sample by selecting the k nearest samples with known classes and assigning the class by majority vote.</a:t>
            </a:r>
          </a:p>
          <a:p>
            <a:endParaRPr kumimoji="1" lang="en-US" altLang="ja-JP" b="1" dirty="0"/>
          </a:p>
          <a:p>
            <a:endParaRPr kumimoji="1" lang="ja-JP" altLang="en-US" b="1"/>
          </a:p>
        </p:txBody>
      </p:sp>
      <p:pic>
        <p:nvPicPr>
          <p:cNvPr id="9" name="図 8">
            <a:extLst>
              <a:ext uri="{FF2B5EF4-FFF2-40B4-BE49-F238E27FC236}">
                <a16:creationId xmlns:a16="http://schemas.microsoft.com/office/drawing/2014/main" id="{B7EF3226-AD0D-EAD5-AF6E-4EC01952EBD0}"/>
              </a:ext>
            </a:extLst>
          </p:cNvPr>
          <p:cNvPicPr>
            <a:picLocks noChangeAspect="1"/>
          </p:cNvPicPr>
          <p:nvPr/>
        </p:nvPicPr>
        <p:blipFill>
          <a:blip r:embed="rId3"/>
          <a:stretch>
            <a:fillRect/>
          </a:stretch>
        </p:blipFill>
        <p:spPr>
          <a:xfrm>
            <a:off x="807719" y="2925762"/>
            <a:ext cx="3273102" cy="2520000"/>
          </a:xfrm>
          <a:prstGeom prst="rect">
            <a:avLst/>
          </a:prstGeom>
          <a:solidFill>
            <a:schemeClr val="bg1"/>
          </a:solidFill>
        </p:spPr>
      </p:pic>
      <p:pic>
        <p:nvPicPr>
          <p:cNvPr id="11" name="図 10">
            <a:extLst>
              <a:ext uri="{FF2B5EF4-FFF2-40B4-BE49-F238E27FC236}">
                <a16:creationId xmlns:a16="http://schemas.microsoft.com/office/drawing/2014/main" id="{4278E539-7A18-35BC-C3CA-FC2D85A239E8}"/>
              </a:ext>
            </a:extLst>
          </p:cNvPr>
          <p:cNvPicPr>
            <a:picLocks noChangeAspect="1"/>
          </p:cNvPicPr>
          <p:nvPr/>
        </p:nvPicPr>
        <p:blipFill>
          <a:blip r:embed="rId4"/>
          <a:stretch>
            <a:fillRect/>
          </a:stretch>
        </p:blipFill>
        <p:spPr>
          <a:xfrm>
            <a:off x="4572000" y="2940393"/>
            <a:ext cx="3273095" cy="2520000"/>
          </a:xfrm>
          <a:prstGeom prst="rect">
            <a:avLst/>
          </a:prstGeom>
          <a:solidFill>
            <a:schemeClr val="bg1"/>
          </a:solidFill>
        </p:spPr>
      </p:pic>
      <p:sp>
        <p:nvSpPr>
          <p:cNvPr id="14" name="コンテンツ プレースホルダー 3">
            <a:extLst>
              <a:ext uri="{FF2B5EF4-FFF2-40B4-BE49-F238E27FC236}">
                <a16:creationId xmlns:a16="http://schemas.microsoft.com/office/drawing/2014/main" id="{7ED86A3F-38EF-81BC-DB16-A3E242A64BF3}"/>
              </a:ext>
            </a:extLst>
          </p:cNvPr>
          <p:cNvSpPr txBox="1">
            <a:spLocks/>
          </p:cNvSpPr>
          <p:nvPr/>
        </p:nvSpPr>
        <p:spPr>
          <a:xfrm>
            <a:off x="1594946" y="5634338"/>
            <a:ext cx="5954107" cy="8457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3200" b="1" dirty="0"/>
              <a:t>The predicted class </a:t>
            </a:r>
            <a:br>
              <a:rPr lang="en" altLang="ja-JP" sz="3200" b="1" dirty="0"/>
            </a:br>
            <a:r>
              <a:rPr lang="en" altLang="ja-JP" sz="3200" b="1" dirty="0"/>
              <a:t>depends on the value of </a:t>
            </a:r>
            <a:r>
              <a:rPr lang="en" altLang="ja-JP" sz="3200" b="1" dirty="0">
                <a:highlight>
                  <a:srgbClr val="FFFF00"/>
                </a:highlight>
              </a:rPr>
              <a:t>k</a:t>
            </a:r>
            <a:r>
              <a:rPr lang="en" altLang="ja-JP" sz="3200" b="1" dirty="0"/>
              <a:t>.</a:t>
            </a:r>
          </a:p>
          <a:p>
            <a:pPr marL="0" indent="0" algn="ctr">
              <a:buNone/>
            </a:pPr>
            <a:endParaRPr lang="ja-JP" altLang="ja-JP" sz="3200" b="1"/>
          </a:p>
          <a:p>
            <a:pPr algn="ctr"/>
            <a:endParaRPr lang="en-US" altLang="ja-JP" sz="3200" b="1" dirty="0"/>
          </a:p>
          <a:p>
            <a:pPr algn="ctr"/>
            <a:endParaRPr lang="ja-JP" altLang="en-US" sz="3200" b="1"/>
          </a:p>
        </p:txBody>
      </p:sp>
    </p:spTree>
    <p:extLst>
      <p:ext uri="{BB962C8B-B14F-4D97-AF65-F5344CB8AC3E}">
        <p14:creationId xmlns:p14="http://schemas.microsoft.com/office/powerpoint/2010/main" val="2162854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3AF5B5E-4475-1831-378B-1DF795666B19}"/>
              </a:ext>
            </a:extLst>
          </p:cNvPr>
          <p:cNvSpPr/>
          <p:nvPr/>
        </p:nvSpPr>
        <p:spPr>
          <a:xfrm>
            <a:off x="365760" y="1097281"/>
            <a:ext cx="8205584" cy="250951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F8A21752-4366-E092-5616-082AC191AEBB}"/>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8" name="テキスト ボックス 7">
            <a:extLst>
              <a:ext uri="{FF2B5EF4-FFF2-40B4-BE49-F238E27FC236}">
                <a16:creationId xmlns:a16="http://schemas.microsoft.com/office/drawing/2014/main" id="{768B9B93-F46C-3ADF-FD83-E8C607C5E209}"/>
              </a:ext>
            </a:extLst>
          </p:cNvPr>
          <p:cNvSpPr txBox="1"/>
          <p:nvPr/>
        </p:nvSpPr>
        <p:spPr>
          <a:xfrm>
            <a:off x="497840" y="1097281"/>
            <a:ext cx="8148320" cy="5693866"/>
          </a:xfrm>
          <a:prstGeom prst="rect">
            <a:avLst/>
          </a:prstGeom>
          <a:noFill/>
        </p:spPr>
        <p:txBody>
          <a:bodyPr wrap="square">
            <a:spAutoFit/>
          </a:bodyPr>
          <a:lstStyle/>
          <a:p>
            <a:pPr>
              <a:buNone/>
            </a:pPr>
            <a:r>
              <a:rPr lang="ja-JP" altLang="ja-JP" sz="2800" b="1">
                <a:latin typeface="Helvetica" pitchFamily="2" charset="0"/>
                <a:ea typeface="Hiragino Sans W4" panose="020B0400000000000000" pitchFamily="34" charset="-128"/>
              </a:rPr>
              <a:t>Advantages:</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Simple and intuitive</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No complex training process</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Less affected by outliers</a:t>
            </a:r>
            <a:r>
              <a:rPr lang="ja-JP" altLang="en-US" sz="2800" b="1">
                <a:latin typeface="Helvetica" pitchFamily="2" charset="0"/>
                <a:ea typeface="Hiragino Sans W4" panose="020B0400000000000000" pitchFamily="34" charset="-128"/>
              </a:rPr>
              <a:t>（外れ値）</a:t>
            </a:r>
            <a:r>
              <a:rPr lang="en-US" altLang="ja-JP" sz="2800" b="1" dirty="0">
                <a:latin typeface="Helvetica" pitchFamily="2" charset="0"/>
                <a:ea typeface="Hiragino Sans W4" panose="020B0400000000000000" pitchFamily="34" charset="-128"/>
              </a:rPr>
              <a:t>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en-US" altLang="ja-JP" sz="2800" b="1" dirty="0">
                <a:latin typeface="Helvetica" pitchFamily="2" charset="0"/>
                <a:ea typeface="Hiragino Sans W4" panose="020B0400000000000000" pitchFamily="34" charset="-128"/>
              </a:rPr>
              <a:t>when k is not too small</a:t>
            </a:r>
          </a:p>
          <a:p>
            <a:pPr>
              <a:buFont typeface="Arial" panose="020B0604020202020204" pitchFamily="34" charset="0"/>
              <a:buChar char="•"/>
            </a:pPr>
            <a:endParaRPr lang="ja-JP" altLang="ja-JP" sz="2800" b="1">
              <a:latin typeface="Helvetica" pitchFamily="2" charset="0"/>
              <a:ea typeface="Hiragino Sans W4" panose="020B0400000000000000" pitchFamily="34" charset="-128"/>
            </a:endParaRPr>
          </a:p>
          <a:p>
            <a:pPr>
              <a:buNone/>
            </a:pPr>
            <a:r>
              <a:rPr lang="ja-JP" altLang="ja-JP" sz="2800" b="1">
                <a:latin typeface="Helvetica" pitchFamily="2" charset="0"/>
                <a:ea typeface="Hiragino Sans W4" panose="020B0400000000000000" pitchFamily="34" charset="-128"/>
              </a:rPr>
              <a:t>Disadvantage:</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Computational cost increases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as the dataset becomes larger</a:t>
            </a:r>
            <a:br>
              <a:rPr lang="en-US" altLang="ja-JP" sz="2800" b="1" dirty="0">
                <a:latin typeface="Helvetica" pitchFamily="2" charset="0"/>
                <a:ea typeface="Hiragino Sans W4" panose="020B0400000000000000" pitchFamily="34" charset="-128"/>
              </a:rPr>
            </a:br>
            <a:r>
              <a:rPr lang="en-US" altLang="ja-JP" sz="2000" b="1" dirty="0">
                <a:latin typeface="Helvetica" pitchFamily="2" charset="0"/>
                <a:ea typeface="Hiragino Sans W4" panose="020B0400000000000000" pitchFamily="34" charset="-128"/>
              </a:rPr>
              <a:t>Because k-NN determines the class of each new sample by majority vote, the computational cost increases as the dataset becomes larger.</a:t>
            </a:r>
          </a:p>
          <a:p>
            <a:pPr>
              <a:buFont typeface="Arial" panose="020B0604020202020204" pitchFamily="34" charset="0"/>
              <a:buChar char="•"/>
            </a:pPr>
            <a:endParaRPr lang="ja-JP" altLang="ja-JP" sz="2000" b="1">
              <a:latin typeface="Helvetica" pitchFamily="2" charset="0"/>
              <a:ea typeface="Hiragino Sans W4" panose="020B0400000000000000" pitchFamily="34" charset="-128"/>
            </a:endParaRPr>
          </a:p>
        </p:txBody>
      </p:sp>
      <p:sp>
        <p:nvSpPr>
          <p:cNvPr id="10" name="正方形/長方形 9">
            <a:extLst>
              <a:ext uri="{FF2B5EF4-FFF2-40B4-BE49-F238E27FC236}">
                <a16:creationId xmlns:a16="http://schemas.microsoft.com/office/drawing/2014/main" id="{3338EEC8-07C5-E436-95D2-C7051F6473E7}"/>
              </a:ext>
            </a:extLst>
          </p:cNvPr>
          <p:cNvSpPr/>
          <p:nvPr/>
        </p:nvSpPr>
        <p:spPr>
          <a:xfrm>
            <a:off x="365760" y="3788488"/>
            <a:ext cx="8205584" cy="2509519"/>
          </a:xfrm>
          <a:prstGeom prst="rect">
            <a:avLst/>
          </a:prstGeom>
          <a:no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0918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345F4BEC-9874-5D11-15F2-310BBA920014}"/>
              </a:ext>
            </a:extLst>
          </p:cNvPr>
          <p:cNvSpPr>
            <a:spLocks noGrp="1"/>
          </p:cNvSpPr>
          <p:nvPr>
            <p:ph type="title"/>
          </p:nvPr>
        </p:nvSpPr>
        <p:spPr>
          <a:xfrm>
            <a:off x="0" y="18256"/>
            <a:ext cx="925576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6" name="コンテンツ プレースホルダー 3">
            <a:extLst>
              <a:ext uri="{FF2B5EF4-FFF2-40B4-BE49-F238E27FC236}">
                <a16:creationId xmlns:a16="http://schemas.microsoft.com/office/drawing/2014/main" id="{0CAE61CF-9620-76D8-B485-8F13F92B1319}"/>
              </a:ext>
            </a:extLst>
          </p:cNvPr>
          <p:cNvSpPr txBox="1">
            <a:spLocks/>
          </p:cNvSpPr>
          <p:nvPr/>
        </p:nvSpPr>
        <p:spPr>
          <a:xfrm>
            <a:off x="191018" y="1030213"/>
            <a:ext cx="902612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Decision Tree </a:t>
            </a:r>
            <a:r>
              <a:rPr lang="ja-JP" altLang="en-US" b="1"/>
              <a:t>（決定木）</a:t>
            </a:r>
            <a:endParaRPr lang="ja-JP" altLang="ja-JP" b="1"/>
          </a:p>
          <a:p>
            <a:r>
              <a:rPr lang="ja-JP" altLang="ja-JP" sz="2400" b="1"/>
              <a:t>Builds a hierarchical tree structure using Yes/No questions</a:t>
            </a:r>
          </a:p>
          <a:p>
            <a:r>
              <a:rPr lang="ja-JP" altLang="ja-JP" sz="2400" b="1"/>
              <a:t>Optimizes the splits and thresholds to fit the input data</a:t>
            </a:r>
          </a:p>
          <a:p>
            <a:r>
              <a:rPr lang="ja-JP" altLang="ja-JP" sz="2400" b="1"/>
              <a:t>Needs attention to overfitting</a:t>
            </a:r>
            <a:r>
              <a:rPr lang="en-US" altLang="ja-JP" sz="2400" b="1" dirty="0"/>
              <a:t>, </a:t>
            </a:r>
            <a:r>
              <a:rPr lang="ja-JP" altLang="ja-JP" sz="2400" b="1"/>
              <a:t>Not good at</a:t>
            </a:r>
            <a:r>
              <a:rPr lang="en-US" altLang="ja-JP" sz="2400" b="1" dirty="0"/>
              <a:t> </a:t>
            </a:r>
            <a:r>
              <a:rPr lang="ja-JP" altLang="ja-JP" sz="2400" b="1"/>
              <a:t>extrapolation</a:t>
            </a:r>
          </a:p>
          <a:p>
            <a:pPr marL="0" indent="0">
              <a:buNone/>
            </a:pPr>
            <a:br>
              <a:rPr lang="en-US" altLang="ja-JP" b="1" dirty="0"/>
            </a:br>
            <a:endParaRPr lang="en-US" altLang="ja-JP" b="1" dirty="0"/>
          </a:p>
          <a:p>
            <a:endParaRPr lang="ja-JP" altLang="en-US" b="1"/>
          </a:p>
        </p:txBody>
      </p:sp>
      <p:sp>
        <p:nvSpPr>
          <p:cNvPr id="7" name="正方形/長方形 6">
            <a:extLst>
              <a:ext uri="{FF2B5EF4-FFF2-40B4-BE49-F238E27FC236}">
                <a16:creationId xmlns:a16="http://schemas.microsoft.com/office/drawing/2014/main" id="{8F92C02B-E25E-9134-E3F5-B6D8878F1EC6}"/>
              </a:ext>
            </a:extLst>
          </p:cNvPr>
          <p:cNvSpPr/>
          <p:nvPr/>
        </p:nvSpPr>
        <p:spPr>
          <a:xfrm>
            <a:off x="406400" y="3051313"/>
            <a:ext cx="8205584" cy="3339548"/>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0C4F59D-88C8-EB88-F488-BB525A83ABB3}"/>
              </a:ext>
            </a:extLst>
          </p:cNvPr>
          <p:cNvPicPr>
            <a:picLocks noChangeAspect="1"/>
          </p:cNvPicPr>
          <p:nvPr/>
        </p:nvPicPr>
        <p:blipFill>
          <a:blip r:embed="rId3"/>
          <a:srcRect r="4113"/>
          <a:stretch>
            <a:fillRect/>
          </a:stretch>
        </p:blipFill>
        <p:spPr>
          <a:xfrm>
            <a:off x="532016" y="3429000"/>
            <a:ext cx="4172064" cy="2579656"/>
          </a:xfrm>
          <a:prstGeom prst="rect">
            <a:avLst/>
          </a:prstGeom>
          <a:solidFill>
            <a:schemeClr val="bg1"/>
          </a:solidFill>
        </p:spPr>
      </p:pic>
      <p:pic>
        <p:nvPicPr>
          <p:cNvPr id="11" name="図 10">
            <a:extLst>
              <a:ext uri="{FF2B5EF4-FFF2-40B4-BE49-F238E27FC236}">
                <a16:creationId xmlns:a16="http://schemas.microsoft.com/office/drawing/2014/main" id="{0080F036-9550-6D6B-16F2-AECFB564CEA6}"/>
              </a:ext>
            </a:extLst>
          </p:cNvPr>
          <p:cNvPicPr>
            <a:picLocks noChangeAspect="1"/>
          </p:cNvPicPr>
          <p:nvPr/>
        </p:nvPicPr>
        <p:blipFill>
          <a:blip r:embed="rId4"/>
          <a:stretch>
            <a:fillRect/>
          </a:stretch>
        </p:blipFill>
        <p:spPr>
          <a:xfrm>
            <a:off x="5113020" y="3345033"/>
            <a:ext cx="3279140" cy="2747590"/>
          </a:xfrm>
          <a:prstGeom prst="rect">
            <a:avLst/>
          </a:prstGeom>
          <a:solidFill>
            <a:schemeClr val="bg1"/>
          </a:solidFill>
        </p:spPr>
      </p:pic>
    </p:spTree>
    <p:extLst>
      <p:ext uri="{BB962C8B-B14F-4D97-AF65-F5344CB8AC3E}">
        <p14:creationId xmlns:p14="http://schemas.microsoft.com/office/powerpoint/2010/main" val="3191072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EC3CAA2-0DDB-6876-62BA-069D14996F8F}"/>
              </a:ext>
            </a:extLst>
          </p:cNvPr>
          <p:cNvSpPr/>
          <p:nvPr/>
        </p:nvSpPr>
        <p:spPr>
          <a:xfrm>
            <a:off x="406400" y="4013200"/>
            <a:ext cx="8205584" cy="2580640"/>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E3C5F55D-CAB8-A4FE-C63D-E7395B289416}"/>
              </a:ext>
            </a:extLst>
          </p:cNvPr>
          <p:cNvSpPr>
            <a:spLocks noGrp="1"/>
          </p:cNvSpPr>
          <p:nvPr>
            <p:ph type="title"/>
          </p:nvPr>
        </p:nvSpPr>
        <p:spPr>
          <a:xfrm>
            <a:off x="0" y="18256"/>
            <a:ext cx="927608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7" name="コンテンツ プレースホルダー 3">
            <a:extLst>
              <a:ext uri="{FF2B5EF4-FFF2-40B4-BE49-F238E27FC236}">
                <a16:creationId xmlns:a16="http://schemas.microsoft.com/office/drawing/2014/main" id="{F4E32356-B0F9-2954-F08A-7F2B835CEB74}"/>
              </a:ext>
            </a:extLst>
          </p:cNvPr>
          <p:cNvSpPr txBox="1">
            <a:spLocks/>
          </p:cNvSpPr>
          <p:nvPr/>
        </p:nvSpPr>
        <p:spPr>
          <a:xfrm>
            <a:off x="229637" y="985520"/>
            <a:ext cx="904644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sz="3000" b="1"/>
              <a:t>Random Forest</a:t>
            </a:r>
          </a:p>
          <a:p>
            <a:r>
              <a:rPr lang="ja-JP" altLang="ja-JP" sz="2000" b="1"/>
              <a:t>An ensemble method that combines multiple  </a:t>
            </a:r>
            <a:r>
              <a:rPr lang="en-US" altLang="ja-JP" sz="2000" b="1" dirty="0"/>
              <a:t>decision tree</a:t>
            </a:r>
            <a:endParaRPr lang="ja-JP" altLang="ja-JP" sz="2000" b="1"/>
          </a:p>
          <a:p>
            <a:r>
              <a:rPr lang="ja-JP" altLang="ja-JP" sz="2000" b="1"/>
              <a:t>An ensemble of decision trees</a:t>
            </a:r>
          </a:p>
          <a:p>
            <a:r>
              <a:rPr lang="ja-JP" altLang="ja-JP" sz="2000" b="1"/>
              <a:t>Trains N decision trees using sampled subsets of the data</a:t>
            </a:r>
          </a:p>
          <a:p>
            <a:r>
              <a:rPr lang="ja-JP" altLang="ja-JP" sz="2000" b="1"/>
              <a:t>Makes predictions by majority vote for classification or by averaging for regression</a:t>
            </a:r>
          </a:p>
          <a:p>
            <a:r>
              <a:rPr lang="ja-JP" altLang="ja-JP" sz="2000" b="1"/>
              <a:t>Not good at extrapolation</a:t>
            </a:r>
          </a:p>
          <a:p>
            <a:pPr marL="0" indent="0">
              <a:buNone/>
            </a:pPr>
            <a:br>
              <a:rPr lang="en-US" altLang="ja-JP" b="1" dirty="0"/>
            </a:br>
            <a:endParaRPr lang="en-US" altLang="ja-JP" b="1" dirty="0"/>
          </a:p>
          <a:p>
            <a:endParaRPr lang="ja-JP" altLang="en-US" b="1"/>
          </a:p>
        </p:txBody>
      </p:sp>
      <p:pic>
        <p:nvPicPr>
          <p:cNvPr id="9" name="図 8">
            <a:extLst>
              <a:ext uri="{FF2B5EF4-FFF2-40B4-BE49-F238E27FC236}">
                <a16:creationId xmlns:a16="http://schemas.microsoft.com/office/drawing/2014/main" id="{6F0E5FF2-4219-5C73-8E39-E8DB02136C26}"/>
              </a:ext>
            </a:extLst>
          </p:cNvPr>
          <p:cNvPicPr>
            <a:picLocks noChangeAspect="1"/>
          </p:cNvPicPr>
          <p:nvPr/>
        </p:nvPicPr>
        <p:blipFill>
          <a:blip r:embed="rId3"/>
          <a:srcRect r="4113"/>
          <a:stretch>
            <a:fillRect/>
          </a:stretch>
        </p:blipFill>
        <p:spPr>
          <a:xfrm>
            <a:off x="843280" y="4137771"/>
            <a:ext cx="2341880" cy="1448023"/>
          </a:xfrm>
          <a:prstGeom prst="rect">
            <a:avLst/>
          </a:prstGeom>
          <a:solidFill>
            <a:schemeClr val="bg1"/>
          </a:solidFill>
          <a:ln w="28575">
            <a:solidFill>
              <a:schemeClr val="tx1"/>
            </a:solidFill>
          </a:ln>
        </p:spPr>
      </p:pic>
      <p:pic>
        <p:nvPicPr>
          <p:cNvPr id="11" name="図 10">
            <a:extLst>
              <a:ext uri="{FF2B5EF4-FFF2-40B4-BE49-F238E27FC236}">
                <a16:creationId xmlns:a16="http://schemas.microsoft.com/office/drawing/2014/main" id="{1C92EBAE-40D2-164C-5B0E-DA3695F4BCCA}"/>
              </a:ext>
            </a:extLst>
          </p:cNvPr>
          <p:cNvPicPr>
            <a:picLocks noChangeAspect="1"/>
          </p:cNvPicPr>
          <p:nvPr/>
        </p:nvPicPr>
        <p:blipFill>
          <a:blip r:embed="rId3"/>
          <a:srcRect r="4113"/>
          <a:stretch>
            <a:fillRect/>
          </a:stretch>
        </p:blipFill>
        <p:spPr>
          <a:xfrm>
            <a:off x="3401060" y="4137771"/>
            <a:ext cx="2341880" cy="1448023"/>
          </a:xfrm>
          <a:prstGeom prst="rect">
            <a:avLst/>
          </a:prstGeom>
          <a:solidFill>
            <a:schemeClr val="bg1"/>
          </a:solidFill>
          <a:ln w="28575">
            <a:solidFill>
              <a:schemeClr val="tx1"/>
            </a:solidFill>
          </a:ln>
        </p:spPr>
      </p:pic>
      <p:pic>
        <p:nvPicPr>
          <p:cNvPr id="12" name="図 11">
            <a:extLst>
              <a:ext uri="{FF2B5EF4-FFF2-40B4-BE49-F238E27FC236}">
                <a16:creationId xmlns:a16="http://schemas.microsoft.com/office/drawing/2014/main" id="{B0FAA87D-9C41-D5FD-7F62-FFACFCACC3AB}"/>
              </a:ext>
            </a:extLst>
          </p:cNvPr>
          <p:cNvPicPr>
            <a:picLocks noChangeAspect="1"/>
          </p:cNvPicPr>
          <p:nvPr/>
        </p:nvPicPr>
        <p:blipFill>
          <a:blip r:embed="rId3"/>
          <a:srcRect r="4113"/>
          <a:stretch>
            <a:fillRect/>
          </a:stretch>
        </p:blipFill>
        <p:spPr>
          <a:xfrm>
            <a:off x="5958840" y="4137771"/>
            <a:ext cx="2341880" cy="1448023"/>
          </a:xfrm>
          <a:prstGeom prst="rect">
            <a:avLst/>
          </a:prstGeom>
          <a:solidFill>
            <a:schemeClr val="bg1"/>
          </a:solidFill>
          <a:ln w="28575">
            <a:solidFill>
              <a:schemeClr val="tx1"/>
            </a:solidFill>
          </a:ln>
        </p:spPr>
      </p:pic>
      <p:sp>
        <p:nvSpPr>
          <p:cNvPr id="13" name="左中かっこ 12">
            <a:extLst>
              <a:ext uri="{FF2B5EF4-FFF2-40B4-BE49-F238E27FC236}">
                <a16:creationId xmlns:a16="http://schemas.microsoft.com/office/drawing/2014/main" id="{5404E8F4-C8A2-7418-9A5F-C600333A53D3}"/>
              </a:ext>
            </a:extLst>
          </p:cNvPr>
          <p:cNvSpPr/>
          <p:nvPr/>
        </p:nvSpPr>
        <p:spPr>
          <a:xfrm rot="16200000" flipV="1">
            <a:off x="4208326" y="2408374"/>
            <a:ext cx="463188" cy="6827520"/>
          </a:xfrm>
          <a:prstGeom prst="leftBrace">
            <a:avLst>
              <a:gd name="adj1" fmla="val 28586"/>
              <a:gd name="adj2" fmla="val 50277"/>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3DADF4C-AA33-1EF0-031B-C1953573AE07}"/>
              </a:ext>
            </a:extLst>
          </p:cNvPr>
          <p:cNvSpPr txBox="1"/>
          <p:nvPr/>
        </p:nvSpPr>
        <p:spPr>
          <a:xfrm>
            <a:off x="1940404" y="6054999"/>
            <a:ext cx="4999031" cy="1077218"/>
          </a:xfrm>
          <a:prstGeom prst="rect">
            <a:avLst/>
          </a:prstGeom>
          <a:noFill/>
        </p:spPr>
        <p:txBody>
          <a:bodyPr wrap="square" rtlCol="0">
            <a:spAutoFit/>
          </a:bodyPr>
          <a:lstStyle/>
          <a:p>
            <a:r>
              <a:rPr lang="ja-JP" altLang="ja-JP" sz="3200" b="1">
                <a:latin typeface="Helvetica" pitchFamily="2" charset="0"/>
                <a:ea typeface="Hiragino Sans W4" panose="020B0400000000000000" pitchFamily="34" charset="-128"/>
              </a:rPr>
              <a:t>Majority Rule or Average</a:t>
            </a:r>
            <a:r>
              <a:rPr lang="en-US" altLang="ja-JP" sz="3200" b="1" dirty="0">
                <a:latin typeface="Helvetica" pitchFamily="2" charset="0"/>
                <a:ea typeface="Hiragino Sans W4" panose="020B0400000000000000" pitchFamily="34" charset="-128"/>
              </a:rPr>
              <a:t> (Bagging)</a:t>
            </a:r>
            <a:endParaRPr lang="ja-JP" altLang="ja-JP" sz="3200" b="1">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276924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82B2B91-B9B3-23B1-899A-D8AAFB25AEE4}"/>
              </a:ext>
            </a:extLst>
          </p:cNvPr>
          <p:cNvSpPr/>
          <p:nvPr/>
        </p:nvSpPr>
        <p:spPr>
          <a:xfrm>
            <a:off x="529258" y="1779104"/>
            <a:ext cx="8205584" cy="497950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D907554-9DD5-82FF-759B-02DA8B33E02B}"/>
              </a:ext>
            </a:extLst>
          </p:cNvPr>
          <p:cNvSpPr>
            <a:spLocks noGrp="1"/>
          </p:cNvSpPr>
          <p:nvPr>
            <p:ph type="title"/>
          </p:nvPr>
        </p:nvSpPr>
        <p:spPr/>
        <p:txBody>
          <a:bodyPr>
            <a:normAutofit/>
          </a:bodyPr>
          <a:lstStyle/>
          <a:p>
            <a:r>
              <a:rPr lang="en-US" altLang="ja-JP" dirty="0">
                <a:latin typeface="Helvetica" pitchFamily="2" charset="0"/>
              </a:rPr>
              <a:t>Confusion </a:t>
            </a:r>
            <a:r>
              <a:rPr kumimoji="1" lang="en-US" altLang="ja-JP" dirty="0">
                <a:latin typeface="Helvetica" pitchFamily="2" charset="0"/>
              </a:rPr>
              <a:t>matrix </a:t>
            </a:r>
            <a:r>
              <a:rPr lang="en-US" altLang="ja-JP" sz="2700" dirty="0">
                <a:latin typeface="Helvetica" pitchFamily="2" charset="0"/>
              </a:rPr>
              <a:t>Evaluation Metrics</a:t>
            </a:r>
            <a:endParaRPr kumimoji="1" lang="ja-JP" altLang="en-US" sz="2700">
              <a:latin typeface="Helvetica" pitchFamily="2" charset="0"/>
            </a:endParaRPr>
          </a:p>
        </p:txBody>
      </p:sp>
      <p:sp>
        <p:nvSpPr>
          <p:cNvPr id="4" name="コンテンツ プレースホルダー 3">
            <a:extLst>
              <a:ext uri="{FF2B5EF4-FFF2-40B4-BE49-F238E27FC236}">
                <a16:creationId xmlns:a16="http://schemas.microsoft.com/office/drawing/2014/main" id="{7E78B210-5FD9-04C7-4E60-07B1CD6022A9}"/>
              </a:ext>
            </a:extLst>
          </p:cNvPr>
          <p:cNvSpPr>
            <a:spLocks noGrp="1"/>
          </p:cNvSpPr>
          <p:nvPr>
            <p:ph idx="13"/>
          </p:nvPr>
        </p:nvSpPr>
        <p:spPr>
          <a:xfrm>
            <a:off x="111814" y="1281480"/>
            <a:ext cx="9568899" cy="977528"/>
          </a:xfrm>
        </p:spPr>
        <p:txBody>
          <a:bodyPr/>
          <a:lstStyle/>
          <a:p>
            <a:pPr marL="0" indent="0">
              <a:buNone/>
            </a:pPr>
            <a:r>
              <a:rPr lang="ja-JP" altLang="ja-JP" b="1"/>
              <a:t>A table that summarizes the results of classification</a:t>
            </a:r>
          </a:p>
          <a:p>
            <a:endParaRPr kumimoji="1" lang="ja-JP" altLang="en-US" b="1"/>
          </a:p>
        </p:txBody>
      </p:sp>
      <p:pic>
        <p:nvPicPr>
          <p:cNvPr id="12" name="図 11">
            <a:extLst>
              <a:ext uri="{FF2B5EF4-FFF2-40B4-BE49-F238E27FC236}">
                <a16:creationId xmlns:a16="http://schemas.microsoft.com/office/drawing/2014/main" id="{45E4AC11-2CB6-6946-2A6D-644B99277DC1}"/>
              </a:ext>
            </a:extLst>
          </p:cNvPr>
          <p:cNvPicPr>
            <a:picLocks noChangeAspect="1"/>
          </p:cNvPicPr>
          <p:nvPr/>
        </p:nvPicPr>
        <p:blipFill>
          <a:blip r:embed="rId3"/>
          <a:stretch>
            <a:fillRect/>
          </a:stretch>
        </p:blipFill>
        <p:spPr>
          <a:xfrm>
            <a:off x="2878482" y="2036653"/>
            <a:ext cx="3387035" cy="2923546"/>
          </a:xfrm>
          <a:prstGeom prst="rect">
            <a:avLst/>
          </a:prstGeom>
          <a:solidFill>
            <a:schemeClr val="bg1"/>
          </a:solidFill>
        </p:spPr>
      </p:pic>
      <p:pic>
        <p:nvPicPr>
          <p:cNvPr id="14" name="図 13">
            <a:extLst>
              <a:ext uri="{FF2B5EF4-FFF2-40B4-BE49-F238E27FC236}">
                <a16:creationId xmlns:a16="http://schemas.microsoft.com/office/drawing/2014/main" id="{9F349B71-39FA-5FCB-A6A6-6364EE0ADC54}"/>
              </a:ext>
            </a:extLst>
          </p:cNvPr>
          <p:cNvPicPr>
            <a:picLocks noChangeAspect="1"/>
          </p:cNvPicPr>
          <p:nvPr/>
        </p:nvPicPr>
        <p:blipFill>
          <a:blip r:embed="rId4"/>
          <a:stretch>
            <a:fillRect/>
          </a:stretch>
        </p:blipFill>
        <p:spPr>
          <a:xfrm>
            <a:off x="1638299" y="5135504"/>
            <a:ext cx="5867400" cy="1447800"/>
          </a:xfrm>
          <a:prstGeom prst="rect">
            <a:avLst/>
          </a:prstGeom>
        </p:spPr>
      </p:pic>
      <p:sp>
        <p:nvSpPr>
          <p:cNvPr id="16" name="テキスト ボックス 15">
            <a:extLst>
              <a:ext uri="{FF2B5EF4-FFF2-40B4-BE49-F238E27FC236}">
                <a16:creationId xmlns:a16="http://schemas.microsoft.com/office/drawing/2014/main" id="{EDDEDAE3-72E5-76A8-D3BC-71F9E692B7D5}"/>
              </a:ext>
            </a:extLst>
          </p:cNvPr>
          <p:cNvSpPr txBox="1"/>
          <p:nvPr/>
        </p:nvSpPr>
        <p:spPr>
          <a:xfrm>
            <a:off x="692428" y="5628571"/>
            <a:ext cx="798442" cy="461665"/>
          </a:xfrm>
          <a:prstGeom prst="rect">
            <a:avLst/>
          </a:prstGeom>
          <a:noFill/>
        </p:spPr>
        <p:txBody>
          <a:bodyPr wrap="square">
            <a:spAutoFit/>
          </a:bodyPr>
          <a:lstStyle/>
          <a:p>
            <a:r>
              <a:rPr lang="en" altLang="ja-JP" sz="2400" b="1" dirty="0">
                <a:latin typeface="Helvetica" pitchFamily="2" charset="0"/>
              </a:rPr>
              <a:t>e.g. </a:t>
            </a:r>
            <a:endParaRPr lang="ja-JP" altLang="en-US" sz="2400" b="1">
              <a:latin typeface="Helvetica" pitchFamily="2" charset="0"/>
            </a:endParaRPr>
          </a:p>
        </p:txBody>
      </p:sp>
    </p:spTree>
    <p:extLst>
      <p:ext uri="{BB962C8B-B14F-4D97-AF65-F5344CB8AC3E}">
        <p14:creationId xmlns:p14="http://schemas.microsoft.com/office/powerpoint/2010/main" val="3195725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09E2264-821E-AC72-B037-AB097F5654A8}"/>
              </a:ext>
            </a:extLst>
          </p:cNvPr>
          <p:cNvSpPr/>
          <p:nvPr/>
        </p:nvSpPr>
        <p:spPr>
          <a:xfrm>
            <a:off x="2539182" y="5919483"/>
            <a:ext cx="3733602"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0589E3E-BB3E-FA6D-8600-6EF6A0A82A70}"/>
              </a:ext>
            </a:extLst>
          </p:cNvPr>
          <p:cNvSpPr/>
          <p:nvPr/>
        </p:nvSpPr>
        <p:spPr>
          <a:xfrm>
            <a:off x="2304288" y="4207725"/>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DAF2ADE-FC8D-6718-B29E-E3FB160ACF97}"/>
              </a:ext>
            </a:extLst>
          </p:cNvPr>
          <p:cNvSpPr/>
          <p:nvPr/>
        </p:nvSpPr>
        <p:spPr>
          <a:xfrm>
            <a:off x="1451113" y="2161138"/>
            <a:ext cx="562702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CCCEE8D-EA84-93D6-9856-405D1BD60726}"/>
              </a:ext>
            </a:extLst>
          </p:cNvPr>
          <p:cNvSpPr>
            <a:spLocks noGrp="1"/>
          </p:cNvSpPr>
          <p:nvPr>
            <p:ph type="title"/>
          </p:nvPr>
        </p:nvSpPr>
        <p:spPr/>
        <p:txBody>
          <a:bodyPr>
            <a:normAutofit fontScale="90000"/>
          </a:bodyPr>
          <a:lstStyle/>
          <a:p>
            <a:r>
              <a:rPr lang="en-US" altLang="ja-JP" dirty="0">
                <a:latin typeface="Helvetica" pitchFamily="2" charset="0"/>
              </a:rPr>
              <a:t>Accuracy, Precision, Recall</a:t>
            </a:r>
            <a:r>
              <a:rPr kumimoji="1" lang="en-US" altLang="ja-JP" dirty="0">
                <a:latin typeface="Helvetica" pitchFamily="2" charset="0"/>
              </a:rPr>
              <a:t> </a:t>
            </a:r>
            <a:r>
              <a:rPr lang="en-US" altLang="ja-JP" sz="2000" dirty="0">
                <a:latin typeface="Helvetica" pitchFamily="2" charset="0"/>
              </a:rPr>
              <a:t>Evaluation Metrics</a:t>
            </a:r>
            <a:endParaRPr kumimoji="1" lang="ja-JP" altLang="en-US" sz="2000">
              <a:latin typeface="Helvetica" pitchFamily="2" charset="0"/>
            </a:endParaRPr>
          </a:p>
        </p:txBody>
      </p:sp>
      <p:sp>
        <p:nvSpPr>
          <p:cNvPr id="6" name="コンテンツ プレースホルダー 3">
            <a:extLst>
              <a:ext uri="{FF2B5EF4-FFF2-40B4-BE49-F238E27FC236}">
                <a16:creationId xmlns:a16="http://schemas.microsoft.com/office/drawing/2014/main" id="{499BFCCD-E7BB-B4AE-17C5-C7AD5F69B3F6}"/>
              </a:ext>
            </a:extLst>
          </p:cNvPr>
          <p:cNvSpPr txBox="1">
            <a:spLocks/>
          </p:cNvSpPr>
          <p:nvPr/>
        </p:nvSpPr>
        <p:spPr>
          <a:xfrm>
            <a:off x="117877" y="1010336"/>
            <a:ext cx="9026123" cy="14048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Accuracy </a:t>
            </a:r>
            <a:r>
              <a:rPr lang="ja-JP" altLang="en-US" b="1"/>
              <a:t>（正解率）</a:t>
            </a:r>
            <a:endParaRPr lang="ja-JP" altLang="ja-JP" b="1"/>
          </a:p>
          <a:p>
            <a:r>
              <a:rPr lang="ja-JP" altLang="ja-JP" sz="2400" b="1"/>
              <a:t>how many samples were correctly classified among all samples.</a:t>
            </a:r>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313195D-BE3E-A6ED-0A7B-39408AB610D9}"/>
                  </a:ext>
                </a:extLst>
              </p:cNvPr>
              <p:cNvSpPr txBox="1"/>
              <p:nvPr/>
            </p:nvSpPr>
            <p:spPr>
              <a:xfrm>
                <a:off x="1769163" y="2201409"/>
                <a:ext cx="4895699"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𝑨𝒄𝒄𝒖𝒓𝒂𝒄𝒚</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r>
                            <a:rPr kumimoji="1" lang="en-US" altLang="ja-JP" sz="2400" b="1" i="1" smtClean="0">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D313195D-BE3E-A6ED-0A7B-39408AB610D9}"/>
                  </a:ext>
                </a:extLst>
              </p:cNvPr>
              <p:cNvSpPr txBox="1">
                <a:spLocks noRot="1" noChangeAspect="1" noMove="1" noResize="1" noEditPoints="1" noAdjustHandles="1" noChangeArrowheads="1" noChangeShapeType="1" noTextEdit="1"/>
              </p:cNvSpPr>
              <p:nvPr/>
            </p:nvSpPr>
            <p:spPr>
              <a:xfrm>
                <a:off x="1769163" y="2201409"/>
                <a:ext cx="4895699" cy="697627"/>
              </a:xfrm>
              <a:prstGeom prst="rect">
                <a:avLst/>
              </a:prstGeom>
              <a:blipFill>
                <a:blip r:embed="rId3"/>
                <a:stretch>
                  <a:fillRect t="-1786" r="-1036" b="-14286"/>
                </a:stretch>
              </a:blipFill>
            </p:spPr>
            <p:txBody>
              <a:bodyPr/>
              <a:lstStyle/>
              <a:p>
                <a:r>
                  <a:rPr lang="ja-JP" altLang="en-US">
                    <a:noFill/>
                  </a:rPr>
                  <a:t> </a:t>
                </a:r>
              </a:p>
            </p:txBody>
          </p:sp>
        </mc:Fallback>
      </mc:AlternateContent>
      <p:sp>
        <p:nvSpPr>
          <p:cNvPr id="8" name="コンテンツ プレースホルダー 3">
            <a:extLst>
              <a:ext uri="{FF2B5EF4-FFF2-40B4-BE49-F238E27FC236}">
                <a16:creationId xmlns:a16="http://schemas.microsoft.com/office/drawing/2014/main" id="{E5258ADC-A2F9-5345-333B-0B4636325F1E}"/>
              </a:ext>
            </a:extLst>
          </p:cNvPr>
          <p:cNvSpPr txBox="1">
            <a:spLocks/>
          </p:cNvSpPr>
          <p:nvPr/>
        </p:nvSpPr>
        <p:spPr>
          <a:xfrm>
            <a:off x="117876" y="3075715"/>
            <a:ext cx="9026123" cy="1252349"/>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Precision </a:t>
            </a:r>
            <a:r>
              <a:rPr lang="ja-JP" altLang="en-US" b="1"/>
              <a:t>（適合率）</a:t>
            </a:r>
            <a:endParaRPr lang="ja-JP" altLang="ja-JP" b="1"/>
          </a:p>
          <a:p>
            <a:r>
              <a:rPr lang="en" altLang="ja-JP" sz="2400" b="1" dirty="0"/>
              <a:t> how many samples predicted as positive were actually positive.</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FE0D46F1-2A92-8C13-800E-CBBE6F75C507}"/>
                  </a:ext>
                </a:extLst>
              </p:cNvPr>
              <p:cNvSpPr txBox="1"/>
              <p:nvPr/>
            </p:nvSpPr>
            <p:spPr>
              <a:xfrm>
                <a:off x="2539182" y="4242170"/>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9" name="テキスト ボックス 8">
                <a:extLst>
                  <a:ext uri="{FF2B5EF4-FFF2-40B4-BE49-F238E27FC236}">
                    <a16:creationId xmlns:a16="http://schemas.microsoft.com/office/drawing/2014/main" id="{FE0D46F1-2A92-8C13-800E-CBBE6F75C507}"/>
                  </a:ext>
                </a:extLst>
              </p:cNvPr>
              <p:cNvSpPr txBox="1">
                <a:spLocks noRot="1" noChangeAspect="1" noMove="1" noResize="1" noEditPoints="1" noAdjustHandles="1" noChangeArrowheads="1" noChangeShapeType="1" noTextEdit="1"/>
              </p:cNvSpPr>
              <p:nvPr/>
            </p:nvSpPr>
            <p:spPr>
              <a:xfrm>
                <a:off x="2539182" y="4242170"/>
                <a:ext cx="3355662" cy="697627"/>
              </a:xfrm>
              <a:prstGeom prst="rect">
                <a:avLst/>
              </a:prstGeom>
              <a:blipFill>
                <a:blip r:embed="rId4"/>
                <a:stretch>
                  <a:fillRect t="-1818" r="-1509" b="-14545"/>
                </a:stretch>
              </a:blipFill>
            </p:spPr>
            <p:txBody>
              <a:bodyPr/>
              <a:lstStyle/>
              <a:p>
                <a:r>
                  <a:rPr lang="ja-JP" altLang="en-US">
                    <a:noFill/>
                  </a:rPr>
                  <a:t> </a:t>
                </a:r>
              </a:p>
            </p:txBody>
          </p:sp>
        </mc:Fallback>
      </mc:AlternateContent>
      <p:sp>
        <p:nvSpPr>
          <p:cNvPr id="10" name="コンテンツ プレースホルダー 3">
            <a:extLst>
              <a:ext uri="{FF2B5EF4-FFF2-40B4-BE49-F238E27FC236}">
                <a16:creationId xmlns:a16="http://schemas.microsoft.com/office/drawing/2014/main" id="{9B5AFCC1-481C-0A0C-18AE-C833C78A7D08}"/>
              </a:ext>
            </a:extLst>
          </p:cNvPr>
          <p:cNvSpPr txBox="1">
            <a:spLocks/>
          </p:cNvSpPr>
          <p:nvPr/>
        </p:nvSpPr>
        <p:spPr>
          <a:xfrm>
            <a:off x="117877" y="4988571"/>
            <a:ext cx="9026123" cy="105125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Recall </a:t>
            </a:r>
            <a:r>
              <a:rPr lang="ja-JP" altLang="en-US" b="1"/>
              <a:t>（再現率）</a:t>
            </a:r>
            <a:endParaRPr lang="ja-JP" altLang="ja-JP" b="1"/>
          </a:p>
          <a:p>
            <a:r>
              <a:rPr lang="en" altLang="ja-JP" sz="2400" b="1" dirty="0"/>
              <a:t> how many actual positive samples were correctly detected.</a:t>
            </a:r>
          </a:p>
          <a:p>
            <a:pPr marL="0" indent="0">
              <a:buNone/>
            </a:pPr>
            <a:endParaRPr lang="ja-JP" altLang="ja-JP" sz="2400" b="1"/>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6224BC7-3BEF-89DC-1419-86A7A1077B54}"/>
                  </a:ext>
                </a:extLst>
              </p:cNvPr>
              <p:cNvSpPr txBox="1"/>
              <p:nvPr/>
            </p:nvSpPr>
            <p:spPr>
              <a:xfrm>
                <a:off x="2850353" y="5961091"/>
                <a:ext cx="2876365"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𝑹𝒆𝒄𝒂𝒍𝒍</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11" name="テキスト ボックス 10">
                <a:extLst>
                  <a:ext uri="{FF2B5EF4-FFF2-40B4-BE49-F238E27FC236}">
                    <a16:creationId xmlns:a16="http://schemas.microsoft.com/office/drawing/2014/main" id="{36224BC7-3BEF-89DC-1419-86A7A1077B54}"/>
                  </a:ext>
                </a:extLst>
              </p:cNvPr>
              <p:cNvSpPr txBox="1">
                <a:spLocks noRot="1" noChangeAspect="1" noMove="1" noResize="1" noEditPoints="1" noAdjustHandles="1" noChangeArrowheads="1" noChangeShapeType="1" noTextEdit="1"/>
              </p:cNvSpPr>
              <p:nvPr/>
            </p:nvSpPr>
            <p:spPr>
              <a:xfrm>
                <a:off x="2850353" y="5961091"/>
                <a:ext cx="2876365" cy="697627"/>
              </a:xfrm>
              <a:prstGeom prst="rect">
                <a:avLst/>
              </a:prstGeom>
              <a:blipFill>
                <a:blip r:embed="rId5"/>
                <a:stretch>
                  <a:fillRect t="-1786" r="-2203" b="-1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92421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CACEFDC-463A-95EC-2C3F-7B4479799373}"/>
              </a:ext>
            </a:extLst>
          </p:cNvPr>
          <p:cNvSpPr/>
          <p:nvPr/>
        </p:nvSpPr>
        <p:spPr>
          <a:xfrm>
            <a:off x="1187324" y="4008387"/>
            <a:ext cx="700570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E468ADE3-DC6F-4684-D11F-75C6C09A1129}"/>
              </a:ext>
            </a:extLst>
          </p:cNvPr>
          <p:cNvSpPr>
            <a:spLocks noGrp="1"/>
          </p:cNvSpPr>
          <p:nvPr>
            <p:ph type="title"/>
          </p:nvPr>
        </p:nvSpPr>
        <p:spPr/>
        <p:txBody>
          <a:bodyPr>
            <a:normAutofit/>
          </a:bodyPr>
          <a:lstStyle/>
          <a:p>
            <a:r>
              <a:rPr lang="en-US" altLang="ja-JP" dirty="0">
                <a:latin typeface="Helvetica" pitchFamily="2" charset="0"/>
              </a:rPr>
              <a:t>F1 score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6" name="コンテンツ プレースホルダー 3">
            <a:extLst>
              <a:ext uri="{FF2B5EF4-FFF2-40B4-BE49-F238E27FC236}">
                <a16:creationId xmlns:a16="http://schemas.microsoft.com/office/drawing/2014/main" id="{4DF80631-1DFA-4EE2-9249-FD75A5BA0ABE}"/>
              </a:ext>
            </a:extLst>
          </p:cNvPr>
          <p:cNvSpPr txBox="1">
            <a:spLocks/>
          </p:cNvSpPr>
          <p:nvPr/>
        </p:nvSpPr>
        <p:spPr>
          <a:xfrm>
            <a:off x="117877" y="1010336"/>
            <a:ext cx="9026123" cy="276653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F</a:t>
            </a:r>
            <a:r>
              <a:rPr lang="en-US" altLang="ja-JP" b="1" dirty="0">
                <a:latin typeface="Symbol" pitchFamily="2" charset="2"/>
              </a:rPr>
              <a:t>b</a:t>
            </a:r>
            <a:r>
              <a:rPr lang="ja-JP" altLang="en-US" b="1"/>
              <a:t> </a:t>
            </a:r>
            <a:r>
              <a:rPr lang="en-US" altLang="ja-JP" b="1" dirty="0"/>
              <a:t>score </a:t>
            </a:r>
            <a:r>
              <a:rPr lang="ja-JP" altLang="en-US" b="1"/>
              <a:t>（重ね付き</a:t>
            </a:r>
            <a:r>
              <a:rPr lang="en-US" altLang="ja-JP" b="1" dirty="0"/>
              <a:t>F</a:t>
            </a:r>
            <a:r>
              <a:rPr lang="ja-JP" altLang="en-US" b="1"/>
              <a:t>値）</a:t>
            </a:r>
            <a:endParaRPr lang="ja-JP" altLang="ja-JP" b="1"/>
          </a:p>
          <a:p>
            <a:r>
              <a:rPr lang="ja-JP" altLang="ja-JP" sz="2400" b="1"/>
              <a:t>A weighted metric based on Precision and Recall</a:t>
            </a:r>
          </a:p>
          <a:p>
            <a:r>
              <a:rPr lang="en-US" altLang="ja-JP" sz="2400" b="1" dirty="0"/>
              <a:t>Common </a:t>
            </a:r>
            <a:r>
              <a:rPr lang="en-US" altLang="ja-JP" sz="2400" b="1" dirty="0">
                <a:latin typeface="Symbol" pitchFamily="2" charset="2"/>
              </a:rPr>
              <a:t>b</a:t>
            </a:r>
            <a:r>
              <a:rPr lang="el-GR" altLang="ja-JP" sz="2400" b="1" dirty="0"/>
              <a:t> </a:t>
            </a:r>
            <a:r>
              <a:rPr lang="en-US" altLang="ja-JP" sz="2400" b="1" dirty="0"/>
              <a:t>values are 1, 0.5, and 2</a:t>
            </a:r>
          </a:p>
          <a:p>
            <a:r>
              <a:rPr lang="en-US" altLang="ja-JP" sz="2400" b="1" dirty="0"/>
              <a:t>When </a:t>
            </a:r>
            <a:r>
              <a:rPr lang="en-US" altLang="ja-JP" sz="2400" b="1" dirty="0">
                <a:latin typeface="Symbol" pitchFamily="2" charset="2"/>
              </a:rPr>
              <a:t>b</a:t>
            </a:r>
            <a:r>
              <a:rPr lang="el-GR" altLang="ja-JP" sz="2400" b="1" dirty="0"/>
              <a:t> = 1, </a:t>
            </a:r>
            <a:r>
              <a:rPr lang="en-US" altLang="ja-JP" sz="2400" b="1" dirty="0"/>
              <a:t>it becomes the harmonic mean of Precision and Recall so it is used to evaluate the balance between Precision and Recall</a:t>
            </a:r>
          </a:p>
          <a:p>
            <a:endParaRPr lang="en-US" altLang="ja-JP" b="1" dirty="0"/>
          </a:p>
          <a:p>
            <a:endParaRPr lang="en-US" altLang="ja-JP" b="1" dirty="0"/>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DCA8EBF-DE10-A31E-9A5B-0FEE9A648348}"/>
                  </a:ext>
                </a:extLst>
              </p:cNvPr>
              <p:cNvSpPr txBox="1"/>
              <p:nvPr/>
            </p:nvSpPr>
            <p:spPr>
              <a:xfrm>
                <a:off x="1315563" y="4169018"/>
                <a:ext cx="6641113" cy="79124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ea typeface="Cambria Math" panose="02040503050406030204" pitchFamily="18" charset="0"/>
                            </a:rPr>
                            <m:t>𝜷</m:t>
                          </m:r>
                        </m:e>
                      </m:d>
                      <m:r>
                        <a:rPr kumimoji="1" lang="en-US" altLang="ja-JP" sz="2400" b="1" i="1" smtClean="0">
                          <a:latin typeface="Cambria Math" panose="02040503050406030204" pitchFamily="18" charset="0"/>
                        </a:rPr>
                        <m:t>=</m:t>
                      </m:r>
                      <m:d>
                        <m:dPr>
                          <m:ctrlPr>
                            <a:rPr kumimoji="1" lang="ja-JP" altLang="en-US" sz="2400" b="1" i="1" smtClean="0">
                              <a:latin typeface="Cambria Math" panose="02040503050406030204" pitchFamily="18" charset="0"/>
                            </a:rPr>
                          </m:ctrlPr>
                        </m:dPr>
                        <m:e>
                          <m:r>
                            <a:rPr kumimoji="1" lang="en-US" altLang="ja-JP" sz="2400" b="1" i="1" smtClean="0">
                              <a:latin typeface="Cambria Math" panose="02040503050406030204" pitchFamily="18" charset="0"/>
                            </a:rPr>
                            <m:t>𝟏</m:t>
                          </m:r>
                          <m:r>
                            <a:rPr kumimoji="1" lang="en-US" altLang="ja-JP" sz="2400" b="1" i="1" smtClean="0">
                              <a:latin typeface="Cambria Math" panose="02040503050406030204" pitchFamily="18" charset="0"/>
                            </a:rPr>
                            <m:t>+</m:t>
                          </m:r>
                          <m:sSup>
                            <m:sSupPr>
                              <m:ctrlPr>
                                <a:rPr kumimoji="1" lang="ja-JP" altLang="en-US" sz="2400" b="1" i="1" smtClean="0">
                                  <a:latin typeface="Cambria Math" panose="02040503050406030204" pitchFamily="18" charset="0"/>
                                </a:rPr>
                              </m:ctrlPr>
                            </m:sSupPr>
                            <m:e>
                              <m:r>
                                <a:rPr kumimoji="1" lang="ja-JP" altLang="en-US" sz="2400" b="1" i="1" smtClean="0">
                                  <a:latin typeface="Cambria Math" panose="02040503050406030204" pitchFamily="18" charset="0"/>
                                </a:rPr>
                                <m:t>𝜷</m:t>
                              </m:r>
                            </m:e>
                            <m:sup>
                              <m:r>
                                <a:rPr kumimoji="1" lang="en-US" altLang="ja-JP" sz="2400" b="1" i="1" smtClean="0">
                                  <a:latin typeface="Cambria Math" panose="02040503050406030204" pitchFamily="18" charset="0"/>
                                </a:rPr>
                                <m:t>𝟐</m:t>
                              </m:r>
                            </m:sup>
                          </m:sSup>
                        </m:e>
                      </m:d>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d>
                            <m:dPr>
                              <m:begChr m:val="{"/>
                              <m:endChr m:val="}"/>
                              <m:ctrlPr>
                                <a:rPr kumimoji="1" lang="ja-JP" altLang="en-US" sz="2400" b="1" i="1" smtClean="0">
                                  <a:latin typeface="Cambria Math" panose="02040503050406030204" pitchFamily="18" charset="0"/>
                                </a:rPr>
                              </m:ctrlPr>
                            </m:dPr>
                            <m:e>
                              <m:sSup>
                                <m:sSupPr>
                                  <m:ctrlPr>
                                    <a:rPr kumimoji="1" lang="ja-JP" altLang="en-US" sz="2400" b="1" i="1">
                                      <a:latin typeface="Cambria Math" panose="02040503050406030204" pitchFamily="18" charset="0"/>
                                    </a:rPr>
                                  </m:ctrlPr>
                                </m:sSupPr>
                                <m:e>
                                  <m:r>
                                    <a:rPr kumimoji="1" lang="ja-JP" altLang="en-US" sz="2400" b="1" i="1">
                                      <a:latin typeface="Cambria Math" panose="02040503050406030204" pitchFamily="18" charset="0"/>
                                    </a:rPr>
                                    <m:t>𝜷</m:t>
                                  </m:r>
                                </m:e>
                                <m:sup>
                                  <m:r>
                                    <a:rPr kumimoji="1" lang="en-US" altLang="ja-JP" sz="2400" b="1" i="1">
                                      <a:latin typeface="Cambria Math" panose="02040503050406030204" pitchFamily="18" charset="0"/>
                                    </a:rPr>
                                    <m:t>𝟐</m:t>
                                  </m:r>
                                </m:sup>
                              </m:sSup>
                              <m:r>
                                <a:rPr kumimoji="1" lang="en-US" altLang="ja-JP" sz="2400" b="1" i="1" smtClean="0">
                                  <a:latin typeface="Cambria Math" panose="02040503050406030204" pitchFamily="18" charset="0"/>
                                  <a:ea typeface="Cambria Math" panose="02040503050406030204" pitchFamily="18" charset="0"/>
                                </a:rPr>
                                <m:t>∙</m:t>
                              </m:r>
                              <m:d>
                                <m:dPr>
                                  <m:ctrlPr>
                                    <a:rPr kumimoji="1" lang="en-US" altLang="ja-JP" sz="2400" b="1" i="1" smtClean="0">
                                      <a:latin typeface="Cambria Math" panose="02040503050406030204" pitchFamily="18" charset="0"/>
                                      <a:ea typeface="Cambria Math" panose="02040503050406030204" pitchFamily="18" charset="0"/>
                                    </a:rPr>
                                  </m:ctrlPr>
                                </m:dPr>
                                <m:e>
                                  <m:r>
                                    <a:rPr kumimoji="1" lang="en-US" altLang="ja-JP" sz="2400" b="1" i="1" smtClean="0">
                                      <a:latin typeface="Cambria Math" panose="02040503050406030204" pitchFamily="18" charset="0"/>
                                      <a:ea typeface="Cambria Math" panose="02040503050406030204" pitchFamily="18" charset="0"/>
                                    </a:rPr>
                                    <m:t>𝑷𝒓𝒆𝒄𝒊𝒔𝒊𝒐𝒏</m:t>
                                  </m:r>
                                </m:e>
                              </m:d>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5DCA8EBF-DE10-A31E-9A5B-0FEE9A648348}"/>
                  </a:ext>
                </a:extLst>
              </p:cNvPr>
              <p:cNvSpPr txBox="1">
                <a:spLocks noRot="1" noChangeAspect="1" noMove="1" noResize="1" noEditPoints="1" noAdjustHandles="1" noChangeArrowheads="1" noChangeShapeType="1" noTextEdit="1"/>
              </p:cNvSpPr>
              <p:nvPr/>
            </p:nvSpPr>
            <p:spPr>
              <a:xfrm>
                <a:off x="1315563" y="4169018"/>
                <a:ext cx="6641113" cy="791242"/>
              </a:xfrm>
              <a:prstGeom prst="rect">
                <a:avLst/>
              </a:prstGeom>
              <a:blipFill>
                <a:blip r:embed="rId3"/>
                <a:stretch>
                  <a:fillRect t="-3175" r="-1145" b="-14286"/>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6345898F-07CC-58EB-BF35-A34920AC2F9A}"/>
              </a:ext>
            </a:extLst>
          </p:cNvPr>
          <p:cNvSpPr/>
          <p:nvPr/>
        </p:nvSpPr>
        <p:spPr>
          <a:xfrm>
            <a:off x="1709928" y="5390999"/>
            <a:ext cx="576072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37F20928-0C74-33EA-E436-C890BCC63DF8}"/>
                  </a:ext>
                </a:extLst>
              </p:cNvPr>
              <p:cNvSpPr txBox="1"/>
              <p:nvPr/>
            </p:nvSpPr>
            <p:spPr>
              <a:xfrm>
                <a:off x="2170926" y="5560774"/>
                <a:ext cx="4802148" cy="7689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rPr>
                            <m:t>𝟏</m:t>
                          </m:r>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10" name="テキスト ボックス 9">
                <a:extLst>
                  <a:ext uri="{FF2B5EF4-FFF2-40B4-BE49-F238E27FC236}">
                    <a16:creationId xmlns:a16="http://schemas.microsoft.com/office/drawing/2014/main" id="{37F20928-0C74-33EA-E436-C890BCC63DF8}"/>
                  </a:ext>
                </a:extLst>
              </p:cNvPr>
              <p:cNvSpPr txBox="1">
                <a:spLocks noRot="1" noChangeAspect="1" noMove="1" noResize="1" noEditPoints="1" noAdjustHandles="1" noChangeArrowheads="1" noChangeShapeType="1" noTextEdit="1"/>
              </p:cNvSpPr>
              <p:nvPr/>
            </p:nvSpPr>
            <p:spPr>
              <a:xfrm>
                <a:off x="2170926" y="5560774"/>
                <a:ext cx="4802148" cy="768993"/>
              </a:xfrm>
              <a:prstGeom prst="rect">
                <a:avLst/>
              </a:prstGeom>
              <a:blipFill>
                <a:blip r:embed="rId4"/>
                <a:stretch>
                  <a:fillRect t="-3226" r="-1579" b="-17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40871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F2A1FBDE-BE16-849D-03E1-394B33420782}"/>
              </a:ext>
            </a:extLst>
          </p:cNvPr>
          <p:cNvSpPr>
            <a:spLocks noGrp="1"/>
          </p:cNvSpPr>
          <p:nvPr>
            <p:ph type="title"/>
          </p:nvPr>
        </p:nvSpPr>
        <p:spPr/>
        <p:txBody>
          <a:bodyPr>
            <a:normAutofit/>
          </a:bodyPr>
          <a:lstStyle/>
          <a:p>
            <a:r>
              <a:rPr kumimoji="1" lang="en-US" altLang="ja-JP" dirty="0">
                <a:latin typeface="Helvetica" pitchFamily="2" charset="0"/>
              </a:rPr>
              <a:t>RO</a:t>
            </a:r>
            <a:r>
              <a:rPr lang="en-US" altLang="ja-JP" dirty="0">
                <a:latin typeface="Helvetica" pitchFamily="2" charset="0"/>
              </a:rPr>
              <a:t>C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08FB176E-CC35-32EC-28C5-06AD0468596F}"/>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6DD0D5AE-E398-05B4-C9C0-A51E8A169EEF}"/>
              </a:ext>
            </a:extLst>
          </p:cNvPr>
          <p:cNvPicPr>
            <a:picLocks noChangeAspect="1"/>
          </p:cNvPicPr>
          <p:nvPr/>
        </p:nvPicPr>
        <p:blipFill>
          <a:blip r:embed="rId3"/>
          <a:stretch>
            <a:fillRect/>
          </a:stretch>
        </p:blipFill>
        <p:spPr>
          <a:xfrm>
            <a:off x="5920486" y="4087831"/>
            <a:ext cx="2474644" cy="2487433"/>
          </a:xfrm>
          <a:prstGeom prst="rect">
            <a:avLst/>
          </a:prstGeom>
          <a:solidFill>
            <a:schemeClr val="bg1"/>
          </a:solidFill>
        </p:spPr>
      </p:pic>
      <p:sp>
        <p:nvSpPr>
          <p:cNvPr id="13" name="テキスト ボックス 12">
            <a:extLst>
              <a:ext uri="{FF2B5EF4-FFF2-40B4-BE49-F238E27FC236}">
                <a16:creationId xmlns:a16="http://schemas.microsoft.com/office/drawing/2014/main" id="{E2F8114D-B579-61EF-E3A2-BA6F57DB14EC}"/>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EF45AB60-4BA6-8FB0-7B09-14351AF627B1}"/>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False Positive Rate (FPR)</a:t>
            </a:r>
          </a:p>
        </p:txBody>
      </p:sp>
      <p:sp>
        <p:nvSpPr>
          <p:cNvPr id="15" name="正方形/長方形 14">
            <a:extLst>
              <a:ext uri="{FF2B5EF4-FFF2-40B4-BE49-F238E27FC236}">
                <a16:creationId xmlns:a16="http://schemas.microsoft.com/office/drawing/2014/main" id="{BC99BADA-53D8-35B3-5835-60EA40152AC5}"/>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BDAAEC3-C3AA-8AD9-374F-8C5FCBBD57CB}"/>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AB326BDB-7448-4364-74EF-5627587E75F7}"/>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145946B-BDB4-A8F6-73F4-3D5A5E9DDD48}"/>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25C0AB95-CD5E-7914-1118-DE8AA9784304}"/>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ROC curve gets to the upper-left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ROC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1850103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3D159-0FAA-4016-6833-EE50F41A487B}"/>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F424DD3-B47F-2713-8836-6438D297DF03}"/>
              </a:ext>
            </a:extLst>
          </p:cNvPr>
          <p:cNvSpPr>
            <a:spLocks noGrp="1"/>
          </p:cNvSpPr>
          <p:nvPr>
            <p:ph type="title"/>
          </p:nvPr>
        </p:nvSpPr>
        <p:spPr/>
        <p:txBody>
          <a:bodyPr>
            <a:normAutofit/>
          </a:bodyPr>
          <a:lstStyle/>
          <a:p>
            <a:r>
              <a:rPr lang="en-US" altLang="ja-JP" dirty="0">
                <a:latin typeface="Helvetica" pitchFamily="2" charset="0"/>
              </a:rPr>
              <a:t>PR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5B93B56D-C2B0-F62E-7D76-9430B5883E69}"/>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AE0A762-F911-EAAA-66B1-AD4317A2F559}"/>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05E60381-5F91-A34C-581D-82020AA63EFF}"/>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Precision </a:t>
            </a:r>
          </a:p>
        </p:txBody>
      </p:sp>
      <p:sp>
        <p:nvSpPr>
          <p:cNvPr id="15" name="正方形/長方形 14">
            <a:extLst>
              <a:ext uri="{FF2B5EF4-FFF2-40B4-BE49-F238E27FC236}">
                <a16:creationId xmlns:a16="http://schemas.microsoft.com/office/drawing/2014/main" id="{F6DCBF12-E02B-BD3C-BE15-5684CE20D83C}"/>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4C7F3941-8840-DD91-F850-30C46A82D158}"/>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3"/>
                <a:stretch>
                  <a:fillRect r="-2134" b="-12500"/>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887225C1-9F83-1E9E-605E-72A8E6CCAA37}"/>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PR curve gets to the upper-right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PR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
        <p:nvSpPr>
          <p:cNvPr id="2" name="正方形/長方形 1">
            <a:extLst>
              <a:ext uri="{FF2B5EF4-FFF2-40B4-BE49-F238E27FC236}">
                <a16:creationId xmlns:a16="http://schemas.microsoft.com/office/drawing/2014/main" id="{58A9A036-2B7D-6500-03BB-5BD30BFFCDF3}"/>
              </a:ext>
            </a:extLst>
          </p:cNvPr>
          <p:cNvSpPr/>
          <p:nvPr/>
        </p:nvSpPr>
        <p:spPr>
          <a:xfrm>
            <a:off x="2228408" y="2956401"/>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2973E9D8-5954-A80E-B3C2-949163A90702}"/>
                  </a:ext>
                </a:extLst>
              </p:cNvPr>
              <p:cNvSpPr txBox="1"/>
              <p:nvPr/>
            </p:nvSpPr>
            <p:spPr>
              <a:xfrm>
                <a:off x="2463302" y="2990846"/>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p:sp>
            <p:nvSpPr>
              <p:cNvPr id="3" name="テキスト ボックス 2">
                <a:extLst>
                  <a:ext uri="{FF2B5EF4-FFF2-40B4-BE49-F238E27FC236}">
                    <a16:creationId xmlns:a16="http://schemas.microsoft.com/office/drawing/2014/main" id="{2973E9D8-5954-A80E-B3C2-949163A90702}"/>
                  </a:ext>
                </a:extLst>
              </p:cNvPr>
              <p:cNvSpPr txBox="1">
                <a:spLocks noRot="1" noChangeAspect="1" noMove="1" noResize="1" noEditPoints="1" noAdjustHandles="1" noChangeArrowheads="1" noChangeShapeType="1" noTextEdit="1"/>
              </p:cNvSpPr>
              <p:nvPr/>
            </p:nvSpPr>
            <p:spPr>
              <a:xfrm>
                <a:off x="2463302" y="2990846"/>
                <a:ext cx="3355662" cy="697627"/>
              </a:xfrm>
              <a:prstGeom prst="rect">
                <a:avLst/>
              </a:prstGeom>
              <a:blipFill>
                <a:blip r:embed="rId4"/>
                <a:stretch>
                  <a:fillRect r="-1504" b="-14286"/>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4E4D3DB6-E7EA-65E4-7CA9-9B3343AC09D0}"/>
              </a:ext>
            </a:extLst>
          </p:cNvPr>
          <p:cNvPicPr>
            <a:picLocks noChangeAspect="1"/>
          </p:cNvPicPr>
          <p:nvPr/>
        </p:nvPicPr>
        <p:blipFill>
          <a:blip r:embed="rId5"/>
          <a:stretch>
            <a:fillRect/>
          </a:stretch>
        </p:blipFill>
        <p:spPr>
          <a:xfrm>
            <a:off x="5981874" y="4098799"/>
            <a:ext cx="2471223" cy="2484000"/>
          </a:xfrm>
          <a:prstGeom prst="rect">
            <a:avLst/>
          </a:prstGeom>
          <a:solidFill>
            <a:schemeClr val="bg1"/>
          </a:solidFill>
        </p:spPr>
      </p:pic>
    </p:spTree>
    <p:extLst>
      <p:ext uri="{BB962C8B-B14F-4D97-AF65-F5344CB8AC3E}">
        <p14:creationId xmlns:p14="http://schemas.microsoft.com/office/powerpoint/2010/main" val="25237553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4235</TotalTime>
  <Words>1381</Words>
  <Application>Microsoft Macintosh PowerPoint</Application>
  <PresentationFormat>画面に合わせる (4:3)</PresentationFormat>
  <Paragraphs>147</Paragraphs>
  <Slides>13</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13</vt:i4>
      </vt:variant>
    </vt:vector>
  </HeadingPairs>
  <TitlesOfParts>
    <vt:vector size="21" baseType="lpstr">
      <vt:lpstr>Hiragino Sans W6</vt:lpstr>
      <vt:lpstr>游ゴシック</vt:lpstr>
      <vt:lpstr>Arial</vt:lpstr>
      <vt:lpstr>Cambria Math</vt:lpstr>
      <vt:lpstr>Helvetica</vt:lpstr>
      <vt:lpstr>Symbol</vt:lpstr>
      <vt:lpstr>Wingdings</vt:lpstr>
      <vt:lpstr>Office テーマ</vt:lpstr>
      <vt:lpstr>Python Seminar #5</vt:lpstr>
      <vt:lpstr>Topics</vt:lpstr>
      <vt:lpstr>Classification</vt:lpstr>
      <vt:lpstr>Classification</vt:lpstr>
      <vt:lpstr>k-NN Principles and Characteristics</vt:lpstr>
      <vt:lpstr>k-NN Principles and Characteristics</vt:lpstr>
      <vt:lpstr>Random Forest Principles and Characteristics</vt:lpstr>
      <vt:lpstr>Random Forest Principles and Characteristics</vt:lpstr>
      <vt:lpstr>Confusion matrix Evaluation Metrics</vt:lpstr>
      <vt:lpstr>Accuracy, Precision, Recall Evaluation Metrics</vt:lpstr>
      <vt:lpstr>F1 score Evaluation Metrics</vt:lpstr>
      <vt:lpstr>ROC Curve Evaluation Metrics</vt:lpstr>
      <vt:lpstr>PR Curve Evaluation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Fujii Kazuma</dc:creator>
  <cp:lastModifiedBy>Fujii Kazuma</cp:lastModifiedBy>
  <cp:revision>10</cp:revision>
  <dcterms:created xsi:type="dcterms:W3CDTF">2026-04-02T10:11:31Z</dcterms:created>
  <dcterms:modified xsi:type="dcterms:W3CDTF">2026-06-20T14:30:29Z</dcterms:modified>
</cp:coreProperties>
</file>