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4"/>
  </p:notesMasterIdLst>
  <p:sldIdLst>
    <p:sldId id="256" r:id="rId2"/>
    <p:sldId id="258" r:id="rId3"/>
    <p:sldId id="257" r:id="rId4"/>
    <p:sldId id="268" r:id="rId5"/>
    <p:sldId id="259" r:id="rId6"/>
    <p:sldId id="269" r:id="rId7"/>
    <p:sldId id="260" r:id="rId8"/>
    <p:sldId id="270" r:id="rId9"/>
    <p:sldId id="261" r:id="rId10"/>
    <p:sldId id="271" r:id="rId11"/>
    <p:sldId id="262" r:id="rId12"/>
    <p:sldId id="272" r:id="rId13"/>
    <p:sldId id="263" r:id="rId14"/>
    <p:sldId id="273" r:id="rId15"/>
    <p:sldId id="264" r:id="rId16"/>
    <p:sldId id="274" r:id="rId17"/>
    <p:sldId id="265" r:id="rId18"/>
    <p:sldId id="275" r:id="rId19"/>
    <p:sldId id="266" r:id="rId20"/>
    <p:sldId id="276" r:id="rId21"/>
    <p:sldId id="267"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78425"/>
  </p:normalViewPr>
  <p:slideViewPr>
    <p:cSldViewPr snapToGrid="0">
      <p:cViewPr varScale="1">
        <p:scale>
          <a:sx n="94" d="100"/>
          <a:sy n="94" d="100"/>
        </p:scale>
        <p:origin x="16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8AE20E-D310-7F4F-83A9-5A44E5F6BD3D}" type="datetimeFigureOut">
              <a:rPr kumimoji="1" lang="ja-JP" altLang="en-US" smtClean="0"/>
              <a:t>2026/6/20</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D3B8CC-6341-254C-A7EB-C775FF99E84D}" type="slidenum">
              <a:rPr kumimoji="1" lang="ja-JP" altLang="en-US" smtClean="0"/>
              <a:t>‹#›</a:t>
            </a:fld>
            <a:endParaRPr kumimoji="1" lang="ja-JP" altLang="en-US"/>
          </a:p>
        </p:txBody>
      </p:sp>
    </p:spTree>
    <p:extLst>
      <p:ext uri="{BB962C8B-B14F-4D97-AF65-F5344CB8AC3E}">
        <p14:creationId xmlns:p14="http://schemas.microsoft.com/office/powerpoint/2010/main" val="5542249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出てきた出力が連続の値：回帰</a:t>
            </a:r>
            <a:br>
              <a:rPr kumimoji="1" lang="en-US" altLang="ja-JP" dirty="0"/>
            </a:br>
            <a:r>
              <a:rPr kumimoji="1" lang="ja-JP" altLang="en-US"/>
              <a:t>連続ではない</a:t>
            </a:r>
            <a:r>
              <a:rPr kumimoji="1" lang="en-US" altLang="ja-JP" dirty="0"/>
              <a:t>or</a:t>
            </a:r>
            <a:r>
              <a:rPr kumimoji="1" lang="ja-JP" altLang="en-US"/>
              <a:t>カテゴリー：分類</a:t>
            </a:r>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3</a:t>
            </a:fld>
            <a:endParaRPr kumimoji="1" lang="ja-JP" altLang="en-US"/>
          </a:p>
        </p:txBody>
      </p:sp>
    </p:spTree>
    <p:extLst>
      <p:ext uri="{BB962C8B-B14F-4D97-AF65-F5344CB8AC3E}">
        <p14:creationId xmlns:p14="http://schemas.microsoft.com/office/powerpoint/2010/main" val="2111989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95EC7-7919-ECE8-4B61-EEF887F93B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D73DCF0-B9CB-AA77-A81E-4F4C343D110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60BD41-5FD7-6720-CCFA-2AB459B8F19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9BACF34-5773-36CA-0AA4-C690ECFFEB4F}"/>
              </a:ext>
            </a:extLst>
          </p:cNvPr>
          <p:cNvSpPr>
            <a:spLocks noGrp="1"/>
          </p:cNvSpPr>
          <p:nvPr>
            <p:ph type="sldNum" sz="quarter" idx="5"/>
          </p:nvPr>
        </p:nvSpPr>
        <p:spPr/>
        <p:txBody>
          <a:bodyPr/>
          <a:lstStyle/>
          <a:p>
            <a:fld id="{EAD3B8CC-6341-254C-A7EB-C775FF99E84D}" type="slidenum">
              <a:rPr kumimoji="1" lang="ja-JP" altLang="en-US" smtClean="0"/>
              <a:t>4</a:t>
            </a:fld>
            <a:endParaRPr kumimoji="1" lang="ja-JP" altLang="en-US"/>
          </a:p>
        </p:txBody>
      </p:sp>
    </p:spTree>
    <p:extLst>
      <p:ext uri="{BB962C8B-B14F-4D97-AF65-F5344CB8AC3E}">
        <p14:creationId xmlns:p14="http://schemas.microsoft.com/office/powerpoint/2010/main" val="8381081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あるサンプルのクラスを推定する時にクラスがすでにわかっているサンプルの中から、クラスを推定したいサンプルに最も近いk個のサンプルを選び、それらのクラスで多数決をとってクラスを決定する方法</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5</a:t>
            </a:fld>
            <a:endParaRPr kumimoji="1" lang="ja-JP" altLang="en-US"/>
          </a:p>
        </p:txBody>
      </p:sp>
    </p:spTree>
    <p:extLst>
      <p:ext uri="{BB962C8B-B14F-4D97-AF65-F5344CB8AC3E}">
        <p14:creationId xmlns:p14="http://schemas.microsoft.com/office/powerpoint/2010/main" val="1458243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26698-BCA5-47E8-F9AF-55A73ECF4BA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E88750-31D2-CD55-28C1-A11A218B453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CFA99E3-CC73-071E-7700-13AD3D09EB9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BE6DD5B-616B-835E-EFB5-1DB92B50D6E1}"/>
              </a:ext>
            </a:extLst>
          </p:cNvPr>
          <p:cNvSpPr>
            <a:spLocks noGrp="1"/>
          </p:cNvSpPr>
          <p:nvPr>
            <p:ph type="sldNum" sz="quarter" idx="5"/>
          </p:nvPr>
        </p:nvSpPr>
        <p:spPr/>
        <p:txBody>
          <a:bodyPr/>
          <a:lstStyle/>
          <a:p>
            <a:fld id="{EAD3B8CC-6341-254C-A7EB-C775FF99E84D}" type="slidenum">
              <a:rPr kumimoji="1" lang="ja-JP" altLang="en-US" smtClean="0"/>
              <a:t>6</a:t>
            </a:fld>
            <a:endParaRPr kumimoji="1" lang="ja-JP" altLang="en-US"/>
          </a:p>
        </p:txBody>
      </p:sp>
    </p:spTree>
    <p:extLst>
      <p:ext uri="{BB962C8B-B14F-4D97-AF65-F5344CB8AC3E}">
        <p14:creationId xmlns:p14="http://schemas.microsoft.com/office/powerpoint/2010/main" val="1412270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メリット：</a:t>
            </a:r>
            <a:r>
              <a:rPr lang="ja-JP" altLang="ja-JP"/>
              <a:t>非常にシンプルな手法である、学習を必要としない、外れ値に頑健である</a:t>
            </a:r>
            <a:br>
              <a:rPr lang="en-US" altLang="ja-JP" dirty="0"/>
            </a:br>
            <a:r>
              <a:rPr lang="ja-JP" altLang="en-US"/>
              <a:t>デメリット：</a:t>
            </a:r>
            <a:r>
              <a:rPr lang="ja-JP" altLang="ja-JP"/>
              <a:t>それぞれのデータについて多数決を取らなければならないという性質上、データ数が増えるに伴って計算量も非常に多くなってしまうというデメリットがあります。</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7</a:t>
            </a:fld>
            <a:endParaRPr kumimoji="1" lang="ja-JP" altLang="en-US"/>
          </a:p>
        </p:txBody>
      </p:sp>
    </p:spTree>
    <p:extLst>
      <p:ext uri="{BB962C8B-B14F-4D97-AF65-F5344CB8AC3E}">
        <p14:creationId xmlns:p14="http://schemas.microsoft.com/office/powerpoint/2010/main" val="2770411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DE5BB-681A-CACB-23BD-52C879146C8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C8BB73A-0B74-988B-D22A-CC329EF4CBD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401AF99-F7CC-2C0F-593D-923EDBD328F1}"/>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38A6EB7-859B-ECEB-6DB6-E676A83B7C9C}"/>
              </a:ext>
            </a:extLst>
          </p:cNvPr>
          <p:cNvSpPr>
            <a:spLocks noGrp="1"/>
          </p:cNvSpPr>
          <p:nvPr>
            <p:ph type="sldNum" sz="quarter" idx="5"/>
          </p:nvPr>
        </p:nvSpPr>
        <p:spPr/>
        <p:txBody>
          <a:bodyPr/>
          <a:lstStyle/>
          <a:p>
            <a:fld id="{EAD3B8CC-6341-254C-A7EB-C775FF99E84D}" type="slidenum">
              <a:rPr kumimoji="1" lang="ja-JP" altLang="en-US" smtClean="0"/>
              <a:t>8</a:t>
            </a:fld>
            <a:endParaRPr kumimoji="1" lang="ja-JP" altLang="en-US"/>
          </a:p>
        </p:txBody>
      </p:sp>
    </p:spTree>
    <p:extLst>
      <p:ext uri="{BB962C8B-B14F-4D97-AF65-F5344CB8AC3E}">
        <p14:creationId xmlns:p14="http://schemas.microsoft.com/office/powerpoint/2010/main" val="2668337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Random</a:t>
            </a:r>
            <a:r>
              <a:rPr kumimoji="1" lang="ja-JP" altLang="en-US"/>
              <a:t> </a:t>
            </a:r>
            <a:r>
              <a:rPr kumimoji="1" lang="en-US" altLang="ja-JP" dirty="0"/>
              <a:t>Forest</a:t>
            </a:r>
            <a:r>
              <a:rPr kumimoji="1" lang="ja-JP" altLang="en-US"/>
              <a:t>の説明の前に決定木の説明</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Yes/Noで答えられる分岐で構成された階層的な木構造を構築</a:t>
            </a:r>
            <a:br>
              <a:rPr lang="ja-JP" altLang="ja-JP"/>
            </a:br>
            <a:r>
              <a:rPr lang="ja-JP" altLang="ja-JP"/>
              <a:t>分岐の数と閾値をさまざまに変えて入力データに最適化</a:t>
            </a:r>
            <a:br>
              <a:rPr lang="ja-JP" altLang="ja-JP"/>
            </a:br>
            <a:r>
              <a:rPr lang="ja-JP" altLang="ja-JP"/>
              <a:t>過学習に注意、外挿は不得意</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9</a:t>
            </a:fld>
            <a:endParaRPr kumimoji="1" lang="ja-JP" altLang="en-US"/>
          </a:p>
        </p:txBody>
      </p:sp>
    </p:spTree>
    <p:extLst>
      <p:ext uri="{BB962C8B-B14F-4D97-AF65-F5344CB8AC3E}">
        <p14:creationId xmlns:p14="http://schemas.microsoft.com/office/powerpoint/2010/main" val="3917880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8E155-6E3F-A0D3-D5D9-2022010CF8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9355976-7EBC-DFD8-9691-DA7B8F5F90A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AD9D46-EC79-A897-E4F2-BC6955FE70B9}"/>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5AC9E59-30B2-F07D-6B50-A3E5B831231D}"/>
              </a:ext>
            </a:extLst>
          </p:cNvPr>
          <p:cNvSpPr>
            <a:spLocks noGrp="1"/>
          </p:cNvSpPr>
          <p:nvPr>
            <p:ph type="sldNum" sz="quarter" idx="5"/>
          </p:nvPr>
        </p:nvSpPr>
        <p:spPr/>
        <p:txBody>
          <a:bodyPr/>
          <a:lstStyle/>
          <a:p>
            <a:fld id="{EAD3B8CC-6341-254C-A7EB-C775FF99E84D}" type="slidenum">
              <a:rPr kumimoji="1" lang="ja-JP" altLang="en-US" smtClean="0"/>
              <a:t>10</a:t>
            </a:fld>
            <a:endParaRPr kumimoji="1" lang="ja-JP" altLang="en-US"/>
          </a:p>
        </p:txBody>
      </p:sp>
    </p:spTree>
    <p:extLst>
      <p:ext uri="{BB962C8B-B14F-4D97-AF65-F5344CB8AC3E}">
        <p14:creationId xmlns:p14="http://schemas.microsoft.com/office/powerpoint/2010/main" val="1672361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複数の機械学習を組み合わせにより強力なモデルを構築するアンサンブル法の一つ</a:t>
            </a:r>
            <a:br>
              <a:rPr lang="ja-JP" altLang="ja-JP"/>
            </a:br>
            <a:r>
              <a:rPr lang="ja-JP" altLang="ja-JP"/>
              <a:t> Rondom Forestは決定木のアンサンブル手法</a:t>
            </a:r>
            <a:br>
              <a:rPr lang="ja-JP" altLang="ja-JP"/>
            </a:br>
            <a:r>
              <a:rPr lang="ja-JP" altLang="ja-JP"/>
              <a:t>データの一部をサンプルしてN個の決定木を学習</a:t>
            </a:r>
            <a:br>
              <a:rPr lang="ja-JP" altLang="ja-JP"/>
            </a:br>
            <a:r>
              <a:rPr lang="ja-JP" altLang="ja-JP"/>
              <a:t>N個の決定木の多数決(or 平均)で予測</a:t>
            </a:r>
            <a:br>
              <a:rPr lang="ja-JP" altLang="ja-JP"/>
            </a:br>
            <a:r>
              <a:rPr lang="ja-JP" altLang="ja-JP"/>
              <a:t> 外挿は不得意</a:t>
            </a:r>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11</a:t>
            </a:fld>
            <a:endParaRPr kumimoji="1" lang="ja-JP" altLang="en-US"/>
          </a:p>
        </p:txBody>
      </p:sp>
    </p:spTree>
    <p:extLst>
      <p:ext uri="{BB962C8B-B14F-4D97-AF65-F5344CB8AC3E}">
        <p14:creationId xmlns:p14="http://schemas.microsoft.com/office/powerpoint/2010/main" val="39098571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8F4A9-ABB2-0335-39C3-C8CB64AA43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141551D-CFC3-6F28-2523-01E2142D8F0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AD94C1-195C-3402-2BA2-25DFD0C97ABD}"/>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2F7F87-E953-8661-DD1D-01D3FA883050}"/>
              </a:ext>
            </a:extLst>
          </p:cNvPr>
          <p:cNvSpPr>
            <a:spLocks noGrp="1"/>
          </p:cNvSpPr>
          <p:nvPr>
            <p:ph type="sldNum" sz="quarter" idx="5"/>
          </p:nvPr>
        </p:nvSpPr>
        <p:spPr/>
        <p:txBody>
          <a:bodyPr/>
          <a:lstStyle/>
          <a:p>
            <a:fld id="{EAD3B8CC-6341-254C-A7EB-C775FF99E84D}" type="slidenum">
              <a:rPr kumimoji="1" lang="ja-JP" altLang="en-US" smtClean="0"/>
              <a:t>12</a:t>
            </a:fld>
            <a:endParaRPr kumimoji="1" lang="ja-JP" altLang="en-US"/>
          </a:p>
        </p:txBody>
      </p:sp>
    </p:spTree>
    <p:extLst>
      <p:ext uri="{BB962C8B-B14F-4D97-AF65-F5344CB8AC3E}">
        <p14:creationId xmlns:p14="http://schemas.microsoft.com/office/powerpoint/2010/main" val="247091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クラス分類の結果をまとめた表</a:t>
            </a:r>
          </a:p>
          <a:p>
            <a:r>
              <a:rPr kumimoji="1" lang="en-US" altLang="ja-JP" dirty="0"/>
              <a:t>TP : True Positive </a:t>
            </a:r>
            <a:r>
              <a:rPr kumimoji="1" lang="ja-JP" altLang="en-US"/>
              <a:t>（実際に犬で、正しく犬と推測できている）（真陽性）</a:t>
            </a:r>
            <a:br>
              <a:rPr kumimoji="1" lang="en-US" altLang="ja-JP" dirty="0"/>
            </a:br>
            <a:r>
              <a:rPr kumimoji="1" lang="en-US" altLang="ja-JP" dirty="0"/>
              <a:t>TN : True Negative</a:t>
            </a:r>
            <a:r>
              <a:rPr kumimoji="1" lang="ja-JP" altLang="en-US"/>
              <a:t>（犬でないものを、正しく犬でないと推測できる）（真陰性）</a:t>
            </a:r>
            <a:br>
              <a:rPr kumimoji="1" lang="en-US" altLang="ja-JP" dirty="0"/>
            </a:br>
            <a:r>
              <a:rPr kumimoji="1" lang="en-US" altLang="ja-JP" dirty="0"/>
              <a:t>FP : False Positive </a:t>
            </a:r>
            <a:r>
              <a:rPr kumimoji="1" lang="ja-JP" altLang="en-US"/>
              <a:t>（実際に犬で、誤って犬でないと推測してしまっている）（偽陽性）</a:t>
            </a:r>
            <a:br>
              <a:rPr kumimoji="1" lang="en-US" altLang="ja-JP" dirty="0"/>
            </a:br>
            <a:r>
              <a:rPr kumimoji="1" lang="en-US" altLang="ja-JP" dirty="0"/>
              <a:t>FN : False Negative</a:t>
            </a:r>
            <a:r>
              <a:rPr kumimoji="1" lang="ja-JP" altLang="en-US"/>
              <a:t>（犬でないものを、誤って犬と推測してしまっている）（偽陰性）</a:t>
            </a:r>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13</a:t>
            </a:fld>
            <a:endParaRPr kumimoji="1" lang="ja-JP" altLang="en-US"/>
          </a:p>
        </p:txBody>
      </p:sp>
    </p:spTree>
    <p:extLst>
      <p:ext uri="{BB962C8B-B14F-4D97-AF65-F5344CB8AC3E}">
        <p14:creationId xmlns:p14="http://schemas.microsoft.com/office/powerpoint/2010/main" val="39997305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7DDDC-AA81-024A-E91A-4B0829B025E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6D77AC7-786A-6580-6293-5332B8B6DB6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6753FFC-3FED-7553-DF28-E468A32ADE5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a:extLst>
              <a:ext uri="{FF2B5EF4-FFF2-40B4-BE49-F238E27FC236}">
                <a16:creationId xmlns:a16="http://schemas.microsoft.com/office/drawing/2014/main" id="{52CA1E6F-74E8-3227-15F6-9FED050A71BB}"/>
              </a:ext>
            </a:extLst>
          </p:cNvPr>
          <p:cNvSpPr>
            <a:spLocks noGrp="1"/>
          </p:cNvSpPr>
          <p:nvPr>
            <p:ph type="sldNum" sz="quarter" idx="5"/>
          </p:nvPr>
        </p:nvSpPr>
        <p:spPr/>
        <p:txBody>
          <a:bodyPr/>
          <a:lstStyle/>
          <a:p>
            <a:fld id="{EAD3B8CC-6341-254C-A7EB-C775FF99E84D}" type="slidenum">
              <a:rPr kumimoji="1" lang="ja-JP" altLang="en-US" smtClean="0"/>
              <a:t>14</a:t>
            </a:fld>
            <a:endParaRPr kumimoji="1" lang="ja-JP" altLang="en-US"/>
          </a:p>
        </p:txBody>
      </p:sp>
    </p:spTree>
    <p:extLst>
      <p:ext uri="{BB962C8B-B14F-4D97-AF65-F5344CB8AC3E}">
        <p14:creationId xmlns:p14="http://schemas.microsoft.com/office/powerpoint/2010/main" val="3434190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これらは全て</a:t>
            </a:r>
            <a:r>
              <a:rPr kumimoji="1" lang="en-US" altLang="ja-JP" dirty="0"/>
              <a:t>0~1</a:t>
            </a:r>
            <a:r>
              <a:rPr kumimoji="1" lang="ja-JP" altLang="en-US"/>
              <a:t>の値を取る。</a:t>
            </a:r>
            <a:endParaRPr kumimoji="1" lang="en-US" altLang="ja-JP" dirty="0"/>
          </a:p>
          <a:p>
            <a:r>
              <a:rPr kumimoji="1" lang="en-US" altLang="ja-JP" dirty="0"/>
              <a:t>Accuracy</a:t>
            </a:r>
            <a:r>
              <a:rPr kumimoji="1" lang="ja-JP" altLang="en-US"/>
              <a:t>：正しく予測されたサンプルの割合、１に近づくほどよい</a:t>
            </a:r>
            <a:endParaRPr kumimoji="1" lang="en-US" altLang="ja-JP" dirty="0"/>
          </a:p>
          <a:p>
            <a:r>
              <a:rPr kumimoji="1" lang="en-US" altLang="ja-JP" dirty="0"/>
              <a:t>Precision</a:t>
            </a:r>
            <a:r>
              <a:rPr kumimoji="1" lang="ja-JP" altLang="en-US"/>
              <a:t>：陽性と予測されたサンプルの内、実際に陽性であるサンプルの割合、１に近づくほど良い</a:t>
            </a:r>
            <a:endParaRPr kumimoji="1" lang="en-US" altLang="ja-JP" dirty="0"/>
          </a:p>
          <a:p>
            <a:r>
              <a:rPr kumimoji="1" lang="en-US" altLang="ja-JP" dirty="0"/>
              <a:t>Recall</a:t>
            </a:r>
            <a:r>
              <a:rPr kumimoji="1" lang="ja-JP" altLang="en-US"/>
              <a:t>：実際に陽性であるサンプルの内、正しく陽性と予測されたサンプルの割合（真陽性率）、１に近づくほど良い</a:t>
            </a:r>
            <a:endParaRPr kumimoji="1" lang="en-US" altLang="ja-JP" dirty="0"/>
          </a:p>
          <a:p>
            <a:r>
              <a:rPr kumimoji="1" lang="en-US" altLang="ja-JP" dirty="0"/>
              <a:t>Accuracy</a:t>
            </a:r>
            <a:r>
              <a:rPr kumimoji="1" lang="ja-JP" altLang="en-US"/>
              <a:t>だけではダメなのか：材料開発データを分類問題に落とし込むと、作成サンプルが正常</a:t>
            </a:r>
            <a:r>
              <a:rPr kumimoji="1" lang="en-US" altLang="ja-JP" dirty="0"/>
              <a:t>or</a:t>
            </a:r>
            <a:r>
              <a:rPr kumimoji="1" lang="ja-JP" altLang="en-US"/>
              <a:t>異常を判定する。普通は正常なモノを狙うため正常データが多くなり、</a:t>
            </a:r>
            <a:br>
              <a:rPr kumimoji="1" lang="en-US" altLang="ja-JP" dirty="0"/>
            </a:br>
            <a:r>
              <a:rPr kumimoji="1" lang="ja-JP" altLang="en-US"/>
              <a:t>データ数が均一でない不均衡なデータになる場合が多い。正解率で機械学習モデルの性能を適切に評価することは難しくなる</a:t>
            </a:r>
            <a:br>
              <a:rPr kumimoji="1" lang="en-US" altLang="ja-JP" dirty="0"/>
            </a:br>
            <a:r>
              <a:rPr kumimoji="1" lang="ja-JP" altLang="en-US"/>
              <a:t>（予測時に全て正常と予測しても正解率としては高い数値になるから）</a:t>
            </a:r>
            <a:br>
              <a:rPr kumimoji="1" lang="en-US" altLang="ja-JP" dirty="0"/>
            </a:br>
            <a:r>
              <a:rPr kumimoji="1" lang="en-US" altLang="ja-JP" dirty="0"/>
              <a:t>Precision</a:t>
            </a:r>
            <a:r>
              <a:rPr kumimoji="1" lang="ja-JP" altLang="en-US"/>
              <a:t>は誤検知を減らしたい時に重視する。本当に自信のあるモノしか選べないと評価値としては高く出るが、見逃しも多くなる。</a:t>
            </a:r>
            <a:endParaRPr kumimoji="1" lang="en-US" altLang="ja-JP" dirty="0"/>
          </a:p>
          <a:p>
            <a:r>
              <a:rPr kumimoji="1" lang="en-US" altLang="ja-JP" dirty="0"/>
              <a:t>Recall</a:t>
            </a:r>
            <a:r>
              <a:rPr kumimoji="1" lang="ja-JP" altLang="en-US"/>
              <a:t>は見逃しをしたくないときに重視する。ただし全てのサンプルをそのクラスと予測すれば評価値は高くなる一方で、誤検知も多くなる。</a:t>
            </a:r>
            <a:endParaRPr kumimoji="1" lang="en-US" altLang="ja-JP" dirty="0"/>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15</a:t>
            </a:fld>
            <a:endParaRPr kumimoji="1" lang="ja-JP" altLang="en-US"/>
          </a:p>
        </p:txBody>
      </p:sp>
    </p:spTree>
    <p:extLst>
      <p:ext uri="{BB962C8B-B14F-4D97-AF65-F5344CB8AC3E}">
        <p14:creationId xmlns:p14="http://schemas.microsoft.com/office/powerpoint/2010/main" val="39723769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16B78-8058-ADC7-6C7D-06AC86EFE38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3B334D-5A4B-2E00-3693-DD93A0D4F1A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84C06D1-1697-CC82-334B-3A181779721E}"/>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822F8CBF-788B-5498-89D3-CD606E65641F}"/>
              </a:ext>
            </a:extLst>
          </p:cNvPr>
          <p:cNvSpPr>
            <a:spLocks noGrp="1"/>
          </p:cNvSpPr>
          <p:nvPr>
            <p:ph type="sldNum" sz="quarter" idx="5"/>
          </p:nvPr>
        </p:nvSpPr>
        <p:spPr/>
        <p:txBody>
          <a:bodyPr/>
          <a:lstStyle/>
          <a:p>
            <a:fld id="{EAD3B8CC-6341-254C-A7EB-C775FF99E84D}" type="slidenum">
              <a:rPr kumimoji="1" lang="ja-JP" altLang="en-US" smtClean="0"/>
              <a:t>16</a:t>
            </a:fld>
            <a:endParaRPr kumimoji="1" lang="ja-JP" altLang="en-US"/>
          </a:p>
        </p:txBody>
      </p:sp>
    </p:spTree>
    <p:extLst>
      <p:ext uri="{BB962C8B-B14F-4D97-AF65-F5344CB8AC3E}">
        <p14:creationId xmlns:p14="http://schemas.microsoft.com/office/powerpoint/2010/main" val="40410631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a:t>適合率と再現性から構成される重み付きの指標、代表的なβの値としてはβ＝1,0.5,2などがある。</a:t>
            </a:r>
            <a:br>
              <a:rPr lang="ja-JP" altLang="ja-JP"/>
            </a:br>
            <a:r>
              <a:rPr lang="ja-JP" altLang="ja-JP"/>
              <a:t>β＝１の場合は適合率と再現性の調和平均となる適合率と再現性のバランスのとれた評価指標である。</a:t>
            </a:r>
          </a:p>
          <a:p>
            <a:r>
              <a:rPr lang="ja-JP" altLang="ja-JP"/>
              <a:t>β＝</a:t>
            </a:r>
            <a:r>
              <a:rPr lang="en-US" altLang="ja-JP" dirty="0"/>
              <a:t>0.5</a:t>
            </a:r>
            <a:r>
              <a:rPr lang="ja-JP" altLang="ja-JP"/>
              <a:t>の場合は</a:t>
            </a:r>
            <a:r>
              <a:rPr lang="ja-JP" altLang="en-US"/>
              <a:t>誤差検知を避けたい＝</a:t>
            </a:r>
            <a:r>
              <a:rPr lang="en-US" altLang="ja-JP" dirty="0"/>
              <a:t>Precision</a:t>
            </a:r>
            <a:r>
              <a:rPr lang="ja-JP" altLang="en-US"/>
              <a:t>（適合率）を重視したい</a:t>
            </a:r>
            <a:endParaRPr lang="en-US" altLang="ja-JP" dirty="0"/>
          </a:p>
          <a:p>
            <a:r>
              <a:rPr lang="ja-JP" altLang="ja-JP"/>
              <a:t>β＝</a:t>
            </a:r>
            <a:r>
              <a:rPr lang="en-US" altLang="ja-JP" dirty="0"/>
              <a:t>2</a:t>
            </a:r>
            <a:r>
              <a:rPr lang="ja-JP" altLang="ja-JP"/>
              <a:t>の場合は</a:t>
            </a:r>
            <a:r>
              <a:rPr lang="ja-JP" altLang="en-US"/>
              <a:t>見逃しを避けたい＝</a:t>
            </a:r>
            <a:r>
              <a:rPr lang="en-US" altLang="ja-JP" dirty="0"/>
              <a:t>Recall</a:t>
            </a:r>
            <a:r>
              <a:rPr lang="ja-JP" altLang="en-US"/>
              <a:t>（再現率）を重視したい</a:t>
            </a:r>
            <a:br>
              <a:rPr lang="en-US" altLang="ja-JP" dirty="0"/>
            </a:br>
            <a:r>
              <a:rPr lang="en-US" altLang="ja-JP" dirty="0"/>
              <a:t>Precision</a:t>
            </a:r>
            <a:r>
              <a:rPr lang="ja-JP" altLang="en-US"/>
              <a:t>と</a:t>
            </a:r>
            <a:r>
              <a:rPr lang="en-US" altLang="ja-JP" dirty="0"/>
              <a:t>Recall</a:t>
            </a:r>
            <a:r>
              <a:rPr lang="ja-JP" altLang="en-US"/>
              <a:t>のバランスを見る</a:t>
            </a:r>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17</a:t>
            </a:fld>
            <a:endParaRPr kumimoji="1" lang="ja-JP" altLang="en-US"/>
          </a:p>
        </p:txBody>
      </p:sp>
    </p:spTree>
    <p:extLst>
      <p:ext uri="{BB962C8B-B14F-4D97-AF65-F5344CB8AC3E}">
        <p14:creationId xmlns:p14="http://schemas.microsoft.com/office/powerpoint/2010/main" val="21759741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8D1E9-3BBA-0660-D319-4A4A392257F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38BC27D-661D-3C0F-2A0F-CEED52E4979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965447-4822-9B72-4FEE-F0B74540193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p:txBody>
      </p:sp>
      <p:sp>
        <p:nvSpPr>
          <p:cNvPr id="4" name="スライド番号プレースホルダー 3">
            <a:extLst>
              <a:ext uri="{FF2B5EF4-FFF2-40B4-BE49-F238E27FC236}">
                <a16:creationId xmlns:a16="http://schemas.microsoft.com/office/drawing/2014/main" id="{3B6864E3-A198-D675-C5DD-532049DA3D62}"/>
              </a:ext>
            </a:extLst>
          </p:cNvPr>
          <p:cNvSpPr>
            <a:spLocks noGrp="1"/>
          </p:cNvSpPr>
          <p:nvPr>
            <p:ph type="sldNum" sz="quarter" idx="5"/>
          </p:nvPr>
        </p:nvSpPr>
        <p:spPr/>
        <p:txBody>
          <a:bodyPr/>
          <a:lstStyle/>
          <a:p>
            <a:fld id="{EAD3B8CC-6341-254C-A7EB-C775FF99E84D}" type="slidenum">
              <a:rPr kumimoji="1" lang="ja-JP" altLang="en-US" smtClean="0"/>
              <a:t>18</a:t>
            </a:fld>
            <a:endParaRPr kumimoji="1" lang="ja-JP" altLang="en-US"/>
          </a:p>
        </p:txBody>
      </p:sp>
    </p:spTree>
    <p:extLst>
      <p:ext uri="{BB962C8B-B14F-4D97-AF65-F5344CB8AC3E}">
        <p14:creationId xmlns:p14="http://schemas.microsoft.com/office/powerpoint/2010/main" val="2963984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機械学習の性能が良いほど、プロットされた</a:t>
            </a:r>
            <a:r>
              <a:rPr kumimoji="1" lang="en-US" altLang="ja-JP" dirty="0"/>
              <a:t>ROC</a:t>
            </a:r>
            <a:r>
              <a:rPr kumimoji="1" lang="ja-JP" altLang="en-US"/>
              <a:t>曲線が左上に近づく。</a:t>
            </a:r>
            <a:br>
              <a:rPr kumimoji="1" lang="en-US" altLang="ja-JP" dirty="0"/>
            </a:br>
            <a:r>
              <a:rPr kumimoji="1" lang="ja-JP" altLang="en-US"/>
              <a:t>→</a:t>
            </a:r>
            <a:r>
              <a:rPr kumimoji="1" lang="en-US" altLang="ja-JP" dirty="0"/>
              <a:t>AUC</a:t>
            </a:r>
            <a:r>
              <a:rPr kumimoji="1" lang="ja-JP" altLang="en-US"/>
              <a:t>（</a:t>
            </a:r>
            <a:r>
              <a:rPr kumimoji="1" lang="en-US" altLang="ja-JP" dirty="0"/>
              <a:t>ROC</a:t>
            </a:r>
            <a:r>
              <a:rPr kumimoji="1" lang="ja-JP" altLang="en-US"/>
              <a:t>曲線下の面積）が大きくなるとモデルが良くなる。</a:t>
            </a:r>
            <a:endParaRPr kumimoji="1" lang="en-US" altLang="ja-JP" dirty="0"/>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19</a:t>
            </a:fld>
            <a:endParaRPr kumimoji="1" lang="ja-JP" altLang="en-US"/>
          </a:p>
        </p:txBody>
      </p:sp>
    </p:spTree>
    <p:extLst>
      <p:ext uri="{BB962C8B-B14F-4D97-AF65-F5344CB8AC3E}">
        <p14:creationId xmlns:p14="http://schemas.microsoft.com/office/powerpoint/2010/main" val="2887761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99D1-8F23-D3F0-95D4-273F2ECC8C9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E0C221-ED16-6388-9D89-A79B766F10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9F89D0-7B7B-7B4B-7CFA-61D7A2ABDD51}"/>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6EDDFB61-45CC-C372-C7E7-A4964CD7188B}"/>
              </a:ext>
            </a:extLst>
          </p:cNvPr>
          <p:cNvSpPr>
            <a:spLocks noGrp="1"/>
          </p:cNvSpPr>
          <p:nvPr>
            <p:ph type="sldNum" sz="quarter" idx="5"/>
          </p:nvPr>
        </p:nvSpPr>
        <p:spPr/>
        <p:txBody>
          <a:bodyPr/>
          <a:lstStyle/>
          <a:p>
            <a:fld id="{EAD3B8CC-6341-254C-A7EB-C775FF99E84D}" type="slidenum">
              <a:rPr kumimoji="1" lang="ja-JP" altLang="en-US" smtClean="0"/>
              <a:t>20</a:t>
            </a:fld>
            <a:endParaRPr kumimoji="1" lang="ja-JP" altLang="en-US"/>
          </a:p>
        </p:txBody>
      </p:sp>
    </p:spTree>
    <p:extLst>
      <p:ext uri="{BB962C8B-B14F-4D97-AF65-F5344CB8AC3E}">
        <p14:creationId xmlns:p14="http://schemas.microsoft.com/office/powerpoint/2010/main" val="11772913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機械学習の性能が良いほど、プロットされた</a:t>
            </a:r>
            <a:r>
              <a:rPr kumimoji="1" lang="en-US" altLang="ja-JP" dirty="0"/>
              <a:t>PR</a:t>
            </a:r>
            <a:r>
              <a:rPr kumimoji="1" lang="ja-JP" altLang="en-US"/>
              <a:t>曲線が右上に近づく。</a:t>
            </a:r>
            <a:br>
              <a:rPr kumimoji="1" lang="en-US" altLang="ja-JP" dirty="0"/>
            </a:br>
            <a:r>
              <a:rPr kumimoji="1" lang="ja-JP" altLang="en-US"/>
              <a:t>→</a:t>
            </a:r>
            <a:r>
              <a:rPr kumimoji="1" lang="en-US" altLang="ja-JP" dirty="0"/>
              <a:t>AUC</a:t>
            </a:r>
            <a:r>
              <a:rPr kumimoji="1" lang="ja-JP" altLang="en-US"/>
              <a:t>（</a:t>
            </a:r>
            <a:r>
              <a:rPr kumimoji="1" lang="en-US" altLang="ja-JP" dirty="0"/>
              <a:t>PR</a:t>
            </a:r>
            <a:r>
              <a:rPr kumimoji="1" lang="ja-JP" altLang="en-US"/>
              <a:t>曲線下の面積）が大きくなるとモデルが良くなる。</a:t>
            </a:r>
            <a:endParaRPr kumimoji="1" lang="en-US" altLang="ja-JP" dirty="0"/>
          </a:p>
          <a:p>
            <a:endParaRPr kumimoji="1" lang="ja-JP" altLang="en-US"/>
          </a:p>
        </p:txBody>
      </p:sp>
      <p:sp>
        <p:nvSpPr>
          <p:cNvPr id="4" name="スライド番号プレースホルダー 3"/>
          <p:cNvSpPr>
            <a:spLocks noGrp="1"/>
          </p:cNvSpPr>
          <p:nvPr>
            <p:ph type="sldNum" sz="quarter" idx="5"/>
          </p:nvPr>
        </p:nvSpPr>
        <p:spPr/>
        <p:txBody>
          <a:bodyPr/>
          <a:lstStyle/>
          <a:p>
            <a:fld id="{EAD3B8CC-6341-254C-A7EB-C775FF99E84D}" type="slidenum">
              <a:rPr kumimoji="1" lang="ja-JP" altLang="en-US" smtClean="0"/>
              <a:t>21</a:t>
            </a:fld>
            <a:endParaRPr kumimoji="1" lang="ja-JP" altLang="en-US"/>
          </a:p>
        </p:txBody>
      </p:sp>
    </p:spTree>
    <p:extLst>
      <p:ext uri="{BB962C8B-B14F-4D97-AF65-F5344CB8AC3E}">
        <p14:creationId xmlns:p14="http://schemas.microsoft.com/office/powerpoint/2010/main" val="996997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89541-5F2F-8436-BF34-C5A84674B44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3C2FAA9-D95A-C48B-66D3-8EA5AAAFE55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B27179D-9ABA-F409-4EAA-9F5F9961F6AD}"/>
              </a:ext>
            </a:extLst>
          </p:cNvPr>
          <p:cNvSpPr>
            <a:spLocks noGrp="1"/>
          </p:cNvSpPr>
          <p:nvPr>
            <p:ph type="body" idx="1"/>
          </p:nvPr>
        </p:nvSpPr>
        <p:spPr/>
        <p:txBody>
          <a:bodyPr/>
          <a:lstStyle/>
          <a:p>
            <a:endParaRPr kumimoji="1" lang="en-US" altLang="ja-JP" dirty="0"/>
          </a:p>
        </p:txBody>
      </p:sp>
      <p:sp>
        <p:nvSpPr>
          <p:cNvPr id="4" name="スライド番号プレースホルダー 3">
            <a:extLst>
              <a:ext uri="{FF2B5EF4-FFF2-40B4-BE49-F238E27FC236}">
                <a16:creationId xmlns:a16="http://schemas.microsoft.com/office/drawing/2014/main" id="{D2F73D23-8D86-77EF-BEF1-98203E675FEB}"/>
              </a:ext>
            </a:extLst>
          </p:cNvPr>
          <p:cNvSpPr>
            <a:spLocks noGrp="1"/>
          </p:cNvSpPr>
          <p:nvPr>
            <p:ph type="sldNum" sz="quarter" idx="5"/>
          </p:nvPr>
        </p:nvSpPr>
        <p:spPr/>
        <p:txBody>
          <a:bodyPr/>
          <a:lstStyle/>
          <a:p>
            <a:fld id="{EAD3B8CC-6341-254C-A7EB-C775FF99E84D}" type="slidenum">
              <a:rPr kumimoji="1" lang="ja-JP" altLang="en-US" smtClean="0"/>
              <a:t>22</a:t>
            </a:fld>
            <a:endParaRPr kumimoji="1" lang="ja-JP" altLang="en-US"/>
          </a:p>
        </p:txBody>
      </p:sp>
    </p:spTree>
    <p:extLst>
      <p:ext uri="{BB962C8B-B14F-4D97-AF65-F5344CB8AC3E}">
        <p14:creationId xmlns:p14="http://schemas.microsoft.com/office/powerpoint/2010/main" val="426784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ja-JP" altLang="en-US"/>
              <a:t>マスター タイトルの書式設定</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724480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772E2BD-A581-49AD-59A9-3BDC4F5D88BD}"/>
              </a:ext>
            </a:extLst>
          </p:cNvPr>
          <p:cNvSpPr/>
          <p:nvPr userDrawn="1"/>
        </p:nvSpPr>
        <p:spPr>
          <a:xfrm>
            <a:off x="0" y="-54767"/>
            <a:ext cx="9144000" cy="970360"/>
          </a:xfrm>
          <a:prstGeom prst="rect">
            <a:avLst/>
          </a:prstGeom>
          <a:gradFill flip="none" rotWithShape="1">
            <a:gsLst>
              <a:gs pos="0">
                <a:srgbClr val="0070C0">
                  <a:tint val="66000"/>
                  <a:satMod val="160000"/>
                  <a:lumMod val="89347"/>
                </a:srgbClr>
              </a:gs>
              <a:gs pos="50000">
                <a:srgbClr val="0070C0">
                  <a:tint val="44500"/>
                  <a:satMod val="160000"/>
                </a:srgbClr>
              </a:gs>
              <a:gs pos="100000">
                <a:srgbClr val="0070C0">
                  <a:tint val="23500"/>
                  <a:satMod val="160000"/>
                </a:srgbClr>
              </a:gs>
            </a:gsLst>
            <a:lin ang="54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b="1" i="0" baseline="0">
              <a:latin typeface="Hiragino Sans W6" panose="020B0400000000000000" pitchFamily="34" charset="-128"/>
              <a:ea typeface="Hiragino Sans W6" panose="020B0400000000000000" pitchFamily="34" charset="-128"/>
            </a:endParaRPr>
          </a:p>
        </p:txBody>
      </p:sp>
      <p:sp>
        <p:nvSpPr>
          <p:cNvPr id="2" name="Title 1"/>
          <p:cNvSpPr>
            <a:spLocks noGrp="1"/>
          </p:cNvSpPr>
          <p:nvPr>
            <p:ph type="title"/>
          </p:nvPr>
        </p:nvSpPr>
        <p:spPr>
          <a:xfrm>
            <a:off x="0" y="18256"/>
            <a:ext cx="9144000" cy="897337"/>
          </a:xfrm>
        </p:spPr>
        <p:txBody>
          <a:bodyPr/>
          <a:lstStyle>
            <a:lvl1pPr>
              <a:defRPr b="1" i="0" baseline="0">
                <a:latin typeface="Hiragino Sans W6" panose="020B0400000000000000" pitchFamily="34" charset="-128"/>
                <a:ea typeface="Hiragino Sans W6" panose="020B0400000000000000" pitchFamily="34" charset="-128"/>
              </a:defRPr>
            </a:lvl1pPr>
          </a:lstStyle>
          <a:p>
            <a:r>
              <a:rPr lang="ja-JP" altLang="en-US"/>
              <a:t>マスター タイトルの書式設定</a:t>
            </a:r>
            <a:endParaRPr lang="en-US"/>
          </a:p>
        </p:txBody>
      </p:sp>
      <p:sp>
        <p:nvSpPr>
          <p:cNvPr id="3" name="Content Placeholder 2"/>
          <p:cNvSpPr>
            <a:spLocks noGrp="1"/>
          </p:cNvSpPr>
          <p:nvPr>
            <p:ph idx="1"/>
          </p:nvPr>
        </p:nvSpPr>
        <p:spPr>
          <a:xfrm>
            <a:off x="628650" y="4220876"/>
            <a:ext cx="7886700" cy="1834236"/>
          </a:xfrm>
          <a:solidFill>
            <a:schemeClr val="accent4">
              <a:lumMod val="20000"/>
              <a:lumOff val="80000"/>
              <a:alpha val="65669"/>
            </a:schemeClr>
          </a:solidFill>
        </p:spPr>
        <p:txBody>
          <a:bodyPr/>
          <a:lstStyle>
            <a:lvl1pPr>
              <a:defRPr b="0" i="0" baseline="0">
                <a:latin typeface="Helvetica" pitchFamily="2" charset="0"/>
                <a:ea typeface="Hiragino Sans W4" panose="020B0400000000000000" pitchFamily="34" charset="-128"/>
              </a:defRPr>
            </a:lvl1pPr>
            <a:lvl2pPr>
              <a:defRPr b="0" i="0" baseline="0">
                <a:latin typeface="Helvetica" pitchFamily="2" charset="0"/>
                <a:ea typeface="Hiragino Sans W4" panose="020B0400000000000000" pitchFamily="34" charset="-128"/>
              </a:defRPr>
            </a:lvl2pPr>
            <a:lvl3pPr>
              <a:defRPr b="0" i="0" baseline="0">
                <a:latin typeface="Helvetica" pitchFamily="2" charset="0"/>
                <a:ea typeface="Hiragino Sans W4" panose="020B0400000000000000" pitchFamily="34" charset="-128"/>
              </a:defRPr>
            </a:lvl3pPr>
            <a:lvl4pPr>
              <a:defRPr b="0" i="0" baseline="0">
                <a:latin typeface="Helvetica" pitchFamily="2" charset="0"/>
                <a:ea typeface="Hiragino Sans W4" panose="020B0400000000000000" pitchFamily="34" charset="-128"/>
              </a:defRPr>
            </a:lvl4pPr>
            <a:lvl5pPr>
              <a:defRPr b="0" i="0" baseline="0">
                <a:latin typeface="Helvetica" pitchFamily="2" charset="0"/>
                <a:ea typeface="Hiragino Sans W4"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lvl1pPr>
              <a:defRPr b="0" i="0" baseline="0">
                <a:latin typeface="Helvetica" pitchFamily="2" charset="0"/>
                <a:ea typeface="Hiragino Sans W4" panose="020B0400000000000000" pitchFamily="34" charset="-128"/>
              </a:defRPr>
            </a:lvl1pPr>
          </a:lstStyle>
          <a:p>
            <a:fld id="{32394990-A274-8E4A-90A0-60225761FA15}" type="datetimeFigureOut">
              <a:rPr kumimoji="1" lang="ja-JP" altLang="en-US" smtClean="0"/>
              <a:pPr/>
              <a:t>2026/6/20</a:t>
            </a:fld>
            <a:endParaRPr kumimoji="1" lang="ja-JP" altLang="en-US">
              <a:latin typeface="Helvetica" pitchFamily="2" charset="0"/>
            </a:endParaRPr>
          </a:p>
        </p:txBody>
      </p:sp>
      <p:sp>
        <p:nvSpPr>
          <p:cNvPr id="5" name="Footer Placeholder 4"/>
          <p:cNvSpPr>
            <a:spLocks noGrp="1"/>
          </p:cNvSpPr>
          <p:nvPr>
            <p:ph type="ftr" sz="quarter" idx="11"/>
          </p:nvPr>
        </p:nvSpPr>
        <p:spPr/>
        <p:txBody>
          <a:bodyPr/>
          <a:lstStyle>
            <a:lvl1pPr>
              <a:defRPr b="0" i="0" baseline="0">
                <a:latin typeface="Helvetica" pitchFamily="2" charset="0"/>
                <a:ea typeface="Hiragino Sans W4" panose="020B0400000000000000" pitchFamily="34" charset="-128"/>
              </a:defRPr>
            </a:lvl1pPr>
          </a:lstStyle>
          <a:p>
            <a:endParaRPr kumimoji="1" lang="ja-JP" altLang="en-US">
              <a:latin typeface="Helvetica" pitchFamily="2" charset="0"/>
            </a:endParaRPr>
          </a:p>
        </p:txBody>
      </p:sp>
      <p:sp>
        <p:nvSpPr>
          <p:cNvPr id="6" name="Slide Number Placeholder 5"/>
          <p:cNvSpPr>
            <a:spLocks noGrp="1"/>
          </p:cNvSpPr>
          <p:nvPr>
            <p:ph type="sldNum" sz="quarter" idx="12"/>
          </p:nvPr>
        </p:nvSpPr>
        <p:spPr>
          <a:xfrm>
            <a:off x="8515350" y="6474618"/>
            <a:ext cx="628650" cy="365125"/>
          </a:xfrm>
        </p:spPr>
        <p:txBody>
          <a:bodyPr/>
          <a:lstStyle>
            <a:lvl1pPr>
              <a:defRPr b="0" i="0" baseline="0">
                <a:latin typeface="Helvetica" pitchFamily="2" charset="0"/>
                <a:ea typeface="Hiragino Sans W4" panose="020B0400000000000000" pitchFamily="34" charset="-128"/>
              </a:defRPr>
            </a:lvl1pPr>
          </a:lstStyle>
          <a:p>
            <a:fld id="{A500AC58-3283-5748-9D35-E5F45705EE4F}" type="slidenum">
              <a:rPr kumimoji="1" lang="ja-JP" altLang="en-US" smtClean="0"/>
              <a:pPr/>
              <a:t>‹#›</a:t>
            </a:fld>
            <a:endParaRPr kumimoji="1" lang="ja-JP" altLang="en-US">
              <a:latin typeface="Helvetica" pitchFamily="2" charset="0"/>
            </a:endParaRPr>
          </a:p>
        </p:txBody>
      </p:sp>
      <p:cxnSp>
        <p:nvCxnSpPr>
          <p:cNvPr id="10" name="直線コネクタ 9">
            <a:extLst>
              <a:ext uri="{FF2B5EF4-FFF2-40B4-BE49-F238E27FC236}">
                <a16:creationId xmlns:a16="http://schemas.microsoft.com/office/drawing/2014/main" id="{A316EAD2-933B-B126-230A-436943039E46}"/>
              </a:ext>
            </a:extLst>
          </p:cNvPr>
          <p:cNvCxnSpPr>
            <a:cxnSpLocks/>
          </p:cNvCxnSpPr>
          <p:nvPr userDrawn="1"/>
        </p:nvCxnSpPr>
        <p:spPr>
          <a:xfrm>
            <a:off x="0" y="807695"/>
            <a:ext cx="9144000" cy="0"/>
          </a:xfrm>
          <a:prstGeom prst="line">
            <a:avLst/>
          </a:prstGeom>
          <a:ln w="19050">
            <a:solidFill>
              <a:schemeClr val="accent4">
                <a:lumMod val="50000"/>
              </a:schemeClr>
            </a:solidFill>
          </a:ln>
        </p:spPr>
        <p:style>
          <a:lnRef idx="2">
            <a:schemeClr val="accent1"/>
          </a:lnRef>
          <a:fillRef idx="0">
            <a:schemeClr val="accent1"/>
          </a:fillRef>
          <a:effectRef idx="1">
            <a:schemeClr val="accent1"/>
          </a:effectRef>
          <a:fontRef idx="minor">
            <a:schemeClr val="tx1"/>
          </a:fontRef>
        </p:style>
      </p:cxnSp>
      <p:cxnSp>
        <p:nvCxnSpPr>
          <p:cNvPr id="14" name="直線コネクタ 13">
            <a:extLst>
              <a:ext uri="{FF2B5EF4-FFF2-40B4-BE49-F238E27FC236}">
                <a16:creationId xmlns:a16="http://schemas.microsoft.com/office/drawing/2014/main" id="{82BFB155-7EDD-7691-228F-77E9F6419112}"/>
              </a:ext>
            </a:extLst>
          </p:cNvPr>
          <p:cNvCxnSpPr>
            <a:cxnSpLocks/>
          </p:cNvCxnSpPr>
          <p:nvPr userDrawn="1"/>
        </p:nvCxnSpPr>
        <p:spPr>
          <a:xfrm>
            <a:off x="0" y="890197"/>
            <a:ext cx="9144000" cy="0"/>
          </a:xfrm>
          <a:prstGeom prst="line">
            <a:avLst/>
          </a:prstGeom>
          <a:ln w="38100">
            <a:solidFill>
              <a:schemeClr val="accent4">
                <a:lumMod val="50000"/>
              </a:schemeClr>
            </a:solidFill>
          </a:ln>
        </p:spPr>
        <p:style>
          <a:lnRef idx="2">
            <a:schemeClr val="accent1"/>
          </a:lnRef>
          <a:fillRef idx="0">
            <a:schemeClr val="accent1"/>
          </a:fillRef>
          <a:effectRef idx="1">
            <a:schemeClr val="accent1"/>
          </a:effectRef>
          <a:fontRef idx="minor">
            <a:schemeClr val="tx1"/>
          </a:fontRef>
        </p:style>
      </p:cxnSp>
      <p:sp>
        <p:nvSpPr>
          <p:cNvPr id="7" name="Content Placeholder 2">
            <a:extLst>
              <a:ext uri="{FF2B5EF4-FFF2-40B4-BE49-F238E27FC236}">
                <a16:creationId xmlns:a16="http://schemas.microsoft.com/office/drawing/2014/main" id="{14EA3819-5723-6670-0020-3556E7C455AB}"/>
              </a:ext>
            </a:extLst>
          </p:cNvPr>
          <p:cNvSpPr>
            <a:spLocks noGrp="1"/>
          </p:cNvSpPr>
          <p:nvPr>
            <p:ph idx="13"/>
          </p:nvPr>
        </p:nvSpPr>
        <p:spPr>
          <a:xfrm>
            <a:off x="628650" y="1658489"/>
            <a:ext cx="7886700" cy="1954500"/>
          </a:xfrm>
          <a:noFill/>
        </p:spPr>
        <p:txBody>
          <a:bodyPr/>
          <a:lstStyle>
            <a:lvl1pPr>
              <a:defRPr b="0" i="0" baseline="0">
                <a:latin typeface="Helvetica" pitchFamily="2" charset="0"/>
                <a:ea typeface="Hiragino Sans W4" panose="020B0400000000000000" pitchFamily="34" charset="-128"/>
              </a:defRPr>
            </a:lvl1pPr>
            <a:lvl2pPr>
              <a:defRPr b="0" i="0" baseline="0">
                <a:latin typeface="Helvetica" pitchFamily="2" charset="0"/>
                <a:ea typeface="Hiragino Sans W4" panose="020B0400000000000000" pitchFamily="34" charset="-128"/>
              </a:defRPr>
            </a:lvl2pPr>
            <a:lvl3pPr>
              <a:defRPr b="0" i="0" baseline="0">
                <a:latin typeface="Helvetica" pitchFamily="2" charset="0"/>
                <a:ea typeface="Hiragino Sans W4" panose="020B0400000000000000" pitchFamily="34" charset="-128"/>
              </a:defRPr>
            </a:lvl3pPr>
            <a:lvl4pPr>
              <a:defRPr b="0" i="0" baseline="0">
                <a:latin typeface="Helvetica" pitchFamily="2" charset="0"/>
                <a:ea typeface="Hiragino Sans W4" panose="020B0400000000000000" pitchFamily="34" charset="-128"/>
              </a:defRPr>
            </a:lvl4pPr>
            <a:lvl5pPr>
              <a:defRPr b="0" i="0" baseline="0">
                <a:latin typeface="Helvetica" pitchFamily="2" charset="0"/>
                <a:ea typeface="Hiragino Sans W4" panose="020B0400000000000000"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Tree>
    <p:extLst>
      <p:ext uri="{BB962C8B-B14F-4D97-AF65-F5344CB8AC3E}">
        <p14:creationId xmlns:p14="http://schemas.microsoft.com/office/powerpoint/2010/main" val="3870843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40846044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1439116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7" name="Date Placeholder 6"/>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52393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28508778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5201945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4116070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3999720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3658423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10"/>
          </p:nvPr>
        </p:nvSpPr>
        <p:spPr/>
        <p:txBody>
          <a:bodyPr/>
          <a:lstStyle/>
          <a:p>
            <a:fld id="{32394990-A274-8E4A-90A0-60225761FA15}" type="datetimeFigureOut">
              <a:rPr kumimoji="1" lang="ja-JP" altLang="en-US" smtClean="0"/>
              <a:t>2026/6/20</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A500AC58-3283-5748-9D35-E5F45705EE4F}" type="slidenum">
              <a:rPr kumimoji="1" lang="ja-JP" altLang="en-US" smtClean="0"/>
              <a:t>‹#›</a:t>
            </a:fld>
            <a:endParaRPr kumimoji="1" lang="ja-JP" altLang="en-US"/>
          </a:p>
        </p:txBody>
      </p:sp>
    </p:spTree>
    <p:extLst>
      <p:ext uri="{BB962C8B-B14F-4D97-AF65-F5344CB8AC3E}">
        <p14:creationId xmlns:p14="http://schemas.microsoft.com/office/powerpoint/2010/main" val="2162279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baseline="0">
                <a:solidFill>
                  <a:schemeClr val="tx1">
                    <a:tint val="82000"/>
                  </a:schemeClr>
                </a:solidFill>
                <a:latin typeface="Arial" panose="020B0604020202020204" pitchFamily="34" charset="0"/>
                <a:ea typeface="ＭＳ ゴシック" panose="020B0609070205080204" pitchFamily="49" charset="-128"/>
              </a:defRPr>
            </a:lvl1pPr>
          </a:lstStyle>
          <a:p>
            <a:fld id="{32394990-A274-8E4A-90A0-60225761FA15}" type="datetimeFigureOut">
              <a:rPr kumimoji="1" lang="ja-JP" altLang="en-US" smtClean="0"/>
              <a:pPr/>
              <a:t>2026/6/20</a:t>
            </a:fld>
            <a:endParaRPr kumimoji="1" lang="ja-JP"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baseline="0">
                <a:solidFill>
                  <a:schemeClr val="tx1">
                    <a:tint val="82000"/>
                  </a:schemeClr>
                </a:solidFill>
                <a:latin typeface="Arial" panose="020B0604020202020204" pitchFamily="34" charset="0"/>
                <a:ea typeface="ＭＳ ゴシック" panose="020B0609070205080204" pitchFamily="49" charset="-128"/>
              </a:defRPr>
            </a:lvl1pPr>
          </a:lstStyle>
          <a:p>
            <a:endParaRPr kumimoji="1" lang="ja-JP"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baseline="0">
                <a:solidFill>
                  <a:schemeClr val="tx1">
                    <a:tint val="82000"/>
                  </a:schemeClr>
                </a:solidFill>
                <a:latin typeface="Arial" panose="020B0604020202020204" pitchFamily="34" charset="0"/>
                <a:ea typeface="ＭＳ ゴシック" panose="020B0609070205080204" pitchFamily="49" charset="-128"/>
              </a:defRPr>
            </a:lvl1pPr>
          </a:lstStyle>
          <a:p>
            <a:fld id="{A500AC58-3283-5748-9D35-E5F45705EE4F}" type="slidenum">
              <a:rPr kumimoji="1" lang="ja-JP" altLang="en-US" smtClean="0"/>
              <a:pPr/>
              <a:t>‹#›</a:t>
            </a:fld>
            <a:endParaRPr kumimoji="1" lang="ja-JP" altLang="en-US"/>
          </a:p>
        </p:txBody>
      </p:sp>
    </p:spTree>
    <p:extLst>
      <p:ext uri="{BB962C8B-B14F-4D97-AF65-F5344CB8AC3E}">
        <p14:creationId xmlns:p14="http://schemas.microsoft.com/office/powerpoint/2010/main" val="14188732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baseline="0">
          <a:solidFill>
            <a:schemeClr val="tx1"/>
          </a:solidFill>
          <a:latin typeface="Arial" panose="020B0604020202020204" pitchFamily="34" charset="0"/>
          <a:ea typeface="ＭＳ ゴシック" panose="020B0609070205080204" pitchFamily="49" charset="-128"/>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baseline="0">
          <a:solidFill>
            <a:schemeClr val="tx1"/>
          </a:solidFill>
          <a:latin typeface="Arial" panose="020B0604020202020204" pitchFamily="34" charset="0"/>
          <a:ea typeface="ＭＳ ゴシック" panose="020B0609070205080204" pitchFamily="49"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baseline="0">
          <a:solidFill>
            <a:schemeClr val="tx1"/>
          </a:solidFill>
          <a:latin typeface="Arial" panose="020B0604020202020204" pitchFamily="34" charset="0"/>
          <a:ea typeface="ＭＳ ゴシック" panose="020B0609070205080204" pitchFamily="49"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baseline="0">
          <a:solidFill>
            <a:schemeClr val="tx1"/>
          </a:solidFill>
          <a:latin typeface="Arial" panose="020B0604020202020204" pitchFamily="34" charset="0"/>
          <a:ea typeface="ＭＳ ゴシック" panose="020B0609070205080204" pitchFamily="49"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ＭＳ ゴシック" panose="020B0609070205080204" pitchFamily="49"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baseline="0">
          <a:solidFill>
            <a:schemeClr val="tx1"/>
          </a:solidFill>
          <a:latin typeface="Arial" panose="020B0604020202020204" pitchFamily="34" charset="0"/>
          <a:ea typeface="ＭＳ ゴシック" panose="020B0609070205080204" pitchFamily="49"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B3A897-C947-CA14-2AC4-FC2D3FAE4091}"/>
              </a:ext>
            </a:extLst>
          </p:cNvPr>
          <p:cNvSpPr>
            <a:spLocks noGrp="1"/>
          </p:cNvSpPr>
          <p:nvPr>
            <p:ph type="ctrTitle"/>
          </p:nvPr>
        </p:nvSpPr>
        <p:spPr/>
        <p:txBody>
          <a:bodyPr/>
          <a:lstStyle/>
          <a:p>
            <a:r>
              <a:rPr lang="en" altLang="ja-JP" b="1" dirty="0">
                <a:latin typeface="Helvetica" pitchFamily="2" charset="0"/>
                <a:ea typeface="Hiragino Sans W6" panose="020B0400000000000000" pitchFamily="34" charset="-128"/>
              </a:rPr>
              <a:t>Python Seminar #5</a:t>
            </a:r>
            <a:endParaRPr kumimoji="1" lang="ja-JP" altLang="en-US" b="1">
              <a:latin typeface="Helvetica" pitchFamily="2" charset="0"/>
              <a:ea typeface="Hiragino Sans W6" panose="020B0400000000000000" pitchFamily="34" charset="-128"/>
            </a:endParaRPr>
          </a:p>
        </p:txBody>
      </p:sp>
      <p:sp>
        <p:nvSpPr>
          <p:cNvPr id="3" name="字幕 2">
            <a:extLst>
              <a:ext uri="{FF2B5EF4-FFF2-40B4-BE49-F238E27FC236}">
                <a16:creationId xmlns:a16="http://schemas.microsoft.com/office/drawing/2014/main" id="{CDD90598-9D1F-5783-7ACC-1CAE9F09609B}"/>
              </a:ext>
            </a:extLst>
          </p:cNvPr>
          <p:cNvSpPr>
            <a:spLocks noGrp="1"/>
          </p:cNvSpPr>
          <p:nvPr>
            <p:ph type="subTitle" idx="1"/>
          </p:nvPr>
        </p:nvSpPr>
        <p:spPr/>
        <p:txBody>
          <a:bodyPr/>
          <a:lstStyle/>
          <a:p>
            <a:r>
              <a:rPr lang="en-US" altLang="ja-JP" dirty="0"/>
              <a:t>M1_KazumaFujii</a:t>
            </a:r>
            <a:endParaRPr kumimoji="1" lang="ja-JP" altLang="en-US"/>
          </a:p>
        </p:txBody>
      </p:sp>
    </p:spTree>
    <p:extLst>
      <p:ext uri="{BB962C8B-B14F-4D97-AF65-F5344CB8AC3E}">
        <p14:creationId xmlns:p14="http://schemas.microsoft.com/office/powerpoint/2010/main" val="3071912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15996C-4DAD-0037-7AEB-2307D2A39713}"/>
              </a:ext>
            </a:extLst>
          </p:cNvPr>
          <p:cNvSpPr>
            <a:spLocks noGrp="1"/>
          </p:cNvSpPr>
          <p:nvPr>
            <p:ph type="title"/>
          </p:nvPr>
        </p:nvSpPr>
        <p:spPr/>
        <p:txBody>
          <a:bodyPr>
            <a:normAutofit/>
          </a:bodyPr>
          <a:lstStyle/>
          <a:p>
            <a:r>
              <a:rPr kumimoji="1" lang="en-US" altLang="ja-JP" dirty="0">
                <a:latin typeface="Helvetica" pitchFamily="2" charset="0"/>
              </a:rPr>
              <a:t>Topics</a:t>
            </a:r>
            <a:endParaRPr kumimoji="1" lang="ja-JP" altLang="en-US">
              <a:latin typeface="Helvetica" pitchFamily="2" charset="0"/>
            </a:endParaRPr>
          </a:p>
        </p:txBody>
      </p:sp>
      <p:sp>
        <p:nvSpPr>
          <p:cNvPr id="8" name="コンテンツ プレースホルダー 7">
            <a:extLst>
              <a:ext uri="{FF2B5EF4-FFF2-40B4-BE49-F238E27FC236}">
                <a16:creationId xmlns:a16="http://schemas.microsoft.com/office/drawing/2014/main" id="{DFF9CF79-D86C-CC25-9193-483EB62208D2}"/>
              </a:ext>
            </a:extLst>
          </p:cNvPr>
          <p:cNvSpPr>
            <a:spLocks noGrp="1"/>
          </p:cNvSpPr>
          <p:nvPr>
            <p:ph idx="1"/>
          </p:nvPr>
        </p:nvSpPr>
        <p:spPr>
          <a:xfrm>
            <a:off x="330505" y="1048018"/>
            <a:ext cx="8394853" cy="5044310"/>
          </a:xfrm>
          <a:solidFill>
            <a:schemeClr val="bg2">
              <a:alpha val="65669"/>
            </a:schemeClr>
          </a:solidFill>
        </p:spPr>
        <p:txBody>
          <a:bodyPr/>
          <a:lstStyle/>
          <a:p>
            <a:pPr marL="0" indent="0">
              <a:buNone/>
            </a:pPr>
            <a:r>
              <a:rPr lang="en-US" altLang="ja-JP" b="1" dirty="0"/>
              <a:t>1. What is </a:t>
            </a:r>
            <a:r>
              <a:rPr lang="en-US" altLang="ja-JP" sz="3200" b="1" i="1" dirty="0"/>
              <a:t>Classification</a:t>
            </a:r>
          </a:p>
          <a:p>
            <a:pPr marL="0" indent="0">
              <a:buNone/>
            </a:pPr>
            <a:r>
              <a:rPr lang="en-US" altLang="ja-JP" b="1" dirty="0"/>
              <a:t>2. Principles and Characteristics </a:t>
            </a:r>
          </a:p>
          <a:p>
            <a:pPr marL="0" indent="0">
              <a:buNone/>
            </a:pPr>
            <a:r>
              <a:rPr lang="en-US" altLang="ja-JP" b="1" dirty="0"/>
              <a:t>     </a:t>
            </a:r>
            <a:r>
              <a:rPr lang="ja-JP" altLang="en-US" b="1"/>
              <a:t>・</a:t>
            </a:r>
            <a:r>
              <a:rPr lang="en-US" altLang="ja-JP" sz="3200" b="1" i="1" dirty="0"/>
              <a:t>k-NN</a:t>
            </a:r>
            <a:r>
              <a:rPr lang="en-US" altLang="ja-JP" b="1" dirty="0"/>
              <a:t> </a:t>
            </a:r>
          </a:p>
          <a:p>
            <a:pPr marL="0" indent="0">
              <a:buNone/>
            </a:pPr>
            <a:r>
              <a:rPr lang="en-US" altLang="ja-JP" b="1" dirty="0"/>
              <a:t>     </a:t>
            </a:r>
            <a:r>
              <a:rPr lang="ja-JP" altLang="en-US" b="1"/>
              <a:t>・</a:t>
            </a:r>
            <a:r>
              <a:rPr lang="en-US" altLang="ja-JP" sz="3200" b="1" i="1" dirty="0"/>
              <a:t>Random Forest</a:t>
            </a:r>
          </a:p>
          <a:p>
            <a:pPr marL="0" indent="0">
              <a:buNone/>
            </a:pPr>
            <a:r>
              <a:rPr lang="en-US" altLang="ja-JP" b="1" dirty="0"/>
              <a:t>3. Evaluation Metrics for Classification Models</a:t>
            </a:r>
          </a:p>
          <a:p>
            <a:pPr marL="0" indent="0">
              <a:buNone/>
            </a:pPr>
            <a:r>
              <a:rPr lang="en-US" altLang="ja-JP" b="1" dirty="0"/>
              <a:t>     </a:t>
            </a:r>
            <a:r>
              <a:rPr lang="ja-JP" altLang="en-US" sz="3200" b="1" i="1"/>
              <a:t>・</a:t>
            </a:r>
            <a:r>
              <a:rPr lang="en" altLang="ja-JP" sz="3200" b="1" i="1" dirty="0"/>
              <a:t>Mixed-order matrix</a:t>
            </a:r>
            <a:r>
              <a:rPr lang="ja-JP" altLang="en-US" sz="3200" b="1" i="1"/>
              <a:t>　・</a:t>
            </a:r>
            <a:r>
              <a:rPr lang="en-US" altLang="ja-JP" sz="3200" b="1" i="1" dirty="0"/>
              <a:t>Accuracy</a:t>
            </a:r>
          </a:p>
          <a:p>
            <a:pPr marL="0" indent="0">
              <a:buNone/>
            </a:pPr>
            <a:r>
              <a:rPr lang="en-US" altLang="ja-JP" sz="3200" b="1" i="1" dirty="0"/>
              <a:t>     </a:t>
            </a:r>
            <a:r>
              <a:rPr lang="ja-JP" altLang="en-US" sz="3200" b="1" i="1"/>
              <a:t>・</a:t>
            </a:r>
            <a:r>
              <a:rPr lang="en-US" altLang="ja-JP" sz="3200" b="1" i="1" dirty="0"/>
              <a:t>Precision </a:t>
            </a:r>
            <a:r>
              <a:rPr lang="ja-JP" altLang="en-US" sz="3200" b="1" i="1"/>
              <a:t>　・</a:t>
            </a:r>
            <a:r>
              <a:rPr lang="en-US" altLang="ja-JP" sz="3200" b="1" i="1" dirty="0"/>
              <a:t>Recall</a:t>
            </a:r>
            <a:r>
              <a:rPr lang="ja-JP" altLang="en-US" sz="3200" b="1" i="1"/>
              <a:t>　・</a:t>
            </a:r>
            <a:r>
              <a:rPr lang="en-US" altLang="ja-JP" sz="3200" b="1" i="1" dirty="0"/>
              <a:t>F1</a:t>
            </a:r>
            <a:r>
              <a:rPr lang="ja-JP" altLang="en-US" sz="3200" b="1" i="1"/>
              <a:t> </a:t>
            </a:r>
            <a:r>
              <a:rPr lang="en-US" altLang="ja-JP" sz="3200" b="1" i="1" dirty="0"/>
              <a:t>score</a:t>
            </a:r>
          </a:p>
          <a:p>
            <a:pPr marL="0" indent="0">
              <a:buNone/>
            </a:pPr>
            <a:r>
              <a:rPr lang="en-US" altLang="ja-JP" sz="3200" b="1" i="1" dirty="0"/>
              <a:t>     </a:t>
            </a:r>
            <a:r>
              <a:rPr lang="ja-JP" altLang="en-US" sz="3200" b="1" i="1"/>
              <a:t>・</a:t>
            </a:r>
            <a:r>
              <a:rPr lang="en-US" altLang="ja-JP" sz="3200" b="1" i="1" dirty="0"/>
              <a:t>ROC Curve</a:t>
            </a:r>
            <a:r>
              <a:rPr lang="ja-JP" altLang="en-US" sz="3200" b="1" i="1"/>
              <a:t>　・</a:t>
            </a:r>
            <a:r>
              <a:rPr lang="en-US" altLang="ja-JP" sz="3200" b="1" i="1" dirty="0"/>
              <a:t>PR Curve</a:t>
            </a:r>
          </a:p>
          <a:p>
            <a:pPr marL="0" indent="0">
              <a:buNone/>
            </a:pPr>
            <a:r>
              <a:rPr lang="en-US" altLang="ja-JP" b="1" dirty="0"/>
              <a:t>     </a:t>
            </a:r>
            <a:endParaRPr lang="ja-JP" altLang="en-US" b="1"/>
          </a:p>
        </p:txBody>
      </p:sp>
    </p:spTree>
    <p:extLst>
      <p:ext uri="{BB962C8B-B14F-4D97-AF65-F5344CB8AC3E}">
        <p14:creationId xmlns:p14="http://schemas.microsoft.com/office/powerpoint/2010/main" val="3933568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548A1F-B12C-E1DC-566C-93AB71FE42C9}"/>
              </a:ext>
            </a:extLst>
          </p:cNvPr>
          <p:cNvSpPr>
            <a:spLocks noGrp="1"/>
          </p:cNvSpPr>
          <p:nvPr>
            <p:ph type="title"/>
          </p:nvPr>
        </p:nvSpPr>
        <p:spPr/>
        <p:txBody>
          <a:bodyPr/>
          <a:lstStyle/>
          <a:p>
            <a:r>
              <a:rPr lang="en" altLang="ja-JP" dirty="0">
                <a:latin typeface="Helvetica" pitchFamily="2" charset="0"/>
              </a:rPr>
              <a:t>Classification</a:t>
            </a:r>
            <a:endParaRPr kumimoji="1" lang="ja-JP" altLang="en-US">
              <a:latin typeface="Helvetica" pitchFamily="2" charset="0"/>
            </a:endParaRPr>
          </a:p>
        </p:txBody>
      </p:sp>
      <p:sp>
        <p:nvSpPr>
          <p:cNvPr id="3" name="コンテンツ プレースホルダー 2">
            <a:extLst>
              <a:ext uri="{FF2B5EF4-FFF2-40B4-BE49-F238E27FC236}">
                <a16:creationId xmlns:a16="http://schemas.microsoft.com/office/drawing/2014/main" id="{2B2600F6-F70A-48B9-E39B-ECD8146D3D1D}"/>
              </a:ext>
            </a:extLst>
          </p:cNvPr>
          <p:cNvSpPr>
            <a:spLocks noGrp="1"/>
          </p:cNvSpPr>
          <p:nvPr>
            <p:ph idx="1"/>
          </p:nvPr>
        </p:nvSpPr>
        <p:spPr>
          <a:xfrm>
            <a:off x="240632" y="4876014"/>
            <a:ext cx="8815137" cy="1528688"/>
          </a:xfrm>
        </p:spPr>
        <p:txBody>
          <a:bodyPr/>
          <a:lstStyle/>
          <a:p>
            <a:pPr marL="0" indent="0">
              <a:buNone/>
            </a:pPr>
            <a:r>
              <a:rPr lang="en" altLang="ja-JP" b="1" dirty="0"/>
              <a:t>The output is a continuous number : </a:t>
            </a:r>
            <a:r>
              <a:rPr lang="en" altLang="ja-JP" b="1" dirty="0">
                <a:highlight>
                  <a:srgbClr val="FFFF00"/>
                </a:highlight>
              </a:rPr>
              <a:t>Regression</a:t>
            </a:r>
          </a:p>
          <a:p>
            <a:pPr marL="0" indent="0">
              <a:buNone/>
            </a:pPr>
            <a:r>
              <a:rPr lang="en" altLang="ja-JP" sz="3200" b="1" dirty="0"/>
              <a:t>Discontinuity or Category: </a:t>
            </a:r>
            <a:r>
              <a:rPr lang="en" altLang="ja-JP" sz="3200" b="1" dirty="0">
                <a:highlight>
                  <a:srgbClr val="FFFF00"/>
                </a:highlight>
              </a:rPr>
              <a:t>Classification</a:t>
            </a:r>
          </a:p>
          <a:p>
            <a:pPr marL="0" indent="0">
              <a:buNone/>
            </a:pPr>
            <a:r>
              <a:rPr lang="en" altLang="ja-JP" sz="2000" b="1" dirty="0"/>
              <a:t>e</a:t>
            </a:r>
            <a:r>
              <a:rPr kumimoji="1" lang="en" altLang="ja-JP" sz="2000" b="1" dirty="0"/>
              <a:t>.g</a:t>
            </a:r>
            <a:r>
              <a:rPr lang="en" altLang="ja-JP" sz="2000" b="1" dirty="0"/>
              <a:t>. Identifying Spam Emails, Dog or Cat Photos </a:t>
            </a:r>
            <a:endParaRPr kumimoji="1" lang="ja-JP" altLang="en-US" sz="2000" b="1"/>
          </a:p>
        </p:txBody>
      </p:sp>
      <p:sp>
        <p:nvSpPr>
          <p:cNvPr id="4" name="テキスト ボックス 3">
            <a:extLst>
              <a:ext uri="{FF2B5EF4-FFF2-40B4-BE49-F238E27FC236}">
                <a16:creationId xmlns:a16="http://schemas.microsoft.com/office/drawing/2014/main" id="{ED311C6C-9C03-501E-7A94-37280FA226B7}"/>
              </a:ext>
            </a:extLst>
          </p:cNvPr>
          <p:cNvSpPr txBox="1"/>
          <p:nvPr/>
        </p:nvSpPr>
        <p:spPr>
          <a:xfrm>
            <a:off x="4329411" y="2109941"/>
            <a:ext cx="184731" cy="523220"/>
          </a:xfrm>
          <a:prstGeom prst="rect">
            <a:avLst/>
          </a:prstGeom>
          <a:noFill/>
        </p:spPr>
        <p:txBody>
          <a:bodyPr wrap="square" rtlCol="0">
            <a:spAutoFit/>
          </a:bodyPr>
          <a:lstStyle/>
          <a:p>
            <a:endParaRPr kumimoji="1" lang="ja-JP" altLang="en-US" sz="2800"/>
          </a:p>
        </p:txBody>
      </p:sp>
      <p:sp>
        <p:nvSpPr>
          <p:cNvPr id="5" name="テキスト ボックス 4">
            <a:extLst>
              <a:ext uri="{FF2B5EF4-FFF2-40B4-BE49-F238E27FC236}">
                <a16:creationId xmlns:a16="http://schemas.microsoft.com/office/drawing/2014/main" id="{93F0884B-604D-10DD-2AB3-21C29BED439E}"/>
              </a:ext>
            </a:extLst>
          </p:cNvPr>
          <p:cNvSpPr txBox="1"/>
          <p:nvPr/>
        </p:nvSpPr>
        <p:spPr>
          <a:xfrm>
            <a:off x="1470113" y="1405721"/>
            <a:ext cx="1116164" cy="523220"/>
          </a:xfrm>
          <a:prstGeom prst="rect">
            <a:avLst/>
          </a:prstGeom>
          <a:noFill/>
        </p:spPr>
        <p:txBody>
          <a:bodyPr wrap="square" rtlCol="0">
            <a:spAutoFit/>
          </a:bodyPr>
          <a:lstStyle/>
          <a:p>
            <a:r>
              <a:rPr kumimoji="1" lang="en" altLang="ja-JP" sz="2800" b="1" dirty="0">
                <a:latin typeface="Helvetica" pitchFamily="2" charset="0"/>
              </a:rPr>
              <a:t>Input</a:t>
            </a:r>
            <a:endParaRPr kumimoji="1" lang="ja-JP" altLang="en-US" sz="2800" b="1">
              <a:latin typeface="Helvetica" pitchFamily="2" charset="0"/>
            </a:endParaRPr>
          </a:p>
        </p:txBody>
      </p:sp>
      <p:sp>
        <p:nvSpPr>
          <p:cNvPr id="6" name="テキスト ボックス 5">
            <a:extLst>
              <a:ext uri="{FF2B5EF4-FFF2-40B4-BE49-F238E27FC236}">
                <a16:creationId xmlns:a16="http://schemas.microsoft.com/office/drawing/2014/main" id="{05A4A067-CFB7-F75A-9F42-65E630926B22}"/>
              </a:ext>
            </a:extLst>
          </p:cNvPr>
          <p:cNvSpPr txBox="1"/>
          <p:nvPr/>
        </p:nvSpPr>
        <p:spPr>
          <a:xfrm>
            <a:off x="5989600" y="142366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
        <p:nvSpPr>
          <p:cNvPr id="7" name="右矢印 6">
            <a:extLst>
              <a:ext uri="{FF2B5EF4-FFF2-40B4-BE49-F238E27FC236}">
                <a16:creationId xmlns:a16="http://schemas.microsoft.com/office/drawing/2014/main" id="{E9C835FC-1AC3-7961-17B3-4C6AF6AE009C}"/>
              </a:ext>
            </a:extLst>
          </p:cNvPr>
          <p:cNvSpPr/>
          <p:nvPr/>
        </p:nvSpPr>
        <p:spPr>
          <a:xfrm>
            <a:off x="2734887" y="1353086"/>
            <a:ext cx="3254713" cy="589134"/>
          </a:xfrm>
          <a:prstGeom prst="rightArrow">
            <a:avLst/>
          </a:prstGeom>
          <a:solidFill>
            <a:srgbClr val="FF0000"/>
          </a:solidFill>
        </p:spPr>
        <p:style>
          <a:lnRef idx="3">
            <a:schemeClr val="lt1"/>
          </a:lnRef>
          <a:fillRef idx="1">
            <a:schemeClr val="dk1"/>
          </a:fillRef>
          <a:effectRef idx="1">
            <a:schemeClr val="dk1"/>
          </a:effectRef>
          <a:fontRef idx="minor">
            <a:schemeClr val="lt1"/>
          </a:fontRef>
        </p:style>
        <p:txBody>
          <a:bodyPr rtlCol="0" anchor="ctr"/>
          <a:lstStyle/>
          <a:p>
            <a:pPr algn="ctr"/>
            <a:endParaRPr kumimoji="1" lang="ja-JP" altLang="en-US" sz="2400"/>
          </a:p>
        </p:txBody>
      </p:sp>
      <p:sp>
        <p:nvSpPr>
          <p:cNvPr id="8" name="テキスト ボックス 7">
            <a:extLst>
              <a:ext uri="{FF2B5EF4-FFF2-40B4-BE49-F238E27FC236}">
                <a16:creationId xmlns:a16="http://schemas.microsoft.com/office/drawing/2014/main" id="{0DF083BD-B6A2-68A2-E697-51D8D426D1CF}"/>
              </a:ext>
            </a:extLst>
          </p:cNvPr>
          <p:cNvSpPr txBox="1"/>
          <p:nvPr/>
        </p:nvSpPr>
        <p:spPr>
          <a:xfrm>
            <a:off x="3277612" y="1067152"/>
            <a:ext cx="2288328" cy="954107"/>
          </a:xfrm>
          <a:prstGeom prst="rect">
            <a:avLst/>
          </a:prstGeom>
          <a:solidFill>
            <a:schemeClr val="tx2">
              <a:lumMod val="90000"/>
              <a:lumOff val="10000"/>
            </a:schemeClr>
          </a:solidFill>
        </p:spPr>
        <p:txBody>
          <a:bodyPr wrap="square" rtlCol="0">
            <a:spAutoFit/>
          </a:bodyPr>
          <a:lstStyle/>
          <a:p>
            <a:pPr algn="ctr"/>
            <a:r>
              <a:rPr kumimoji="1" lang="en" altLang="ja-JP" sz="2800" b="1" dirty="0">
                <a:solidFill>
                  <a:schemeClr val="bg1"/>
                </a:solidFill>
                <a:latin typeface="Helvetica" pitchFamily="2" charset="0"/>
              </a:rPr>
              <a:t>Learning Correlations</a:t>
            </a:r>
            <a:endParaRPr kumimoji="1" lang="ja-JP" altLang="en-US" sz="2800" b="1">
              <a:solidFill>
                <a:schemeClr val="bg1"/>
              </a:solidFill>
              <a:latin typeface="Helvetica" pitchFamily="2" charset="0"/>
            </a:endParaRPr>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480C0D7F-6251-D37A-CE5E-98585A1735B4}"/>
                  </a:ext>
                </a:extLst>
              </p:cNvPr>
              <p:cNvSpPr txBox="1"/>
              <p:nvPr/>
            </p:nvSpPr>
            <p:spPr>
              <a:xfrm>
                <a:off x="1605138" y="2057300"/>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,1</m:t>
                              </m:r>
                            </m:sub>
                          </m:sSub>
                        </m:e>
                      </m:d>
                    </m:oMath>
                  </m:oMathPara>
                </a14:m>
                <a:endParaRPr kumimoji="1" lang="ja-JP" altLang="en-US" sz="2800"/>
              </a:p>
            </p:txBody>
          </p:sp>
        </mc:Choice>
        <mc:Fallback>
          <p:sp>
            <p:nvSpPr>
              <p:cNvPr id="10" name="テキスト ボックス 9">
                <a:extLst>
                  <a:ext uri="{FF2B5EF4-FFF2-40B4-BE49-F238E27FC236}">
                    <a16:creationId xmlns:a16="http://schemas.microsoft.com/office/drawing/2014/main" id="{480C0D7F-6251-D37A-CE5E-98585A1735B4}"/>
                  </a:ext>
                </a:extLst>
              </p:cNvPr>
              <p:cNvSpPr txBox="1">
                <a:spLocks noRot="1" noChangeAspect="1" noMove="1" noResize="1" noEditPoints="1" noAdjustHandles="1" noChangeArrowheads="1" noChangeShapeType="1" noTextEdit="1"/>
              </p:cNvSpPr>
              <p:nvPr/>
            </p:nvSpPr>
            <p:spPr>
              <a:xfrm>
                <a:off x="1605138" y="2057300"/>
                <a:ext cx="2071657" cy="486352"/>
              </a:xfrm>
              <a:prstGeom prst="rect">
                <a:avLst/>
              </a:prstGeom>
              <a:blipFill>
                <a:blip r:embed="rId3"/>
                <a:stretch>
                  <a:fillRect r="-7927" b="-75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56CA1D7B-22DE-8B94-E3B1-FA27051B3BEA}"/>
                  </a:ext>
                </a:extLst>
              </p:cNvPr>
              <p:cNvSpPr txBox="1"/>
              <p:nvPr/>
            </p:nvSpPr>
            <p:spPr>
              <a:xfrm>
                <a:off x="1605138" y="2559055"/>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e>
                      </m:d>
                    </m:oMath>
                  </m:oMathPara>
                </a14:m>
                <a:endParaRPr kumimoji="1" lang="ja-JP" altLang="en-US" sz="2800"/>
              </a:p>
            </p:txBody>
          </p:sp>
        </mc:Choice>
        <mc:Fallback>
          <p:sp>
            <p:nvSpPr>
              <p:cNvPr id="11" name="テキスト ボックス 10">
                <a:extLst>
                  <a:ext uri="{FF2B5EF4-FFF2-40B4-BE49-F238E27FC236}">
                    <a16:creationId xmlns:a16="http://schemas.microsoft.com/office/drawing/2014/main" id="{56CA1D7B-22DE-8B94-E3B1-FA27051B3BEA}"/>
                  </a:ext>
                </a:extLst>
              </p:cNvPr>
              <p:cNvSpPr txBox="1">
                <a:spLocks noRot="1" noChangeAspect="1" noMove="1" noResize="1" noEditPoints="1" noAdjustHandles="1" noChangeArrowheads="1" noChangeShapeType="1" noTextEdit="1"/>
              </p:cNvSpPr>
              <p:nvPr/>
            </p:nvSpPr>
            <p:spPr>
              <a:xfrm>
                <a:off x="1605138" y="2559055"/>
                <a:ext cx="2071657" cy="486352"/>
              </a:xfrm>
              <a:prstGeom prst="rect">
                <a:avLst/>
              </a:prstGeom>
              <a:blipFill>
                <a:blip r:embed="rId4"/>
                <a:stretch>
                  <a:fillRect r="-7927" b="-50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テキスト ボックス 11">
                <a:extLst>
                  <a:ext uri="{FF2B5EF4-FFF2-40B4-BE49-F238E27FC236}">
                    <a16:creationId xmlns:a16="http://schemas.microsoft.com/office/drawing/2014/main" id="{6AE7187E-A929-80FC-6FCA-51DB0BB34102}"/>
                  </a:ext>
                </a:extLst>
              </p:cNvPr>
              <p:cNvSpPr txBox="1"/>
              <p:nvPr/>
            </p:nvSpPr>
            <p:spPr>
              <a:xfrm>
                <a:off x="1605138" y="4200025"/>
                <a:ext cx="2105320"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e>
                      </m:d>
                    </m:oMath>
                  </m:oMathPara>
                </a14:m>
                <a:endParaRPr kumimoji="1" lang="ja-JP" altLang="en-US" sz="2800"/>
              </a:p>
            </p:txBody>
          </p:sp>
        </mc:Choice>
        <mc:Fallback>
          <p:sp>
            <p:nvSpPr>
              <p:cNvPr id="12" name="テキスト ボックス 11">
                <a:extLst>
                  <a:ext uri="{FF2B5EF4-FFF2-40B4-BE49-F238E27FC236}">
                    <a16:creationId xmlns:a16="http://schemas.microsoft.com/office/drawing/2014/main" id="{6AE7187E-A929-80FC-6FCA-51DB0BB34102}"/>
                  </a:ext>
                </a:extLst>
              </p:cNvPr>
              <p:cNvSpPr txBox="1">
                <a:spLocks noRot="1" noChangeAspect="1" noMove="1" noResize="1" noEditPoints="1" noAdjustHandles="1" noChangeArrowheads="1" noChangeShapeType="1" noTextEdit="1"/>
              </p:cNvSpPr>
              <p:nvPr/>
            </p:nvSpPr>
            <p:spPr>
              <a:xfrm>
                <a:off x="1605138" y="4200025"/>
                <a:ext cx="2105320" cy="486352"/>
              </a:xfrm>
              <a:prstGeom prst="rect">
                <a:avLst/>
              </a:prstGeom>
              <a:blipFill>
                <a:blip r:embed="rId5"/>
                <a:stretch>
                  <a:fillRect r="-9581" b="-5000"/>
                </a:stretch>
              </a:blipFill>
            </p:spPr>
            <p:txBody>
              <a:bodyPr/>
              <a:lstStyle/>
              <a:p>
                <a:r>
                  <a:rPr lang="ja-JP" altLang="en-US">
                    <a:noFill/>
                  </a:rPr>
                  <a:t> </a:t>
                </a:r>
              </a:p>
            </p:txBody>
          </p:sp>
        </mc:Fallback>
      </mc:AlternateContent>
      <p:sp>
        <p:nvSpPr>
          <p:cNvPr id="13" name="下カーブ矢印 12">
            <a:extLst>
              <a:ext uri="{FF2B5EF4-FFF2-40B4-BE49-F238E27FC236}">
                <a16:creationId xmlns:a16="http://schemas.microsoft.com/office/drawing/2014/main" id="{73026B4D-F0FA-32AC-EB6B-EA37F0386FD5}"/>
              </a:ext>
            </a:extLst>
          </p:cNvPr>
          <p:cNvSpPr/>
          <p:nvPr/>
        </p:nvSpPr>
        <p:spPr>
          <a:xfrm>
            <a:off x="3150824" y="3110413"/>
            <a:ext cx="2842351" cy="504368"/>
          </a:xfrm>
          <a:prstGeom prst="curved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sp>
        <p:nvSpPr>
          <p:cNvPr id="14" name="テキスト ボックス 13">
            <a:extLst>
              <a:ext uri="{FF2B5EF4-FFF2-40B4-BE49-F238E27FC236}">
                <a16:creationId xmlns:a16="http://schemas.microsoft.com/office/drawing/2014/main" id="{B33EA8BA-FBA2-8CAD-2B5B-7F492B8B8DE7}"/>
              </a:ext>
            </a:extLst>
          </p:cNvPr>
          <p:cNvSpPr txBox="1"/>
          <p:nvPr/>
        </p:nvSpPr>
        <p:spPr>
          <a:xfrm>
            <a:off x="1470113" y="3623358"/>
            <a:ext cx="2719501" cy="523220"/>
          </a:xfrm>
          <a:prstGeom prst="rect">
            <a:avLst/>
          </a:prstGeom>
          <a:noFill/>
        </p:spPr>
        <p:txBody>
          <a:bodyPr wrap="square" rtlCol="0">
            <a:spAutoFit/>
          </a:bodyPr>
          <a:lstStyle/>
          <a:p>
            <a:r>
              <a:rPr kumimoji="1" lang="en" altLang="ja-JP" sz="2800" b="1" dirty="0" err="1">
                <a:latin typeface="Helvetica" pitchFamily="2" charset="0"/>
              </a:rPr>
              <a:t>Unkown</a:t>
            </a:r>
            <a:r>
              <a:rPr kumimoji="1" lang="ja-JP" altLang="en-US" sz="2800" b="1">
                <a:latin typeface="Helvetica" pitchFamily="2" charset="0"/>
              </a:rPr>
              <a:t> </a:t>
            </a:r>
            <a:r>
              <a:rPr kumimoji="1" lang="en-US" altLang="ja-JP" sz="2800" b="1" dirty="0">
                <a:latin typeface="Helvetica" pitchFamily="2" charset="0"/>
              </a:rPr>
              <a:t>input</a:t>
            </a:r>
            <a:endParaRPr kumimoji="1" lang="ja-JP" altLang="en-US" sz="2800" b="1">
              <a:latin typeface="Helvetica" pitchFamily="2" charset="0"/>
            </a:endParaRPr>
          </a:p>
        </p:txBody>
      </p:sp>
      <mc:AlternateContent xmlns:mc="http://schemas.openxmlformats.org/markup-compatibility/2006">
        <mc:Choice xmlns:a14="http://schemas.microsoft.com/office/drawing/2010/main" Requires="a14">
          <p:sp>
            <p:nvSpPr>
              <p:cNvPr id="15" name="テキスト ボックス 14">
                <a:extLst>
                  <a:ext uri="{FF2B5EF4-FFF2-40B4-BE49-F238E27FC236}">
                    <a16:creationId xmlns:a16="http://schemas.microsoft.com/office/drawing/2014/main" id="{9C8B586A-B974-5716-2A4D-F833FA6DCBB3}"/>
                  </a:ext>
                </a:extLst>
              </p:cNvPr>
              <p:cNvSpPr txBox="1"/>
              <p:nvPr/>
            </p:nvSpPr>
            <p:spPr>
              <a:xfrm>
                <a:off x="6056846" y="2110843"/>
                <a:ext cx="365036"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m:ctrlPr>
                        </m:sSubPr>
                        <m:e>
                          <m:r>
                            <a:rPr lang="en-US" altLang="ja-JP" sz="2800" b="0" i="1"/>
                            <m:t>𝑦</m:t>
                          </m:r>
                        </m:e>
                        <m:sub>
                          <m:r>
                            <a:rPr lang="en-US" altLang="ja-JP" sz="2800" b="0" i="1"/>
                            <m:t>1</m:t>
                          </m:r>
                        </m:sub>
                      </m:sSub>
                    </m:oMath>
                  </m:oMathPara>
                </a14:m>
                <a:endParaRPr lang="ja-JP" altLang="en-US" sz="2800" b="0"/>
              </a:p>
            </p:txBody>
          </p:sp>
        </mc:Choice>
        <mc:Fallback>
          <p:sp>
            <p:nvSpPr>
              <p:cNvPr id="15" name="テキスト ボックス 14">
                <a:extLst>
                  <a:ext uri="{FF2B5EF4-FFF2-40B4-BE49-F238E27FC236}">
                    <a16:creationId xmlns:a16="http://schemas.microsoft.com/office/drawing/2014/main" id="{9C8B586A-B974-5716-2A4D-F833FA6DCBB3}"/>
                  </a:ext>
                </a:extLst>
              </p:cNvPr>
              <p:cNvSpPr txBox="1">
                <a:spLocks noRot="1" noChangeAspect="1" noMove="1" noResize="1" noEditPoints="1" noAdjustHandles="1" noChangeArrowheads="1" noChangeShapeType="1" noTextEdit="1"/>
              </p:cNvSpPr>
              <p:nvPr/>
            </p:nvSpPr>
            <p:spPr>
              <a:xfrm>
                <a:off x="6056846" y="2110843"/>
                <a:ext cx="365036" cy="430887"/>
              </a:xfrm>
              <a:prstGeom prst="rect">
                <a:avLst/>
              </a:prstGeom>
              <a:blipFill>
                <a:blip r:embed="rId6"/>
                <a:stretch>
                  <a:fillRect l="-31034" r="-17241" b="-200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 name="テキスト ボックス 15">
                <a:extLst>
                  <a:ext uri="{FF2B5EF4-FFF2-40B4-BE49-F238E27FC236}">
                    <a16:creationId xmlns:a16="http://schemas.microsoft.com/office/drawing/2014/main" id="{AE3EB779-0331-2508-D9C6-9F2FC1FC0E40}"/>
                  </a:ext>
                </a:extLst>
              </p:cNvPr>
              <p:cNvSpPr txBox="1"/>
              <p:nvPr/>
            </p:nvSpPr>
            <p:spPr>
              <a:xfrm>
                <a:off x="6056846" y="2552507"/>
                <a:ext cx="37696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m:ctrlPr>
                        </m:sSubPr>
                        <m:e>
                          <m:r>
                            <a:rPr lang="en-US" altLang="ja-JP" sz="2800" b="0" i="1"/>
                            <m:t>𝑦</m:t>
                          </m:r>
                        </m:e>
                        <m:sub>
                          <m:r>
                            <a:rPr lang="en-US" altLang="ja-JP" sz="2800" b="0" i="1" smtClean="0"/>
                            <m:t>2</m:t>
                          </m:r>
                        </m:sub>
                      </m:sSub>
                    </m:oMath>
                  </m:oMathPara>
                </a14:m>
                <a:endParaRPr lang="ja-JP" altLang="en-US" sz="2800" b="0"/>
              </a:p>
            </p:txBody>
          </p:sp>
        </mc:Choice>
        <mc:Fallback>
          <p:sp>
            <p:nvSpPr>
              <p:cNvPr id="16" name="テキスト ボックス 15">
                <a:extLst>
                  <a:ext uri="{FF2B5EF4-FFF2-40B4-BE49-F238E27FC236}">
                    <a16:creationId xmlns:a16="http://schemas.microsoft.com/office/drawing/2014/main" id="{AE3EB779-0331-2508-D9C6-9F2FC1FC0E40}"/>
                  </a:ext>
                </a:extLst>
              </p:cNvPr>
              <p:cNvSpPr txBox="1">
                <a:spLocks noRot="1" noChangeAspect="1" noMove="1" noResize="1" noEditPoints="1" noAdjustHandles="1" noChangeArrowheads="1" noChangeShapeType="1" noTextEdit="1"/>
              </p:cNvSpPr>
              <p:nvPr/>
            </p:nvSpPr>
            <p:spPr>
              <a:xfrm>
                <a:off x="6056846" y="2552507"/>
                <a:ext cx="376962" cy="430887"/>
              </a:xfrm>
              <a:prstGeom prst="rect">
                <a:avLst/>
              </a:prstGeom>
              <a:blipFill>
                <a:blip r:embed="rId7"/>
                <a:stretch>
                  <a:fillRect l="-30000" r="-16667" b="-2352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7" name="テキスト ボックス 16">
                <a:extLst>
                  <a:ext uri="{FF2B5EF4-FFF2-40B4-BE49-F238E27FC236}">
                    <a16:creationId xmlns:a16="http://schemas.microsoft.com/office/drawing/2014/main" id="{DD863247-E92C-F77C-2205-519B31F99DC6}"/>
                  </a:ext>
                </a:extLst>
              </p:cNvPr>
              <p:cNvSpPr txBox="1"/>
              <p:nvPr/>
            </p:nvSpPr>
            <p:spPr>
              <a:xfrm>
                <a:off x="6063386" y="4200025"/>
                <a:ext cx="37042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m:ctrlPr>
                        </m:sSubPr>
                        <m:e>
                          <m:r>
                            <a:rPr lang="en-US" altLang="ja-JP" sz="2800" b="0"/>
                            <m:t>𝑦</m:t>
                          </m:r>
                        </m:e>
                        <m:sub>
                          <m:r>
                            <a:rPr lang="en-US" altLang="ja-JP" sz="2800" b="0" i="1" smtClean="0"/>
                            <m:t>𝑛</m:t>
                          </m:r>
                        </m:sub>
                      </m:sSub>
                    </m:oMath>
                  </m:oMathPara>
                </a14:m>
                <a:endParaRPr lang="ja-JP" altLang="en-US" sz="2800" b="0"/>
              </a:p>
            </p:txBody>
          </p:sp>
        </mc:Choice>
        <mc:Fallback>
          <p:sp>
            <p:nvSpPr>
              <p:cNvPr id="17" name="テキスト ボックス 16">
                <a:extLst>
                  <a:ext uri="{FF2B5EF4-FFF2-40B4-BE49-F238E27FC236}">
                    <a16:creationId xmlns:a16="http://schemas.microsoft.com/office/drawing/2014/main" id="{DD863247-E92C-F77C-2205-519B31F99DC6}"/>
                  </a:ext>
                </a:extLst>
              </p:cNvPr>
              <p:cNvSpPr txBox="1">
                <a:spLocks noRot="1" noChangeAspect="1" noMove="1" noResize="1" noEditPoints="1" noAdjustHandles="1" noChangeArrowheads="1" noChangeShapeType="1" noTextEdit="1"/>
              </p:cNvSpPr>
              <p:nvPr/>
            </p:nvSpPr>
            <p:spPr>
              <a:xfrm>
                <a:off x="6063386" y="4200025"/>
                <a:ext cx="370422" cy="430887"/>
              </a:xfrm>
              <a:prstGeom prst="rect">
                <a:avLst/>
              </a:prstGeom>
              <a:blipFill>
                <a:blip r:embed="rId8"/>
                <a:stretch>
                  <a:fillRect l="-30000" r="-10000" b="-22857"/>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B614E244-E4F4-7E65-5FEF-E073962FFB2E}"/>
              </a:ext>
            </a:extLst>
          </p:cNvPr>
          <p:cNvSpPr txBox="1"/>
          <p:nvPr/>
        </p:nvSpPr>
        <p:spPr>
          <a:xfrm>
            <a:off x="5989599" y="3684913"/>
            <a:ext cx="1421169" cy="523220"/>
          </a:xfrm>
          <a:prstGeom prst="rect">
            <a:avLst/>
          </a:prstGeom>
          <a:noFill/>
        </p:spPr>
        <p:txBody>
          <a:bodyPr wrap="square" rtlCol="0">
            <a:spAutoFit/>
          </a:bodyPr>
          <a:lstStyle/>
          <a:p>
            <a:r>
              <a:rPr kumimoji="1" lang="en" altLang="ja-JP" sz="2800" b="1" dirty="0">
                <a:latin typeface="Helvetica" pitchFamily="2" charset="0"/>
              </a:rPr>
              <a:t>Output</a:t>
            </a:r>
            <a:endParaRPr kumimoji="1" lang="ja-JP" altLang="en-US" sz="2800" b="1">
              <a:latin typeface="Helvetica" pitchFamily="2" charset="0"/>
            </a:endParaRPr>
          </a:p>
        </p:txBody>
      </p:sp>
    </p:spTree>
    <p:extLst>
      <p:ext uri="{BB962C8B-B14F-4D97-AF65-F5344CB8AC3E}">
        <p14:creationId xmlns:p14="http://schemas.microsoft.com/office/powerpoint/2010/main" val="1944985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F9A38-F3D2-378B-4004-D41D89D2ECC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204D754-F4E2-5C92-5620-FB2A7DAB9AB4}"/>
              </a:ext>
            </a:extLst>
          </p:cNvPr>
          <p:cNvSpPr>
            <a:spLocks noGrp="1"/>
          </p:cNvSpPr>
          <p:nvPr>
            <p:ph type="title"/>
          </p:nvPr>
        </p:nvSpPr>
        <p:spPr/>
        <p:txBody>
          <a:bodyPr/>
          <a:lstStyle/>
          <a:p>
            <a:r>
              <a:rPr kumimoji="1" lang="ja-JP" altLang="en-US">
                <a:latin typeface="Helvetica" pitchFamily="2" charset="0"/>
              </a:rPr>
              <a:t>分類</a:t>
            </a:r>
          </a:p>
        </p:txBody>
      </p:sp>
      <p:sp>
        <p:nvSpPr>
          <p:cNvPr id="3" name="コンテンツ プレースホルダー 2">
            <a:extLst>
              <a:ext uri="{FF2B5EF4-FFF2-40B4-BE49-F238E27FC236}">
                <a16:creationId xmlns:a16="http://schemas.microsoft.com/office/drawing/2014/main" id="{EDE76558-D620-A592-9482-92B784080EDB}"/>
              </a:ext>
            </a:extLst>
          </p:cNvPr>
          <p:cNvSpPr>
            <a:spLocks noGrp="1"/>
          </p:cNvSpPr>
          <p:nvPr>
            <p:ph idx="1"/>
          </p:nvPr>
        </p:nvSpPr>
        <p:spPr>
          <a:xfrm>
            <a:off x="1605139" y="4909651"/>
            <a:ext cx="5805630" cy="1750455"/>
          </a:xfrm>
        </p:spPr>
        <p:txBody>
          <a:bodyPr>
            <a:normAutofit/>
          </a:bodyPr>
          <a:lstStyle/>
          <a:p>
            <a:pPr marL="0" indent="0">
              <a:buNone/>
            </a:pPr>
            <a:r>
              <a:rPr lang="ja-JP" altLang="en-US" sz="3200" b="1"/>
              <a:t>出力が連続的な値</a:t>
            </a:r>
            <a:r>
              <a:rPr lang="en" altLang="ja-JP" sz="3200" b="1" dirty="0"/>
              <a:t> : </a:t>
            </a:r>
            <a:r>
              <a:rPr lang="ja-JP" altLang="en-US" sz="3200" b="1">
                <a:highlight>
                  <a:srgbClr val="FFFF00"/>
                </a:highlight>
              </a:rPr>
              <a:t>回帰</a:t>
            </a:r>
            <a:endParaRPr lang="en" altLang="ja-JP" sz="3200" b="1" dirty="0">
              <a:highlight>
                <a:srgbClr val="FFFF00"/>
              </a:highlight>
            </a:endParaRPr>
          </a:p>
          <a:p>
            <a:pPr marL="0" indent="0">
              <a:buNone/>
            </a:pPr>
            <a:r>
              <a:rPr lang="ja-JP" altLang="en-US" sz="3600" b="1"/>
              <a:t>不連続</a:t>
            </a:r>
            <a:r>
              <a:rPr lang="en-US" altLang="ja-JP" sz="3600" b="1" dirty="0"/>
              <a:t> or </a:t>
            </a:r>
            <a:r>
              <a:rPr lang="ja-JP" altLang="en-US" sz="3600" b="1"/>
              <a:t>カテゴリ</a:t>
            </a:r>
            <a:r>
              <a:rPr lang="en" altLang="ja-JP" sz="3600" b="1" dirty="0"/>
              <a:t>: </a:t>
            </a:r>
            <a:r>
              <a:rPr lang="ja-JP" altLang="en-US" sz="3600" b="1">
                <a:highlight>
                  <a:srgbClr val="FFFF00"/>
                </a:highlight>
              </a:rPr>
              <a:t>分類</a:t>
            </a:r>
            <a:endParaRPr lang="en" altLang="ja-JP" sz="3600" b="1" dirty="0">
              <a:highlight>
                <a:srgbClr val="FFFF00"/>
              </a:highlight>
            </a:endParaRPr>
          </a:p>
          <a:p>
            <a:pPr marL="0" indent="0">
              <a:buNone/>
            </a:pPr>
            <a:r>
              <a:rPr lang="ja-JP" altLang="en-US" sz="2000" b="1"/>
              <a:t>例：</a:t>
            </a:r>
            <a:r>
              <a:rPr lang="en" altLang="ja-JP" sz="2000" b="1" dirty="0"/>
              <a:t> </a:t>
            </a:r>
            <a:r>
              <a:rPr lang="ja-JP" altLang="en-US" sz="2000" b="1"/>
              <a:t>スパムメールの識別、犬・猫写真の識別</a:t>
            </a:r>
            <a:endParaRPr kumimoji="1" lang="ja-JP" altLang="en-US" sz="2000" b="1"/>
          </a:p>
        </p:txBody>
      </p:sp>
      <p:sp>
        <p:nvSpPr>
          <p:cNvPr id="4" name="テキスト ボックス 3">
            <a:extLst>
              <a:ext uri="{FF2B5EF4-FFF2-40B4-BE49-F238E27FC236}">
                <a16:creationId xmlns:a16="http://schemas.microsoft.com/office/drawing/2014/main" id="{31BBED58-3B13-C54E-12BC-A07D66FF0C20}"/>
              </a:ext>
            </a:extLst>
          </p:cNvPr>
          <p:cNvSpPr txBox="1"/>
          <p:nvPr/>
        </p:nvSpPr>
        <p:spPr>
          <a:xfrm>
            <a:off x="4329411" y="2109941"/>
            <a:ext cx="184731" cy="523220"/>
          </a:xfrm>
          <a:prstGeom prst="rect">
            <a:avLst/>
          </a:prstGeom>
          <a:noFill/>
        </p:spPr>
        <p:txBody>
          <a:bodyPr wrap="square" rtlCol="0">
            <a:spAutoFit/>
          </a:bodyPr>
          <a:lstStyle/>
          <a:p>
            <a:endParaRPr kumimoji="1" lang="ja-JP" altLang="en-US" sz="2800"/>
          </a:p>
        </p:txBody>
      </p:sp>
      <p:sp>
        <p:nvSpPr>
          <p:cNvPr id="5" name="テキスト ボックス 4">
            <a:extLst>
              <a:ext uri="{FF2B5EF4-FFF2-40B4-BE49-F238E27FC236}">
                <a16:creationId xmlns:a16="http://schemas.microsoft.com/office/drawing/2014/main" id="{515C4F7E-7FED-ADD0-BCAC-EC6A751220A8}"/>
              </a:ext>
            </a:extLst>
          </p:cNvPr>
          <p:cNvSpPr txBox="1"/>
          <p:nvPr/>
        </p:nvSpPr>
        <p:spPr>
          <a:xfrm>
            <a:off x="1470113" y="1405721"/>
            <a:ext cx="1116164"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入力</a:t>
            </a:r>
          </a:p>
        </p:txBody>
      </p:sp>
      <p:sp>
        <p:nvSpPr>
          <p:cNvPr id="6" name="テキスト ボックス 5">
            <a:extLst>
              <a:ext uri="{FF2B5EF4-FFF2-40B4-BE49-F238E27FC236}">
                <a16:creationId xmlns:a16="http://schemas.microsoft.com/office/drawing/2014/main" id="{0045F841-BA2A-9E18-9882-7589A7DED978}"/>
              </a:ext>
            </a:extLst>
          </p:cNvPr>
          <p:cNvSpPr txBox="1"/>
          <p:nvPr/>
        </p:nvSpPr>
        <p:spPr>
          <a:xfrm>
            <a:off x="5989600" y="1423663"/>
            <a:ext cx="1421169"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出力</a:t>
            </a:r>
          </a:p>
        </p:txBody>
      </p:sp>
      <p:sp>
        <p:nvSpPr>
          <p:cNvPr id="7" name="右矢印 6">
            <a:extLst>
              <a:ext uri="{FF2B5EF4-FFF2-40B4-BE49-F238E27FC236}">
                <a16:creationId xmlns:a16="http://schemas.microsoft.com/office/drawing/2014/main" id="{811EEEDB-8D10-58F8-619D-0DD71C6FC8B7}"/>
              </a:ext>
            </a:extLst>
          </p:cNvPr>
          <p:cNvSpPr/>
          <p:nvPr/>
        </p:nvSpPr>
        <p:spPr>
          <a:xfrm>
            <a:off x="2734887" y="1353086"/>
            <a:ext cx="3254713" cy="589134"/>
          </a:xfrm>
          <a:prstGeom prst="rightArrow">
            <a:avLst/>
          </a:prstGeom>
          <a:solidFill>
            <a:srgbClr val="FF0000"/>
          </a:solidFill>
        </p:spPr>
        <p:style>
          <a:lnRef idx="3">
            <a:schemeClr val="lt1"/>
          </a:lnRef>
          <a:fillRef idx="1">
            <a:schemeClr val="dk1"/>
          </a:fillRef>
          <a:effectRef idx="1">
            <a:schemeClr val="dk1"/>
          </a:effectRef>
          <a:fontRef idx="minor">
            <a:schemeClr val="lt1"/>
          </a:fontRef>
        </p:style>
        <p:txBody>
          <a:bodyPr rtlCol="0" anchor="ctr"/>
          <a:lstStyle/>
          <a:p>
            <a:pPr algn="ctr"/>
            <a:endParaRPr kumimoji="1" lang="ja-JP" altLang="en-US" sz="2400"/>
          </a:p>
        </p:txBody>
      </p:sp>
      <p:sp>
        <p:nvSpPr>
          <p:cNvPr id="8" name="テキスト ボックス 7">
            <a:extLst>
              <a:ext uri="{FF2B5EF4-FFF2-40B4-BE49-F238E27FC236}">
                <a16:creationId xmlns:a16="http://schemas.microsoft.com/office/drawing/2014/main" id="{B4225390-40E8-BBD8-576B-25B5FF89E450}"/>
              </a:ext>
            </a:extLst>
          </p:cNvPr>
          <p:cNvSpPr txBox="1"/>
          <p:nvPr/>
        </p:nvSpPr>
        <p:spPr>
          <a:xfrm>
            <a:off x="3277612" y="1067152"/>
            <a:ext cx="2288328" cy="954107"/>
          </a:xfrm>
          <a:prstGeom prst="rect">
            <a:avLst/>
          </a:prstGeom>
          <a:solidFill>
            <a:schemeClr val="tx2">
              <a:lumMod val="90000"/>
              <a:lumOff val="10000"/>
            </a:schemeClr>
          </a:solidFill>
        </p:spPr>
        <p:txBody>
          <a:bodyPr wrap="square" rtlCol="0">
            <a:spAutoFit/>
          </a:bodyPr>
          <a:lstStyle/>
          <a:p>
            <a:pPr algn="ctr"/>
            <a:r>
              <a:rPr kumimoji="1" lang="en" altLang="ja-JP" sz="2800" b="1" dirty="0">
                <a:solidFill>
                  <a:schemeClr val="bg1"/>
                </a:solidFill>
                <a:latin typeface="Helvetica" pitchFamily="2" charset="0"/>
              </a:rPr>
              <a:t>Learning Correlations</a:t>
            </a:r>
            <a:endParaRPr kumimoji="1" lang="ja-JP" altLang="en-US" sz="2800" b="1">
              <a:solidFill>
                <a:schemeClr val="bg1"/>
              </a:solidFill>
              <a:latin typeface="Helvetica" pitchFamily="2" charset="0"/>
            </a:endParaRPr>
          </a:p>
        </p:txBody>
      </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CABB5D0C-60AF-CE2C-7D51-DC1649BA0E0F}"/>
                  </a:ext>
                </a:extLst>
              </p:cNvPr>
              <p:cNvSpPr txBox="1"/>
              <p:nvPr/>
            </p:nvSpPr>
            <p:spPr>
              <a:xfrm>
                <a:off x="1605138" y="2057300"/>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,1</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,1</m:t>
                              </m:r>
                            </m:sub>
                          </m:sSub>
                        </m:e>
                      </m:d>
                    </m:oMath>
                  </m:oMathPara>
                </a14:m>
                <a:endParaRPr kumimoji="1" lang="ja-JP" altLang="en-US" sz="2800"/>
              </a:p>
            </p:txBody>
          </p:sp>
        </mc:Choice>
        <mc:Fallback>
          <p:sp>
            <p:nvSpPr>
              <p:cNvPr id="10" name="テキスト ボックス 9">
                <a:extLst>
                  <a:ext uri="{FF2B5EF4-FFF2-40B4-BE49-F238E27FC236}">
                    <a16:creationId xmlns:a16="http://schemas.microsoft.com/office/drawing/2014/main" id="{CABB5D0C-60AF-CE2C-7D51-DC1649BA0E0F}"/>
                  </a:ext>
                </a:extLst>
              </p:cNvPr>
              <p:cNvSpPr txBox="1">
                <a:spLocks noRot="1" noChangeAspect="1" noMove="1" noResize="1" noEditPoints="1" noAdjustHandles="1" noChangeArrowheads="1" noChangeShapeType="1" noTextEdit="1"/>
              </p:cNvSpPr>
              <p:nvPr/>
            </p:nvSpPr>
            <p:spPr>
              <a:xfrm>
                <a:off x="1605138" y="2057300"/>
                <a:ext cx="2071657" cy="486352"/>
              </a:xfrm>
              <a:prstGeom prst="rect">
                <a:avLst/>
              </a:prstGeom>
              <a:blipFill>
                <a:blip r:embed="rId3"/>
                <a:stretch>
                  <a:fillRect r="-7927" b="-75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9109863E-2E6D-FD42-2068-C99795973EE8}"/>
                  </a:ext>
                </a:extLst>
              </p:cNvPr>
              <p:cNvSpPr txBox="1"/>
              <p:nvPr/>
            </p:nvSpPr>
            <p:spPr>
              <a:xfrm>
                <a:off x="1605138" y="2559055"/>
                <a:ext cx="2071657"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2</m:t>
                              </m:r>
                            </m:sub>
                          </m:sSub>
                        </m:e>
                      </m:d>
                    </m:oMath>
                  </m:oMathPara>
                </a14:m>
                <a:endParaRPr kumimoji="1" lang="ja-JP" altLang="en-US" sz="2800"/>
              </a:p>
            </p:txBody>
          </p:sp>
        </mc:Choice>
        <mc:Fallback>
          <p:sp>
            <p:nvSpPr>
              <p:cNvPr id="11" name="テキスト ボックス 10">
                <a:extLst>
                  <a:ext uri="{FF2B5EF4-FFF2-40B4-BE49-F238E27FC236}">
                    <a16:creationId xmlns:a16="http://schemas.microsoft.com/office/drawing/2014/main" id="{9109863E-2E6D-FD42-2068-C99795973EE8}"/>
                  </a:ext>
                </a:extLst>
              </p:cNvPr>
              <p:cNvSpPr txBox="1">
                <a:spLocks noRot="1" noChangeAspect="1" noMove="1" noResize="1" noEditPoints="1" noAdjustHandles="1" noChangeArrowheads="1" noChangeShapeType="1" noTextEdit="1"/>
              </p:cNvSpPr>
              <p:nvPr/>
            </p:nvSpPr>
            <p:spPr>
              <a:xfrm>
                <a:off x="1605138" y="2559055"/>
                <a:ext cx="2071657" cy="486352"/>
              </a:xfrm>
              <a:prstGeom prst="rect">
                <a:avLst/>
              </a:prstGeom>
              <a:blipFill>
                <a:blip r:embed="rId4"/>
                <a:stretch>
                  <a:fillRect r="-7927" b="-50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2" name="テキスト ボックス 11">
                <a:extLst>
                  <a:ext uri="{FF2B5EF4-FFF2-40B4-BE49-F238E27FC236}">
                    <a16:creationId xmlns:a16="http://schemas.microsoft.com/office/drawing/2014/main" id="{ACD220D9-645E-BEBA-7D83-F85664DD5B6E}"/>
                  </a:ext>
                </a:extLst>
              </p:cNvPr>
              <p:cNvSpPr txBox="1"/>
              <p:nvPr/>
            </p:nvSpPr>
            <p:spPr>
              <a:xfrm>
                <a:off x="1605138" y="4200025"/>
                <a:ext cx="2105320" cy="48635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ja-JP" altLang="en-US" sz="2800" i="1" smtClean="0">
                              <a:latin typeface="Cambria Math" panose="02040503050406030204" pitchFamily="18" charset="0"/>
                            </a:rPr>
                          </m:ctrlPr>
                        </m:dPr>
                        <m:e>
                          <m:sSub>
                            <m:sSubPr>
                              <m:ctrlPr>
                                <a:rPr kumimoji="1" lang="ja-JP" altLang="en-US" sz="2800" i="1" smtClean="0">
                                  <a:latin typeface="Cambria Math" panose="02040503050406030204" pitchFamily="18" charset="0"/>
                                </a:rPr>
                              </m:ctrlPr>
                            </m:sSubPr>
                            <m:e>
                              <m:r>
                                <a:rPr kumimoji="1" lang="en-US" altLang="ja-JP" sz="2800" b="0" i="1" smtClean="0">
                                  <a:latin typeface="Cambria Math" panose="02040503050406030204" pitchFamily="18" charset="0"/>
                                </a:rPr>
                                <m:t>𝑥</m:t>
                              </m:r>
                            </m:e>
                            <m:sub>
                              <m:r>
                                <a:rPr kumimoji="1" lang="en-US" altLang="ja-JP" sz="2800" b="0" i="1" smtClean="0">
                                  <a:latin typeface="Cambria Math" panose="02040503050406030204" pitchFamily="18" charset="0"/>
                                </a:rPr>
                                <m:t>𝑎</m:t>
                              </m:r>
                              <m:r>
                                <a:rPr kumimoji="1" lang="en-US" altLang="ja-JP" sz="2800" b="0" i="1" smtClean="0">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𝑏</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r>
                            <a:rPr kumimoji="1" lang="en-US" altLang="ja-JP" sz="2800" b="0" i="1" smtClean="0">
                              <a:latin typeface="Cambria Math" panose="02040503050406030204" pitchFamily="18" charset="0"/>
                            </a:rPr>
                            <m:t>,</m:t>
                          </m:r>
                          <m:sSub>
                            <m:sSubPr>
                              <m:ctrlPr>
                                <a:rPr kumimoji="1" lang="ja-JP" altLang="en-US" sz="2800" i="1">
                                  <a:latin typeface="Cambria Math" panose="02040503050406030204" pitchFamily="18" charset="0"/>
                                </a:rPr>
                              </m:ctrlPr>
                            </m:sSubPr>
                            <m:e>
                              <m:r>
                                <a:rPr kumimoji="1" lang="en-US" altLang="ja-JP" sz="2800" b="0" i="1">
                                  <a:latin typeface="Cambria Math" panose="02040503050406030204" pitchFamily="18" charset="0"/>
                                </a:rPr>
                                <m:t>𝑥</m:t>
                              </m:r>
                            </m:e>
                            <m:sub>
                              <m:r>
                                <a:rPr kumimoji="1" lang="en-US" altLang="ja-JP" sz="2800" b="0" i="1" smtClean="0">
                                  <a:latin typeface="Cambria Math" panose="02040503050406030204" pitchFamily="18" charset="0"/>
                                </a:rPr>
                                <m:t>𝑐</m:t>
                              </m:r>
                              <m:r>
                                <a:rPr kumimoji="1" lang="en-US" altLang="ja-JP" sz="2800" b="0" i="1">
                                  <a:latin typeface="Cambria Math" panose="02040503050406030204" pitchFamily="18" charset="0"/>
                                </a:rPr>
                                <m:t>,</m:t>
                              </m:r>
                              <m:r>
                                <a:rPr kumimoji="1" lang="en-US" altLang="ja-JP" sz="2800" b="0" i="1" smtClean="0">
                                  <a:latin typeface="Cambria Math" panose="02040503050406030204" pitchFamily="18" charset="0"/>
                                </a:rPr>
                                <m:t>𝑛</m:t>
                              </m:r>
                            </m:sub>
                          </m:sSub>
                        </m:e>
                      </m:d>
                    </m:oMath>
                  </m:oMathPara>
                </a14:m>
                <a:endParaRPr kumimoji="1" lang="ja-JP" altLang="en-US" sz="2800"/>
              </a:p>
            </p:txBody>
          </p:sp>
        </mc:Choice>
        <mc:Fallback>
          <p:sp>
            <p:nvSpPr>
              <p:cNvPr id="12" name="テキスト ボックス 11">
                <a:extLst>
                  <a:ext uri="{FF2B5EF4-FFF2-40B4-BE49-F238E27FC236}">
                    <a16:creationId xmlns:a16="http://schemas.microsoft.com/office/drawing/2014/main" id="{ACD220D9-645E-BEBA-7D83-F85664DD5B6E}"/>
                  </a:ext>
                </a:extLst>
              </p:cNvPr>
              <p:cNvSpPr txBox="1">
                <a:spLocks noRot="1" noChangeAspect="1" noMove="1" noResize="1" noEditPoints="1" noAdjustHandles="1" noChangeArrowheads="1" noChangeShapeType="1" noTextEdit="1"/>
              </p:cNvSpPr>
              <p:nvPr/>
            </p:nvSpPr>
            <p:spPr>
              <a:xfrm>
                <a:off x="1605138" y="4200025"/>
                <a:ext cx="2105320" cy="486352"/>
              </a:xfrm>
              <a:prstGeom prst="rect">
                <a:avLst/>
              </a:prstGeom>
              <a:blipFill>
                <a:blip r:embed="rId5"/>
                <a:stretch>
                  <a:fillRect r="-9581" b="-5000"/>
                </a:stretch>
              </a:blipFill>
            </p:spPr>
            <p:txBody>
              <a:bodyPr/>
              <a:lstStyle/>
              <a:p>
                <a:r>
                  <a:rPr lang="ja-JP" altLang="en-US">
                    <a:noFill/>
                  </a:rPr>
                  <a:t> </a:t>
                </a:r>
              </a:p>
            </p:txBody>
          </p:sp>
        </mc:Fallback>
      </mc:AlternateContent>
      <p:sp>
        <p:nvSpPr>
          <p:cNvPr id="13" name="下カーブ矢印 12">
            <a:extLst>
              <a:ext uri="{FF2B5EF4-FFF2-40B4-BE49-F238E27FC236}">
                <a16:creationId xmlns:a16="http://schemas.microsoft.com/office/drawing/2014/main" id="{AE3C2B81-223C-8575-E7F2-DCCE32ADB3E8}"/>
              </a:ext>
            </a:extLst>
          </p:cNvPr>
          <p:cNvSpPr/>
          <p:nvPr/>
        </p:nvSpPr>
        <p:spPr>
          <a:xfrm>
            <a:off x="3150824" y="3110413"/>
            <a:ext cx="2842351" cy="504368"/>
          </a:xfrm>
          <a:prstGeom prst="curved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sp>
        <p:nvSpPr>
          <p:cNvPr id="14" name="テキスト ボックス 13">
            <a:extLst>
              <a:ext uri="{FF2B5EF4-FFF2-40B4-BE49-F238E27FC236}">
                <a16:creationId xmlns:a16="http://schemas.microsoft.com/office/drawing/2014/main" id="{7FB4EDD0-706A-84F3-47FF-7DF05EA54F6F}"/>
              </a:ext>
            </a:extLst>
          </p:cNvPr>
          <p:cNvSpPr txBox="1"/>
          <p:nvPr/>
        </p:nvSpPr>
        <p:spPr>
          <a:xfrm>
            <a:off x="1470113" y="3623358"/>
            <a:ext cx="2719501" cy="523220"/>
          </a:xfrm>
          <a:prstGeom prst="rect">
            <a:avLst/>
          </a:prstGeom>
          <a:noFill/>
        </p:spPr>
        <p:txBody>
          <a:bodyPr wrap="square" rtlCol="0">
            <a:spAutoFit/>
          </a:bodyPr>
          <a:lstStyle>
            <a:defPPr>
              <a:defRPr lang="en-US"/>
            </a:defPPr>
            <a:lvl1pPr>
              <a:defRPr kumimoji="1" sz="2800" b="1">
                <a:latin typeface="Hiragino Sans W6" panose="020B0400000000000000" pitchFamily="34" charset="-128"/>
                <a:ea typeface="Hiragino Sans W6" panose="020B0400000000000000" pitchFamily="34" charset="-128"/>
              </a:defRPr>
            </a:lvl1pPr>
          </a:lstStyle>
          <a:p>
            <a:r>
              <a:rPr lang="ja-JP" altLang="en-US"/>
              <a:t>未知の入力</a:t>
            </a:r>
          </a:p>
        </p:txBody>
      </p:sp>
      <mc:AlternateContent xmlns:mc="http://schemas.openxmlformats.org/markup-compatibility/2006">
        <mc:Choice xmlns:a14="http://schemas.microsoft.com/office/drawing/2010/main" Requires="a14">
          <p:sp>
            <p:nvSpPr>
              <p:cNvPr id="15" name="テキスト ボックス 14">
                <a:extLst>
                  <a:ext uri="{FF2B5EF4-FFF2-40B4-BE49-F238E27FC236}">
                    <a16:creationId xmlns:a16="http://schemas.microsoft.com/office/drawing/2014/main" id="{64EE628A-4BAD-E973-2647-3EAC65906CDD}"/>
                  </a:ext>
                </a:extLst>
              </p:cNvPr>
              <p:cNvSpPr txBox="1"/>
              <p:nvPr/>
            </p:nvSpPr>
            <p:spPr>
              <a:xfrm>
                <a:off x="6056846" y="2110843"/>
                <a:ext cx="365036"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m:ctrlPr>
                        </m:sSubPr>
                        <m:e>
                          <m:r>
                            <a:rPr lang="en-US" altLang="ja-JP" sz="2800" b="0" i="1"/>
                            <m:t>𝑦</m:t>
                          </m:r>
                        </m:e>
                        <m:sub>
                          <m:r>
                            <a:rPr lang="en-US" altLang="ja-JP" sz="2800" b="0" i="1"/>
                            <m:t>1</m:t>
                          </m:r>
                        </m:sub>
                      </m:sSub>
                    </m:oMath>
                  </m:oMathPara>
                </a14:m>
                <a:endParaRPr lang="ja-JP" altLang="en-US" sz="2800" b="0"/>
              </a:p>
            </p:txBody>
          </p:sp>
        </mc:Choice>
        <mc:Fallback>
          <p:sp>
            <p:nvSpPr>
              <p:cNvPr id="15" name="テキスト ボックス 14">
                <a:extLst>
                  <a:ext uri="{FF2B5EF4-FFF2-40B4-BE49-F238E27FC236}">
                    <a16:creationId xmlns:a16="http://schemas.microsoft.com/office/drawing/2014/main" id="{64EE628A-4BAD-E973-2647-3EAC65906CDD}"/>
                  </a:ext>
                </a:extLst>
              </p:cNvPr>
              <p:cNvSpPr txBox="1">
                <a:spLocks noRot="1" noChangeAspect="1" noMove="1" noResize="1" noEditPoints="1" noAdjustHandles="1" noChangeArrowheads="1" noChangeShapeType="1" noTextEdit="1"/>
              </p:cNvSpPr>
              <p:nvPr/>
            </p:nvSpPr>
            <p:spPr>
              <a:xfrm>
                <a:off x="6056846" y="2110843"/>
                <a:ext cx="365036" cy="430887"/>
              </a:xfrm>
              <a:prstGeom prst="rect">
                <a:avLst/>
              </a:prstGeom>
              <a:blipFill>
                <a:blip r:embed="rId6"/>
                <a:stretch>
                  <a:fillRect l="-31034" r="-17241" b="-20000"/>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6" name="テキスト ボックス 15">
                <a:extLst>
                  <a:ext uri="{FF2B5EF4-FFF2-40B4-BE49-F238E27FC236}">
                    <a16:creationId xmlns:a16="http://schemas.microsoft.com/office/drawing/2014/main" id="{9E5434D7-4C81-BD5B-301E-CE3EDD3ADE61}"/>
                  </a:ext>
                </a:extLst>
              </p:cNvPr>
              <p:cNvSpPr txBox="1"/>
              <p:nvPr/>
            </p:nvSpPr>
            <p:spPr>
              <a:xfrm>
                <a:off x="6056846" y="2552507"/>
                <a:ext cx="37696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m:ctrlPr>
                        </m:sSubPr>
                        <m:e>
                          <m:r>
                            <a:rPr lang="en-US" altLang="ja-JP" sz="2800" b="0" i="1"/>
                            <m:t>𝑦</m:t>
                          </m:r>
                        </m:e>
                        <m:sub>
                          <m:r>
                            <a:rPr lang="en-US" altLang="ja-JP" sz="2800" b="0" i="1" smtClean="0"/>
                            <m:t>2</m:t>
                          </m:r>
                        </m:sub>
                      </m:sSub>
                    </m:oMath>
                  </m:oMathPara>
                </a14:m>
                <a:endParaRPr lang="ja-JP" altLang="en-US" sz="2800" b="0"/>
              </a:p>
            </p:txBody>
          </p:sp>
        </mc:Choice>
        <mc:Fallback>
          <p:sp>
            <p:nvSpPr>
              <p:cNvPr id="16" name="テキスト ボックス 15">
                <a:extLst>
                  <a:ext uri="{FF2B5EF4-FFF2-40B4-BE49-F238E27FC236}">
                    <a16:creationId xmlns:a16="http://schemas.microsoft.com/office/drawing/2014/main" id="{9E5434D7-4C81-BD5B-301E-CE3EDD3ADE61}"/>
                  </a:ext>
                </a:extLst>
              </p:cNvPr>
              <p:cNvSpPr txBox="1">
                <a:spLocks noRot="1" noChangeAspect="1" noMove="1" noResize="1" noEditPoints="1" noAdjustHandles="1" noChangeArrowheads="1" noChangeShapeType="1" noTextEdit="1"/>
              </p:cNvSpPr>
              <p:nvPr/>
            </p:nvSpPr>
            <p:spPr>
              <a:xfrm>
                <a:off x="6056846" y="2552507"/>
                <a:ext cx="376962" cy="430887"/>
              </a:xfrm>
              <a:prstGeom prst="rect">
                <a:avLst/>
              </a:prstGeom>
              <a:blipFill>
                <a:blip r:embed="rId7"/>
                <a:stretch>
                  <a:fillRect l="-30000" r="-16667" b="-23529"/>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7" name="テキスト ボックス 16">
                <a:extLst>
                  <a:ext uri="{FF2B5EF4-FFF2-40B4-BE49-F238E27FC236}">
                    <a16:creationId xmlns:a16="http://schemas.microsoft.com/office/drawing/2014/main" id="{5EDAAF43-DB59-9652-2979-93ABFF40A05E}"/>
                  </a:ext>
                </a:extLst>
              </p:cNvPr>
              <p:cNvSpPr txBox="1"/>
              <p:nvPr/>
            </p:nvSpPr>
            <p:spPr>
              <a:xfrm>
                <a:off x="6063386" y="4200025"/>
                <a:ext cx="370422" cy="430887"/>
              </a:xfrm>
              <a:prstGeom prst="rect">
                <a:avLst/>
              </a:prstGeom>
              <a:noFill/>
            </p:spPr>
            <p:txBody>
              <a:bodyPr wrap="square" lIns="0" tIns="0" rIns="0" bIns="0" rtlCol="0">
                <a:spAutoFit/>
              </a:bodyPr>
              <a:lstStyle>
                <a:defPPr>
                  <a:defRPr lang="en-US"/>
                </a:defPPr>
                <a:lvl1pPr>
                  <a:defRPr kumimoji="1" sz="2400" b="1"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sSub>
                        <m:sSubPr>
                          <m:ctrlPr>
                            <a:rPr lang="ja-JP" altLang="en-US" sz="2800" b="0" i="1" smtClean="0"/>
                          </m:ctrlPr>
                        </m:sSubPr>
                        <m:e>
                          <m:r>
                            <a:rPr lang="en-US" altLang="ja-JP" sz="2800" b="0"/>
                            <m:t>𝑦</m:t>
                          </m:r>
                        </m:e>
                        <m:sub>
                          <m:r>
                            <a:rPr lang="en-US" altLang="ja-JP" sz="2800" b="0" i="1" smtClean="0"/>
                            <m:t>𝑛</m:t>
                          </m:r>
                        </m:sub>
                      </m:sSub>
                    </m:oMath>
                  </m:oMathPara>
                </a14:m>
                <a:endParaRPr lang="ja-JP" altLang="en-US" sz="2800" b="0"/>
              </a:p>
            </p:txBody>
          </p:sp>
        </mc:Choice>
        <mc:Fallback>
          <p:sp>
            <p:nvSpPr>
              <p:cNvPr id="17" name="テキスト ボックス 16">
                <a:extLst>
                  <a:ext uri="{FF2B5EF4-FFF2-40B4-BE49-F238E27FC236}">
                    <a16:creationId xmlns:a16="http://schemas.microsoft.com/office/drawing/2014/main" id="{5EDAAF43-DB59-9652-2979-93ABFF40A05E}"/>
                  </a:ext>
                </a:extLst>
              </p:cNvPr>
              <p:cNvSpPr txBox="1">
                <a:spLocks noRot="1" noChangeAspect="1" noMove="1" noResize="1" noEditPoints="1" noAdjustHandles="1" noChangeArrowheads="1" noChangeShapeType="1" noTextEdit="1"/>
              </p:cNvSpPr>
              <p:nvPr/>
            </p:nvSpPr>
            <p:spPr>
              <a:xfrm>
                <a:off x="6063386" y="4200025"/>
                <a:ext cx="370422" cy="430887"/>
              </a:xfrm>
              <a:prstGeom prst="rect">
                <a:avLst/>
              </a:prstGeom>
              <a:blipFill>
                <a:blip r:embed="rId8"/>
                <a:stretch>
                  <a:fillRect l="-30000" r="-10000" b="-22857"/>
                </a:stretch>
              </a:blipFill>
            </p:spPr>
            <p:txBody>
              <a:bodyPr/>
              <a:lstStyle/>
              <a:p>
                <a:r>
                  <a:rPr lang="ja-JP" altLang="en-US">
                    <a:noFill/>
                  </a:rPr>
                  <a:t> </a:t>
                </a:r>
              </a:p>
            </p:txBody>
          </p:sp>
        </mc:Fallback>
      </mc:AlternateContent>
      <p:sp>
        <p:nvSpPr>
          <p:cNvPr id="18" name="テキスト ボックス 17">
            <a:extLst>
              <a:ext uri="{FF2B5EF4-FFF2-40B4-BE49-F238E27FC236}">
                <a16:creationId xmlns:a16="http://schemas.microsoft.com/office/drawing/2014/main" id="{C147F7C0-5480-27E9-568D-59AD6AA3C394}"/>
              </a:ext>
            </a:extLst>
          </p:cNvPr>
          <p:cNvSpPr txBox="1"/>
          <p:nvPr/>
        </p:nvSpPr>
        <p:spPr>
          <a:xfrm>
            <a:off x="5989599" y="3684913"/>
            <a:ext cx="1421169" cy="523220"/>
          </a:xfrm>
          <a:prstGeom prst="rect">
            <a:avLst/>
          </a:prstGeom>
          <a:noFill/>
        </p:spPr>
        <p:txBody>
          <a:bodyPr wrap="square" rtlCol="0">
            <a:spAutoFit/>
          </a:bodyPr>
          <a:lstStyle>
            <a:defPPr>
              <a:defRPr lang="en-US"/>
            </a:defPPr>
            <a:lvl1pPr>
              <a:defRPr kumimoji="1" sz="2800" b="1">
                <a:latin typeface="Hiragino Sans W6" panose="020B0400000000000000" pitchFamily="34" charset="-128"/>
                <a:ea typeface="Hiragino Sans W6" panose="020B0400000000000000" pitchFamily="34" charset="-128"/>
              </a:defRPr>
            </a:lvl1pPr>
          </a:lstStyle>
          <a:p>
            <a:r>
              <a:rPr lang="ja-JP" altLang="en-US"/>
              <a:t>出力</a:t>
            </a:r>
          </a:p>
        </p:txBody>
      </p:sp>
    </p:spTree>
    <p:extLst>
      <p:ext uri="{BB962C8B-B14F-4D97-AF65-F5344CB8AC3E}">
        <p14:creationId xmlns:p14="http://schemas.microsoft.com/office/powerpoint/2010/main" val="3037484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CB570D73-01D1-954F-8D5E-D47022239875}"/>
              </a:ext>
            </a:extLst>
          </p:cNvPr>
          <p:cNvSpPr/>
          <p:nvPr/>
        </p:nvSpPr>
        <p:spPr>
          <a:xfrm>
            <a:off x="406400" y="2766448"/>
            <a:ext cx="8205584" cy="3827392"/>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81AD9F09-684D-4CFD-1750-BEBCA75DED7E}"/>
              </a:ext>
            </a:extLst>
          </p:cNvPr>
          <p:cNvSpPr>
            <a:spLocks noGrp="1"/>
          </p:cNvSpPr>
          <p:nvPr>
            <p:ph type="title"/>
          </p:nvPr>
        </p:nvSpPr>
        <p:spPr/>
        <p:txBody>
          <a:bodyPr>
            <a:normAutofit/>
          </a:bodyPr>
          <a:lstStyle/>
          <a:p>
            <a:r>
              <a:rPr lang="en-US" altLang="ja-JP" dirty="0">
                <a:latin typeface="Helvetica" pitchFamily="2" charset="0"/>
              </a:rPr>
              <a:t>k-NN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4" name="コンテンツ プレースホルダー 3">
            <a:extLst>
              <a:ext uri="{FF2B5EF4-FFF2-40B4-BE49-F238E27FC236}">
                <a16:creationId xmlns:a16="http://schemas.microsoft.com/office/drawing/2014/main" id="{A65A3161-F85B-314A-2E64-B8E1FB0512DB}"/>
              </a:ext>
            </a:extLst>
          </p:cNvPr>
          <p:cNvSpPr>
            <a:spLocks noGrp="1"/>
          </p:cNvSpPr>
          <p:nvPr>
            <p:ph idx="13"/>
          </p:nvPr>
        </p:nvSpPr>
        <p:spPr>
          <a:xfrm>
            <a:off x="229637" y="1074907"/>
            <a:ext cx="8382347" cy="1691541"/>
          </a:xfrm>
        </p:spPr>
        <p:txBody>
          <a:bodyPr/>
          <a:lstStyle/>
          <a:p>
            <a:r>
              <a:rPr lang="en-US" altLang="ja-JP" b="1" dirty="0"/>
              <a:t>k</a:t>
            </a:r>
            <a:r>
              <a:rPr kumimoji="1" lang="en-US" altLang="ja-JP" b="1" dirty="0"/>
              <a:t>-NN </a:t>
            </a:r>
            <a:r>
              <a:rPr kumimoji="1" lang="ja-JP" altLang="en-US" b="1"/>
              <a:t>（</a:t>
            </a:r>
            <a:r>
              <a:rPr kumimoji="1" lang="en-US" altLang="ja-JP" b="1" dirty="0"/>
              <a:t>k-nearest-neighbor</a:t>
            </a:r>
            <a:r>
              <a:rPr lang="en-US" altLang="ja-JP" b="1" dirty="0"/>
              <a:t> </a:t>
            </a:r>
            <a:r>
              <a:rPr kumimoji="1" lang="en-US" altLang="ja-JP" b="1" dirty="0"/>
              <a:t>k</a:t>
            </a:r>
            <a:r>
              <a:rPr kumimoji="1" lang="ja-JP" altLang="en-US" b="1"/>
              <a:t>近傍法</a:t>
            </a:r>
            <a:r>
              <a:rPr lang="ja-JP" altLang="en-US" b="1"/>
              <a:t>）</a:t>
            </a:r>
            <a:br>
              <a:rPr lang="en-US" altLang="ja-JP" b="1" dirty="0"/>
            </a:br>
            <a:r>
              <a:rPr lang="ja-JP" altLang="ja-JP"/>
              <a:t> </a:t>
            </a:r>
            <a:r>
              <a:rPr lang="en-US" altLang="ja-JP" b="1" dirty="0"/>
              <a:t>C</a:t>
            </a:r>
            <a:r>
              <a:rPr lang="ja-JP" altLang="ja-JP" b="1"/>
              <a:t>lassifies an unknown sample by selecting the k nearest samples with known classes and assigning the class by majority vote.</a:t>
            </a:r>
          </a:p>
          <a:p>
            <a:endParaRPr kumimoji="1" lang="en-US" altLang="ja-JP" b="1" dirty="0"/>
          </a:p>
          <a:p>
            <a:endParaRPr kumimoji="1" lang="ja-JP" altLang="en-US" b="1"/>
          </a:p>
        </p:txBody>
      </p:sp>
      <p:pic>
        <p:nvPicPr>
          <p:cNvPr id="9" name="図 8">
            <a:extLst>
              <a:ext uri="{FF2B5EF4-FFF2-40B4-BE49-F238E27FC236}">
                <a16:creationId xmlns:a16="http://schemas.microsoft.com/office/drawing/2014/main" id="{B7EF3226-AD0D-EAD5-AF6E-4EC01952EBD0}"/>
              </a:ext>
            </a:extLst>
          </p:cNvPr>
          <p:cNvPicPr>
            <a:picLocks noChangeAspect="1"/>
          </p:cNvPicPr>
          <p:nvPr/>
        </p:nvPicPr>
        <p:blipFill>
          <a:blip r:embed="rId3"/>
          <a:stretch>
            <a:fillRect/>
          </a:stretch>
        </p:blipFill>
        <p:spPr>
          <a:xfrm>
            <a:off x="807719" y="2925762"/>
            <a:ext cx="3273102" cy="2520000"/>
          </a:xfrm>
          <a:prstGeom prst="rect">
            <a:avLst/>
          </a:prstGeom>
          <a:solidFill>
            <a:schemeClr val="bg1"/>
          </a:solidFill>
        </p:spPr>
      </p:pic>
      <p:pic>
        <p:nvPicPr>
          <p:cNvPr id="11" name="図 10">
            <a:extLst>
              <a:ext uri="{FF2B5EF4-FFF2-40B4-BE49-F238E27FC236}">
                <a16:creationId xmlns:a16="http://schemas.microsoft.com/office/drawing/2014/main" id="{4278E539-7A18-35BC-C3CA-FC2D85A239E8}"/>
              </a:ext>
            </a:extLst>
          </p:cNvPr>
          <p:cNvPicPr>
            <a:picLocks noChangeAspect="1"/>
          </p:cNvPicPr>
          <p:nvPr/>
        </p:nvPicPr>
        <p:blipFill>
          <a:blip r:embed="rId4"/>
          <a:stretch>
            <a:fillRect/>
          </a:stretch>
        </p:blipFill>
        <p:spPr>
          <a:xfrm>
            <a:off x="4572000" y="2940393"/>
            <a:ext cx="3273095" cy="2520000"/>
          </a:xfrm>
          <a:prstGeom prst="rect">
            <a:avLst/>
          </a:prstGeom>
          <a:solidFill>
            <a:schemeClr val="bg1"/>
          </a:solidFill>
        </p:spPr>
      </p:pic>
      <p:sp>
        <p:nvSpPr>
          <p:cNvPr id="14" name="コンテンツ プレースホルダー 3">
            <a:extLst>
              <a:ext uri="{FF2B5EF4-FFF2-40B4-BE49-F238E27FC236}">
                <a16:creationId xmlns:a16="http://schemas.microsoft.com/office/drawing/2014/main" id="{7ED86A3F-38EF-81BC-DB16-A3E242A64BF3}"/>
              </a:ext>
            </a:extLst>
          </p:cNvPr>
          <p:cNvSpPr txBox="1">
            <a:spLocks/>
          </p:cNvSpPr>
          <p:nvPr/>
        </p:nvSpPr>
        <p:spPr>
          <a:xfrm>
            <a:off x="1594946" y="5634338"/>
            <a:ext cx="5954107" cy="84577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3200" b="1" dirty="0"/>
              <a:t>The predicted class </a:t>
            </a:r>
            <a:br>
              <a:rPr lang="en" altLang="ja-JP" sz="3200" b="1" dirty="0"/>
            </a:br>
            <a:r>
              <a:rPr lang="en" altLang="ja-JP" sz="3200" b="1" dirty="0"/>
              <a:t>depends on the value of </a:t>
            </a:r>
            <a:r>
              <a:rPr lang="en" altLang="ja-JP" sz="3200" b="1" dirty="0">
                <a:highlight>
                  <a:srgbClr val="FFFF00"/>
                </a:highlight>
              </a:rPr>
              <a:t>k</a:t>
            </a:r>
            <a:r>
              <a:rPr lang="en" altLang="ja-JP" sz="3200" b="1" dirty="0"/>
              <a:t>.</a:t>
            </a:r>
          </a:p>
          <a:p>
            <a:pPr marL="0" indent="0" algn="ctr">
              <a:buNone/>
            </a:pPr>
            <a:endParaRPr lang="ja-JP" altLang="ja-JP" sz="3200" b="1"/>
          </a:p>
          <a:p>
            <a:pPr algn="ctr"/>
            <a:endParaRPr lang="en-US" altLang="ja-JP" sz="3200" b="1" dirty="0"/>
          </a:p>
          <a:p>
            <a:pPr algn="ctr"/>
            <a:endParaRPr lang="ja-JP" altLang="en-US" sz="3200" b="1"/>
          </a:p>
        </p:txBody>
      </p:sp>
    </p:spTree>
    <p:extLst>
      <p:ext uri="{BB962C8B-B14F-4D97-AF65-F5344CB8AC3E}">
        <p14:creationId xmlns:p14="http://schemas.microsoft.com/office/powerpoint/2010/main" val="2162854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2D396-87B2-454D-7D11-3B245929EB9F}"/>
            </a:ext>
          </a:extLst>
        </p:cNvPr>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B40B891B-E6FF-CDF1-5C1B-AEC357B08AEC}"/>
              </a:ext>
            </a:extLst>
          </p:cNvPr>
          <p:cNvSpPr/>
          <p:nvPr/>
        </p:nvSpPr>
        <p:spPr>
          <a:xfrm>
            <a:off x="406400" y="2766448"/>
            <a:ext cx="8205584" cy="3827392"/>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D232713-6396-441C-B7C3-2AAB9CFF2873}"/>
              </a:ext>
            </a:extLst>
          </p:cNvPr>
          <p:cNvSpPr>
            <a:spLocks noGrp="1"/>
          </p:cNvSpPr>
          <p:nvPr>
            <p:ph type="title"/>
          </p:nvPr>
        </p:nvSpPr>
        <p:spPr/>
        <p:txBody>
          <a:bodyPr>
            <a:normAutofit/>
          </a:bodyPr>
          <a:lstStyle/>
          <a:p>
            <a:r>
              <a:rPr lang="en-US" altLang="ja-JP" dirty="0">
                <a:latin typeface="Helvetica" pitchFamily="2" charset="0"/>
              </a:rPr>
              <a:t>k-NN </a:t>
            </a:r>
            <a:r>
              <a:rPr lang="ja-JP" altLang="en-US" sz="3100">
                <a:latin typeface="Helvetica" pitchFamily="2" charset="0"/>
              </a:rPr>
              <a:t>原理と特徴</a:t>
            </a:r>
            <a:endParaRPr kumimoji="1" lang="ja-JP" altLang="en-US" sz="3100">
              <a:latin typeface="Helvetica" pitchFamily="2" charset="0"/>
            </a:endParaRPr>
          </a:p>
        </p:txBody>
      </p:sp>
      <p:sp>
        <p:nvSpPr>
          <p:cNvPr id="4" name="コンテンツ プレースホルダー 3">
            <a:extLst>
              <a:ext uri="{FF2B5EF4-FFF2-40B4-BE49-F238E27FC236}">
                <a16:creationId xmlns:a16="http://schemas.microsoft.com/office/drawing/2014/main" id="{9EDE835C-66A9-A435-CFA5-909DF2E7181D}"/>
              </a:ext>
            </a:extLst>
          </p:cNvPr>
          <p:cNvSpPr>
            <a:spLocks noGrp="1"/>
          </p:cNvSpPr>
          <p:nvPr>
            <p:ph idx="13"/>
          </p:nvPr>
        </p:nvSpPr>
        <p:spPr>
          <a:xfrm>
            <a:off x="229637" y="1074907"/>
            <a:ext cx="8382347" cy="1691541"/>
          </a:xfrm>
        </p:spPr>
        <p:txBody>
          <a:bodyPr>
            <a:normAutofit fontScale="92500" lnSpcReduction="10000"/>
          </a:bodyPr>
          <a:lstStyle/>
          <a:p>
            <a:r>
              <a:rPr lang="en-US" altLang="ja-JP" b="1" dirty="0"/>
              <a:t>k</a:t>
            </a:r>
            <a:r>
              <a:rPr kumimoji="1" lang="en-US" altLang="ja-JP" b="1" dirty="0"/>
              <a:t>-NN </a:t>
            </a:r>
            <a:r>
              <a:rPr kumimoji="1" lang="ja-JP" altLang="en-US" b="1"/>
              <a:t>（</a:t>
            </a:r>
            <a:r>
              <a:rPr kumimoji="1" lang="en-US" altLang="ja-JP" b="1" dirty="0"/>
              <a:t>k-nearest-neighbor</a:t>
            </a:r>
            <a:r>
              <a:rPr lang="en-US" altLang="ja-JP" b="1" dirty="0"/>
              <a:t> </a:t>
            </a:r>
            <a:r>
              <a:rPr kumimoji="1" lang="en-US" altLang="ja-JP" b="1" dirty="0"/>
              <a:t>k</a:t>
            </a:r>
            <a:r>
              <a:rPr kumimoji="1" lang="ja-JP" altLang="en-US" b="1"/>
              <a:t>近傍法</a:t>
            </a:r>
            <a:r>
              <a:rPr lang="ja-JP" altLang="en-US" b="1"/>
              <a:t>）</a:t>
            </a:r>
            <a:br>
              <a:rPr lang="en-US" altLang="ja-JP" b="1" dirty="0"/>
            </a:br>
            <a:r>
              <a:rPr lang="ja-JP" altLang="en-US" b="1"/>
              <a:t>　</a:t>
            </a:r>
            <a:r>
              <a:rPr lang="ja-JP" altLang="ja-JP" b="1">
                <a:latin typeface="Hiragino Sans W6" panose="020B0400000000000000" pitchFamily="34" charset="-128"/>
                <a:ea typeface="Hiragino Sans W6" panose="020B0400000000000000" pitchFamily="34" charset="-128"/>
              </a:rPr>
              <a:t>あるサンプルのクラスを推定する時に</a:t>
            </a:r>
            <a:r>
              <a:rPr lang="ja-JP" altLang="en-US" b="1">
                <a:latin typeface="Hiragino Sans W6" panose="020B0400000000000000" pitchFamily="34" charset="-128"/>
                <a:ea typeface="Hiragino Sans W6" panose="020B0400000000000000" pitchFamily="34" charset="-128"/>
              </a:rPr>
              <a:t>、</a:t>
            </a:r>
            <a:r>
              <a:rPr lang="ja-JP" altLang="ja-JP" b="1">
                <a:latin typeface="Hiragino Sans W6" panose="020B0400000000000000" pitchFamily="34" charset="-128"/>
                <a:ea typeface="Hiragino Sans W6" panose="020B0400000000000000" pitchFamily="34" charset="-128"/>
              </a:rPr>
              <a:t>クラスがすでにわかっているサンプルの中から、クラスを推定したいサンプルに最も近いk個のサンプルを選び、それらのクラスで多数決をとってクラスを決定する方法</a:t>
            </a:r>
          </a:p>
          <a:p>
            <a:endParaRPr lang="ja-JP" altLang="ja-JP" b="1"/>
          </a:p>
          <a:p>
            <a:endParaRPr kumimoji="1" lang="en-US" altLang="ja-JP" b="1" dirty="0"/>
          </a:p>
          <a:p>
            <a:endParaRPr kumimoji="1" lang="ja-JP" altLang="en-US" b="1"/>
          </a:p>
        </p:txBody>
      </p:sp>
      <p:pic>
        <p:nvPicPr>
          <p:cNvPr id="9" name="図 8">
            <a:extLst>
              <a:ext uri="{FF2B5EF4-FFF2-40B4-BE49-F238E27FC236}">
                <a16:creationId xmlns:a16="http://schemas.microsoft.com/office/drawing/2014/main" id="{23B09852-3432-C7E5-00A4-F1646E6F505B}"/>
              </a:ext>
            </a:extLst>
          </p:cNvPr>
          <p:cNvPicPr>
            <a:picLocks noChangeAspect="1"/>
          </p:cNvPicPr>
          <p:nvPr/>
        </p:nvPicPr>
        <p:blipFill>
          <a:blip r:embed="rId3"/>
          <a:stretch>
            <a:fillRect/>
          </a:stretch>
        </p:blipFill>
        <p:spPr>
          <a:xfrm>
            <a:off x="807719" y="2925762"/>
            <a:ext cx="3273102" cy="2520000"/>
          </a:xfrm>
          <a:prstGeom prst="rect">
            <a:avLst/>
          </a:prstGeom>
          <a:solidFill>
            <a:schemeClr val="bg1"/>
          </a:solidFill>
        </p:spPr>
      </p:pic>
      <p:pic>
        <p:nvPicPr>
          <p:cNvPr id="11" name="図 10">
            <a:extLst>
              <a:ext uri="{FF2B5EF4-FFF2-40B4-BE49-F238E27FC236}">
                <a16:creationId xmlns:a16="http://schemas.microsoft.com/office/drawing/2014/main" id="{9B4E8591-C65C-5794-7029-FD462F7E9437}"/>
              </a:ext>
            </a:extLst>
          </p:cNvPr>
          <p:cNvPicPr>
            <a:picLocks noChangeAspect="1"/>
          </p:cNvPicPr>
          <p:nvPr/>
        </p:nvPicPr>
        <p:blipFill>
          <a:blip r:embed="rId4"/>
          <a:stretch>
            <a:fillRect/>
          </a:stretch>
        </p:blipFill>
        <p:spPr>
          <a:xfrm>
            <a:off x="4572000" y="2940393"/>
            <a:ext cx="3273095" cy="2520000"/>
          </a:xfrm>
          <a:prstGeom prst="rect">
            <a:avLst/>
          </a:prstGeom>
          <a:solidFill>
            <a:schemeClr val="bg1"/>
          </a:solidFill>
        </p:spPr>
      </p:pic>
      <p:sp>
        <p:nvSpPr>
          <p:cNvPr id="14" name="コンテンツ プレースホルダー 3">
            <a:extLst>
              <a:ext uri="{FF2B5EF4-FFF2-40B4-BE49-F238E27FC236}">
                <a16:creationId xmlns:a16="http://schemas.microsoft.com/office/drawing/2014/main" id="{48D1E13B-4965-43D8-A299-6E680C192A9E}"/>
              </a:ext>
            </a:extLst>
          </p:cNvPr>
          <p:cNvSpPr txBox="1">
            <a:spLocks/>
          </p:cNvSpPr>
          <p:nvPr/>
        </p:nvSpPr>
        <p:spPr>
          <a:xfrm>
            <a:off x="1023582" y="5634338"/>
            <a:ext cx="6821513" cy="845771"/>
          </a:xfrm>
          <a:prstGeom prst="rect">
            <a:avLst/>
          </a:prstGeom>
          <a:noFill/>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None/>
            </a:pPr>
            <a:r>
              <a:rPr lang="en" altLang="ja-JP" sz="3200" b="1" dirty="0">
                <a:highlight>
                  <a:srgbClr val="FFFF00"/>
                </a:highlight>
              </a:rPr>
              <a:t>k</a:t>
            </a:r>
            <a:r>
              <a:rPr lang="en" altLang="ja-JP" sz="3200" b="1" dirty="0"/>
              <a:t> </a:t>
            </a:r>
            <a:r>
              <a:rPr lang="ja-JP" altLang="en-US" sz="3200" b="1"/>
              <a:t>の値を変えることで、</a:t>
            </a:r>
            <a:br>
              <a:rPr lang="en-US" altLang="ja-JP" sz="3200" b="1" dirty="0"/>
            </a:br>
            <a:r>
              <a:rPr lang="ja-JP" altLang="en-US" sz="3200" b="1"/>
              <a:t>分類されるクラスが変わっている。</a:t>
            </a:r>
            <a:endParaRPr lang="en" altLang="ja-JP" sz="3200" b="1" dirty="0"/>
          </a:p>
          <a:p>
            <a:pPr marL="0" indent="0" algn="ctr">
              <a:buNone/>
            </a:pPr>
            <a:endParaRPr lang="ja-JP" altLang="ja-JP" sz="3200" b="1"/>
          </a:p>
          <a:p>
            <a:pPr algn="ctr"/>
            <a:endParaRPr lang="en-US" altLang="ja-JP" sz="3200" b="1" dirty="0"/>
          </a:p>
          <a:p>
            <a:pPr algn="ctr"/>
            <a:endParaRPr lang="ja-JP" altLang="en-US" sz="3200" b="1"/>
          </a:p>
        </p:txBody>
      </p:sp>
    </p:spTree>
    <p:extLst>
      <p:ext uri="{BB962C8B-B14F-4D97-AF65-F5344CB8AC3E}">
        <p14:creationId xmlns:p14="http://schemas.microsoft.com/office/powerpoint/2010/main" val="307750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3AF5B5E-4475-1831-378B-1DF795666B19}"/>
              </a:ext>
            </a:extLst>
          </p:cNvPr>
          <p:cNvSpPr/>
          <p:nvPr/>
        </p:nvSpPr>
        <p:spPr>
          <a:xfrm>
            <a:off x="365760" y="1097281"/>
            <a:ext cx="8205584" cy="250951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F8A21752-4366-E092-5616-082AC191AEBB}"/>
              </a:ext>
            </a:extLst>
          </p:cNvPr>
          <p:cNvSpPr>
            <a:spLocks noGrp="1"/>
          </p:cNvSpPr>
          <p:nvPr>
            <p:ph type="title"/>
          </p:nvPr>
        </p:nvSpPr>
        <p:spPr/>
        <p:txBody>
          <a:bodyPr>
            <a:normAutofit/>
          </a:bodyPr>
          <a:lstStyle/>
          <a:p>
            <a:r>
              <a:rPr lang="en-US" altLang="ja-JP" dirty="0">
                <a:latin typeface="Helvetica" pitchFamily="2" charset="0"/>
              </a:rPr>
              <a:t>k-NN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8" name="テキスト ボックス 7">
            <a:extLst>
              <a:ext uri="{FF2B5EF4-FFF2-40B4-BE49-F238E27FC236}">
                <a16:creationId xmlns:a16="http://schemas.microsoft.com/office/drawing/2014/main" id="{768B9B93-F46C-3ADF-FD83-E8C607C5E209}"/>
              </a:ext>
            </a:extLst>
          </p:cNvPr>
          <p:cNvSpPr txBox="1"/>
          <p:nvPr/>
        </p:nvSpPr>
        <p:spPr>
          <a:xfrm>
            <a:off x="497840" y="1097281"/>
            <a:ext cx="8148320" cy="5693866"/>
          </a:xfrm>
          <a:prstGeom prst="rect">
            <a:avLst/>
          </a:prstGeom>
          <a:noFill/>
        </p:spPr>
        <p:txBody>
          <a:bodyPr wrap="square">
            <a:spAutoFit/>
          </a:bodyPr>
          <a:lstStyle/>
          <a:p>
            <a:pPr>
              <a:buNone/>
            </a:pPr>
            <a:r>
              <a:rPr lang="ja-JP" altLang="ja-JP" sz="2800" b="1">
                <a:latin typeface="Helvetica" pitchFamily="2" charset="0"/>
                <a:ea typeface="Hiragino Sans W4" panose="020B0400000000000000" pitchFamily="34" charset="-128"/>
              </a:rPr>
              <a:t>Advantages:</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Simple and intuitive</a:t>
            </a: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No complex training process</a:t>
            </a: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Less affected by outliers</a:t>
            </a:r>
            <a:r>
              <a:rPr lang="ja-JP" altLang="en-US" sz="2800" b="1">
                <a:latin typeface="Helvetica" pitchFamily="2" charset="0"/>
                <a:ea typeface="Hiragino Sans W4" panose="020B0400000000000000" pitchFamily="34" charset="-128"/>
              </a:rPr>
              <a:t>（外れ値）</a:t>
            </a:r>
            <a:r>
              <a:rPr lang="en-US" altLang="ja-JP" sz="2800" b="1" dirty="0">
                <a:latin typeface="Helvetica" pitchFamily="2" charset="0"/>
                <a:ea typeface="Hiragino Sans W4" panose="020B0400000000000000" pitchFamily="34" charset="-128"/>
              </a:rPr>
              <a:t> </a:t>
            </a:r>
            <a:br>
              <a:rPr lang="en-US" altLang="ja-JP" sz="2800" b="1" dirty="0">
                <a:latin typeface="Helvetica" pitchFamily="2" charset="0"/>
                <a:ea typeface="Hiragino Sans W4" panose="020B0400000000000000" pitchFamily="34" charset="-128"/>
              </a:rPr>
            </a:br>
            <a:r>
              <a:rPr lang="ja-JP" altLang="en-US" sz="2800" b="1">
                <a:latin typeface="Helvetica" pitchFamily="2" charset="0"/>
                <a:ea typeface="Hiragino Sans W4" panose="020B0400000000000000" pitchFamily="34" charset="-128"/>
              </a:rPr>
              <a:t>　</a:t>
            </a:r>
            <a:r>
              <a:rPr lang="en-US" altLang="ja-JP" sz="2800" b="1" dirty="0">
                <a:latin typeface="Helvetica" pitchFamily="2" charset="0"/>
                <a:ea typeface="Hiragino Sans W4" panose="020B0400000000000000" pitchFamily="34" charset="-128"/>
              </a:rPr>
              <a:t>when k is not too small</a:t>
            </a:r>
          </a:p>
          <a:p>
            <a:pPr>
              <a:buFont typeface="Arial" panose="020B0604020202020204" pitchFamily="34" charset="0"/>
              <a:buChar char="•"/>
            </a:pPr>
            <a:endParaRPr lang="ja-JP" altLang="ja-JP" sz="2800" b="1">
              <a:latin typeface="Helvetica" pitchFamily="2" charset="0"/>
              <a:ea typeface="Hiragino Sans W4" panose="020B0400000000000000" pitchFamily="34" charset="-128"/>
            </a:endParaRPr>
          </a:p>
          <a:p>
            <a:pPr>
              <a:buNone/>
            </a:pPr>
            <a:r>
              <a:rPr lang="ja-JP" altLang="ja-JP" sz="2800" b="1">
                <a:latin typeface="Helvetica" pitchFamily="2" charset="0"/>
                <a:ea typeface="Hiragino Sans W4" panose="020B0400000000000000" pitchFamily="34" charset="-128"/>
              </a:rPr>
              <a:t>Disadvantage:</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Computational cost increases </a:t>
            </a:r>
            <a:br>
              <a:rPr lang="en-US" altLang="ja-JP" sz="2800" b="1" dirty="0">
                <a:latin typeface="Helvetica" pitchFamily="2" charset="0"/>
                <a:ea typeface="Hiragino Sans W4" panose="020B0400000000000000" pitchFamily="34" charset="-128"/>
              </a:rPr>
            </a:br>
            <a:r>
              <a:rPr lang="ja-JP" altLang="en-US" sz="2800" b="1">
                <a:latin typeface="Helvetica" pitchFamily="2" charset="0"/>
                <a:ea typeface="Hiragino Sans W4" panose="020B0400000000000000" pitchFamily="34" charset="-128"/>
              </a:rPr>
              <a:t>　</a:t>
            </a:r>
            <a:r>
              <a:rPr lang="ja-JP" altLang="ja-JP" sz="2800" b="1">
                <a:latin typeface="Helvetica" pitchFamily="2" charset="0"/>
                <a:ea typeface="Hiragino Sans W4" panose="020B0400000000000000" pitchFamily="34" charset="-128"/>
              </a:rPr>
              <a:t>as the dataset becomes larger</a:t>
            </a:r>
            <a:br>
              <a:rPr lang="en-US" altLang="ja-JP" sz="2800" b="1" dirty="0">
                <a:latin typeface="Helvetica" pitchFamily="2" charset="0"/>
                <a:ea typeface="Hiragino Sans W4" panose="020B0400000000000000" pitchFamily="34" charset="-128"/>
              </a:rPr>
            </a:br>
            <a:r>
              <a:rPr lang="en-US" altLang="ja-JP" sz="2000" b="1" dirty="0">
                <a:latin typeface="Helvetica" pitchFamily="2" charset="0"/>
                <a:ea typeface="Hiragino Sans W4" panose="020B0400000000000000" pitchFamily="34" charset="-128"/>
              </a:rPr>
              <a:t>Because k-NN determines the class of each new sample by majority vote, the computational cost increases as the dataset becomes larger.</a:t>
            </a:r>
          </a:p>
          <a:p>
            <a:pPr>
              <a:buFont typeface="Arial" panose="020B0604020202020204" pitchFamily="34" charset="0"/>
              <a:buChar char="•"/>
            </a:pPr>
            <a:endParaRPr lang="ja-JP" altLang="ja-JP" sz="2000" b="1">
              <a:latin typeface="Helvetica" pitchFamily="2" charset="0"/>
              <a:ea typeface="Hiragino Sans W4" panose="020B0400000000000000" pitchFamily="34" charset="-128"/>
            </a:endParaRPr>
          </a:p>
        </p:txBody>
      </p:sp>
      <p:sp>
        <p:nvSpPr>
          <p:cNvPr id="10" name="正方形/長方形 9">
            <a:extLst>
              <a:ext uri="{FF2B5EF4-FFF2-40B4-BE49-F238E27FC236}">
                <a16:creationId xmlns:a16="http://schemas.microsoft.com/office/drawing/2014/main" id="{3338EEC8-07C5-E436-95D2-C7051F6473E7}"/>
              </a:ext>
            </a:extLst>
          </p:cNvPr>
          <p:cNvSpPr/>
          <p:nvPr/>
        </p:nvSpPr>
        <p:spPr>
          <a:xfrm>
            <a:off x="365760" y="3788488"/>
            <a:ext cx="8205584" cy="2509519"/>
          </a:xfrm>
          <a:prstGeom prst="rect">
            <a:avLst/>
          </a:prstGeom>
          <a:noFill/>
          <a:ln w="38100">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50918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B8872-9FB4-990A-70EC-99FF4801EB3B}"/>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B32D16BC-5E5F-26B1-AE10-3708F51CD12A}"/>
              </a:ext>
            </a:extLst>
          </p:cNvPr>
          <p:cNvSpPr/>
          <p:nvPr/>
        </p:nvSpPr>
        <p:spPr>
          <a:xfrm>
            <a:off x="365760" y="1097281"/>
            <a:ext cx="8205584" cy="233171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659E3366-FF16-083F-A785-DA40199E2799}"/>
              </a:ext>
            </a:extLst>
          </p:cNvPr>
          <p:cNvSpPr>
            <a:spLocks noGrp="1"/>
          </p:cNvSpPr>
          <p:nvPr>
            <p:ph type="title"/>
          </p:nvPr>
        </p:nvSpPr>
        <p:spPr/>
        <p:txBody>
          <a:bodyPr>
            <a:normAutofit/>
          </a:bodyPr>
          <a:lstStyle/>
          <a:p>
            <a:r>
              <a:rPr lang="en-US" altLang="ja-JP" dirty="0">
                <a:latin typeface="Helvetica" pitchFamily="2" charset="0"/>
              </a:rPr>
              <a:t>k-NN </a:t>
            </a:r>
            <a:r>
              <a:rPr lang="ja-JP" altLang="en-US" sz="3100">
                <a:latin typeface="Helvetica" pitchFamily="2" charset="0"/>
              </a:rPr>
              <a:t>原理と特徴</a:t>
            </a:r>
            <a:endParaRPr kumimoji="1" lang="ja-JP" altLang="en-US" sz="3100">
              <a:latin typeface="Helvetica" pitchFamily="2" charset="0"/>
            </a:endParaRPr>
          </a:p>
        </p:txBody>
      </p:sp>
      <p:sp>
        <p:nvSpPr>
          <p:cNvPr id="8" name="テキスト ボックス 7">
            <a:extLst>
              <a:ext uri="{FF2B5EF4-FFF2-40B4-BE49-F238E27FC236}">
                <a16:creationId xmlns:a16="http://schemas.microsoft.com/office/drawing/2014/main" id="{E1EA6143-FEBE-BD99-22D5-CA6D29F91E09}"/>
              </a:ext>
            </a:extLst>
          </p:cNvPr>
          <p:cNvSpPr txBox="1"/>
          <p:nvPr/>
        </p:nvSpPr>
        <p:spPr>
          <a:xfrm>
            <a:off x="497840" y="1097281"/>
            <a:ext cx="8148320" cy="5386090"/>
          </a:xfrm>
          <a:prstGeom prst="rect">
            <a:avLst/>
          </a:prstGeom>
          <a:noFill/>
        </p:spPr>
        <p:txBody>
          <a:bodyPr wrap="square">
            <a:spAutoFit/>
          </a:bodyPr>
          <a:lstStyle/>
          <a:p>
            <a:pPr>
              <a:buNone/>
            </a:pPr>
            <a:r>
              <a:rPr lang="ja-JP" altLang="en-US" sz="2800" b="1">
                <a:latin typeface="Hiragino Sans W6" panose="020B0400000000000000" pitchFamily="34" charset="-128"/>
                <a:ea typeface="Hiragino Sans W6" panose="020B0400000000000000" pitchFamily="34" charset="-128"/>
              </a:rPr>
              <a:t>長所</a:t>
            </a:r>
            <a:r>
              <a:rPr lang="ja-JP" altLang="ja-JP" sz="2800" b="1">
                <a:latin typeface="Helvetica" pitchFamily="2" charset="0"/>
                <a:ea typeface="Hiragino Sans W4" panose="020B0400000000000000" pitchFamily="34" charset="-128"/>
              </a:rPr>
              <a:t>:</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非常にシンプルな手法</a:t>
            </a:r>
            <a:endParaRPr lang="ja-JP" altLang="ja-JP" sz="2800" b="1">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複雑な学習を必要としない</a:t>
            </a:r>
            <a:endParaRPr lang="ja-JP" altLang="ja-JP" sz="2800" b="1">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外れ値に頑健である</a:t>
            </a:r>
            <a:endParaRPr lang="en-US" altLang="ja-JP" sz="2800" b="1" dirty="0">
              <a:latin typeface="Helvetica" pitchFamily="2" charset="0"/>
              <a:ea typeface="Hiragino Sans W4" panose="020B0400000000000000" pitchFamily="34" charset="-128"/>
            </a:endParaRPr>
          </a:p>
          <a:p>
            <a:pPr>
              <a:buFont typeface="Arial" panose="020B0604020202020204" pitchFamily="34" charset="0"/>
              <a:buChar char="•"/>
            </a:pPr>
            <a:endParaRPr lang="en-US" altLang="ja-JP" sz="2800" b="1" dirty="0">
              <a:latin typeface="Helvetica" pitchFamily="2" charset="0"/>
              <a:ea typeface="Hiragino Sans W4" panose="020B0400000000000000" pitchFamily="34" charset="-128"/>
            </a:endParaRPr>
          </a:p>
          <a:p>
            <a:pPr>
              <a:buFont typeface="Arial" panose="020B0604020202020204" pitchFamily="34" charset="0"/>
              <a:buChar char="•"/>
            </a:pPr>
            <a:endParaRPr lang="ja-JP" altLang="ja-JP" sz="2800" b="1">
              <a:latin typeface="Helvetica" pitchFamily="2" charset="0"/>
              <a:ea typeface="Hiragino Sans W4" panose="020B0400000000000000" pitchFamily="34" charset="-128"/>
            </a:endParaRPr>
          </a:p>
          <a:p>
            <a:pPr>
              <a:buNone/>
            </a:pPr>
            <a:r>
              <a:rPr lang="ja-JP" altLang="en-US" sz="2800" b="1">
                <a:latin typeface="Helvetica" pitchFamily="2" charset="0"/>
                <a:ea typeface="Hiragino Sans W4" panose="020B0400000000000000" pitchFamily="34" charset="-128"/>
              </a:rPr>
              <a:t>短所</a:t>
            </a:r>
            <a:endParaRPr lang="en-US" altLang="ja-JP" sz="2800" b="1" dirty="0">
              <a:latin typeface="Helvetica" pitchFamily="2" charset="0"/>
              <a:ea typeface="Hiragino Sans W4" panose="020B0400000000000000" pitchFamily="34" charset="-128"/>
            </a:endParaRPr>
          </a:p>
          <a:p>
            <a:pPr>
              <a:buNone/>
            </a:pPr>
            <a:r>
              <a:rPr lang="ja-JP" altLang="en-US" sz="1000" b="1">
                <a:solidFill>
                  <a:schemeClr val="bg1"/>
                </a:solidFill>
                <a:latin typeface="Helvetica" pitchFamily="2" charset="0"/>
                <a:ea typeface="Hiragino Sans W4" panose="020B0400000000000000" pitchFamily="34" charset="-128"/>
              </a:rPr>
              <a:t>あ</a:t>
            </a:r>
            <a:endParaRPr lang="ja-JP" altLang="ja-JP" sz="1000" b="1">
              <a:solidFill>
                <a:schemeClr val="bg1"/>
              </a:solidFill>
              <a:latin typeface="Helvetica" pitchFamily="2" charset="0"/>
              <a:ea typeface="Hiragino Sans W4" panose="020B0400000000000000" pitchFamily="34" charset="-128"/>
            </a:endParaRPr>
          </a:p>
          <a:p>
            <a:pPr>
              <a:buFont typeface="Arial" panose="020B0604020202020204" pitchFamily="34" charset="0"/>
              <a:buChar char="•"/>
            </a:pP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データセットが大きくなるにつれて、</a:t>
            </a:r>
            <a:br>
              <a:rPr lang="en-US" altLang="ja-JP" sz="2800" b="1" dirty="0">
                <a:latin typeface="Helvetica" pitchFamily="2" charset="0"/>
                <a:ea typeface="Hiragino Sans W4" panose="020B0400000000000000" pitchFamily="34" charset="-128"/>
              </a:rPr>
            </a:br>
            <a:r>
              <a:rPr lang="en-US" altLang="ja-JP" sz="2800" b="1" dirty="0">
                <a:latin typeface="Helvetica" pitchFamily="2" charset="0"/>
                <a:ea typeface="Hiragino Sans W4" panose="020B0400000000000000" pitchFamily="34" charset="-128"/>
              </a:rPr>
              <a:t>   </a:t>
            </a:r>
            <a:r>
              <a:rPr lang="ja-JP" altLang="en-US" sz="2800" b="1">
                <a:latin typeface="Helvetica" pitchFamily="2" charset="0"/>
                <a:ea typeface="Hiragino Sans W4" panose="020B0400000000000000" pitchFamily="34" charset="-128"/>
              </a:rPr>
              <a:t>計算コストが増加する</a:t>
            </a:r>
            <a:br>
              <a:rPr lang="en-US" altLang="ja-JP" sz="2800" b="1" dirty="0">
                <a:latin typeface="Helvetica" pitchFamily="2" charset="0"/>
                <a:ea typeface="Hiragino Sans W4" panose="020B0400000000000000" pitchFamily="34" charset="-128"/>
              </a:rPr>
            </a:br>
            <a:r>
              <a:rPr lang="ja-JP" altLang="en-US" sz="2400" b="1">
                <a:latin typeface="Helvetica" pitchFamily="2" charset="0"/>
                <a:ea typeface="Hiragino Sans W4" panose="020B0400000000000000" pitchFamily="34" charset="-128"/>
              </a:rPr>
              <a:t>それぞれのデータについて多数決を取らなければならないという性質上、データ数が増えるに伴って計算量も非常に多くなってしまう</a:t>
            </a:r>
            <a:endParaRPr lang="ja-JP" altLang="ja-JP" sz="2400" b="1">
              <a:latin typeface="Helvetica" pitchFamily="2" charset="0"/>
              <a:ea typeface="Hiragino Sans W4" panose="020B0400000000000000" pitchFamily="34" charset="-128"/>
            </a:endParaRPr>
          </a:p>
        </p:txBody>
      </p:sp>
      <p:sp>
        <p:nvSpPr>
          <p:cNvPr id="10" name="正方形/長方形 9">
            <a:extLst>
              <a:ext uri="{FF2B5EF4-FFF2-40B4-BE49-F238E27FC236}">
                <a16:creationId xmlns:a16="http://schemas.microsoft.com/office/drawing/2014/main" id="{F5F3C9B7-ABDF-1C7B-0211-ECAF1877B755}"/>
              </a:ext>
            </a:extLst>
          </p:cNvPr>
          <p:cNvSpPr/>
          <p:nvPr/>
        </p:nvSpPr>
        <p:spPr>
          <a:xfrm>
            <a:off x="365760" y="3788488"/>
            <a:ext cx="8205584" cy="2694883"/>
          </a:xfrm>
          <a:prstGeom prst="rect">
            <a:avLst/>
          </a:prstGeom>
          <a:noFill/>
          <a:ln w="38100">
            <a:solidFill>
              <a:schemeClr val="tx2">
                <a:lumMod val="10000"/>
                <a:lumOff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92633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1">
            <a:extLst>
              <a:ext uri="{FF2B5EF4-FFF2-40B4-BE49-F238E27FC236}">
                <a16:creationId xmlns:a16="http://schemas.microsoft.com/office/drawing/2014/main" id="{345F4BEC-9874-5D11-15F2-310BBA920014}"/>
              </a:ext>
            </a:extLst>
          </p:cNvPr>
          <p:cNvSpPr>
            <a:spLocks noGrp="1"/>
          </p:cNvSpPr>
          <p:nvPr>
            <p:ph type="title"/>
          </p:nvPr>
        </p:nvSpPr>
        <p:spPr>
          <a:xfrm>
            <a:off x="0" y="18256"/>
            <a:ext cx="9255760" cy="897337"/>
          </a:xfrm>
        </p:spPr>
        <p:txBody>
          <a:bodyPr>
            <a:normAutofit fontScale="90000"/>
          </a:bodyPr>
          <a:lstStyle/>
          <a:p>
            <a:r>
              <a:rPr lang="en-US" altLang="ja-JP" dirty="0">
                <a:latin typeface="Helvetica" pitchFamily="2" charset="0"/>
              </a:rPr>
              <a:t>Random Forest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6" name="コンテンツ プレースホルダー 3">
            <a:extLst>
              <a:ext uri="{FF2B5EF4-FFF2-40B4-BE49-F238E27FC236}">
                <a16:creationId xmlns:a16="http://schemas.microsoft.com/office/drawing/2014/main" id="{0CAE61CF-9620-76D8-B485-8F13F92B1319}"/>
              </a:ext>
            </a:extLst>
          </p:cNvPr>
          <p:cNvSpPr txBox="1">
            <a:spLocks/>
          </p:cNvSpPr>
          <p:nvPr/>
        </p:nvSpPr>
        <p:spPr>
          <a:xfrm>
            <a:off x="191018" y="1030213"/>
            <a:ext cx="902612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Decision Tree </a:t>
            </a:r>
            <a:r>
              <a:rPr lang="ja-JP" altLang="en-US" b="1"/>
              <a:t>（決定木）</a:t>
            </a:r>
            <a:endParaRPr lang="ja-JP" altLang="ja-JP" b="1"/>
          </a:p>
          <a:p>
            <a:r>
              <a:rPr lang="ja-JP" altLang="ja-JP" sz="2400" b="1"/>
              <a:t>Builds a hierarchical tree structure using Yes/No questions</a:t>
            </a:r>
          </a:p>
          <a:p>
            <a:r>
              <a:rPr lang="ja-JP" altLang="ja-JP" sz="2400" b="1"/>
              <a:t>Optimizes the splits and thresholds to fit the input data</a:t>
            </a:r>
          </a:p>
          <a:p>
            <a:r>
              <a:rPr lang="ja-JP" altLang="ja-JP" sz="2400" b="1"/>
              <a:t>Needs attention to overfitting</a:t>
            </a:r>
            <a:r>
              <a:rPr lang="en-US" altLang="ja-JP" sz="2400" b="1" dirty="0"/>
              <a:t>, </a:t>
            </a:r>
            <a:r>
              <a:rPr lang="ja-JP" altLang="ja-JP" sz="2400" b="1"/>
              <a:t>Not good at</a:t>
            </a:r>
            <a:r>
              <a:rPr lang="en-US" altLang="ja-JP" sz="2400" b="1" dirty="0"/>
              <a:t> </a:t>
            </a:r>
            <a:r>
              <a:rPr lang="ja-JP" altLang="ja-JP" sz="2400" b="1"/>
              <a:t>extrapolation</a:t>
            </a:r>
          </a:p>
          <a:p>
            <a:pPr marL="0" indent="0">
              <a:buNone/>
            </a:pPr>
            <a:br>
              <a:rPr lang="en-US" altLang="ja-JP" b="1" dirty="0"/>
            </a:br>
            <a:endParaRPr lang="en-US" altLang="ja-JP" b="1" dirty="0"/>
          </a:p>
          <a:p>
            <a:endParaRPr lang="ja-JP" altLang="en-US" b="1"/>
          </a:p>
        </p:txBody>
      </p:sp>
      <p:sp>
        <p:nvSpPr>
          <p:cNvPr id="7" name="正方形/長方形 6">
            <a:extLst>
              <a:ext uri="{FF2B5EF4-FFF2-40B4-BE49-F238E27FC236}">
                <a16:creationId xmlns:a16="http://schemas.microsoft.com/office/drawing/2014/main" id="{8F92C02B-E25E-9134-E3F5-B6D8878F1EC6}"/>
              </a:ext>
            </a:extLst>
          </p:cNvPr>
          <p:cNvSpPr/>
          <p:nvPr/>
        </p:nvSpPr>
        <p:spPr>
          <a:xfrm>
            <a:off x="406400" y="3051313"/>
            <a:ext cx="8205584" cy="3339548"/>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60C4F59D-88C8-EB88-F488-BB525A83ABB3}"/>
              </a:ext>
            </a:extLst>
          </p:cNvPr>
          <p:cNvPicPr>
            <a:picLocks noChangeAspect="1"/>
          </p:cNvPicPr>
          <p:nvPr/>
        </p:nvPicPr>
        <p:blipFill>
          <a:blip r:embed="rId3"/>
          <a:srcRect r="4113"/>
          <a:stretch>
            <a:fillRect/>
          </a:stretch>
        </p:blipFill>
        <p:spPr>
          <a:xfrm>
            <a:off x="532016" y="3429000"/>
            <a:ext cx="4172064" cy="2579656"/>
          </a:xfrm>
          <a:prstGeom prst="rect">
            <a:avLst/>
          </a:prstGeom>
          <a:solidFill>
            <a:schemeClr val="bg1"/>
          </a:solidFill>
        </p:spPr>
      </p:pic>
      <p:pic>
        <p:nvPicPr>
          <p:cNvPr id="11" name="図 10">
            <a:extLst>
              <a:ext uri="{FF2B5EF4-FFF2-40B4-BE49-F238E27FC236}">
                <a16:creationId xmlns:a16="http://schemas.microsoft.com/office/drawing/2014/main" id="{0080F036-9550-6D6B-16F2-AECFB564CEA6}"/>
              </a:ext>
            </a:extLst>
          </p:cNvPr>
          <p:cNvPicPr>
            <a:picLocks noChangeAspect="1"/>
          </p:cNvPicPr>
          <p:nvPr/>
        </p:nvPicPr>
        <p:blipFill>
          <a:blip r:embed="rId4"/>
          <a:stretch>
            <a:fillRect/>
          </a:stretch>
        </p:blipFill>
        <p:spPr>
          <a:xfrm>
            <a:off x="5113020" y="3345033"/>
            <a:ext cx="3279140" cy="2747590"/>
          </a:xfrm>
          <a:prstGeom prst="rect">
            <a:avLst/>
          </a:prstGeom>
          <a:solidFill>
            <a:schemeClr val="bg1"/>
          </a:solidFill>
        </p:spPr>
      </p:pic>
    </p:spTree>
    <p:extLst>
      <p:ext uri="{BB962C8B-B14F-4D97-AF65-F5344CB8AC3E}">
        <p14:creationId xmlns:p14="http://schemas.microsoft.com/office/powerpoint/2010/main" val="3191072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BBBDD-847A-6576-E4B1-4D3ECD8931C0}"/>
            </a:ext>
          </a:extLst>
        </p:cNvPr>
        <p:cNvGrpSpPr/>
        <p:nvPr/>
      </p:nvGrpSpPr>
      <p:grpSpPr>
        <a:xfrm>
          <a:off x="0" y="0"/>
          <a:ext cx="0" cy="0"/>
          <a:chOff x="0" y="0"/>
          <a:chExt cx="0" cy="0"/>
        </a:xfrm>
      </p:grpSpPr>
      <p:sp>
        <p:nvSpPr>
          <p:cNvPr id="5" name="タイトル 1">
            <a:extLst>
              <a:ext uri="{FF2B5EF4-FFF2-40B4-BE49-F238E27FC236}">
                <a16:creationId xmlns:a16="http://schemas.microsoft.com/office/drawing/2014/main" id="{B441ACF5-013A-DBCC-42BB-40BD0245E9D4}"/>
              </a:ext>
            </a:extLst>
          </p:cNvPr>
          <p:cNvSpPr>
            <a:spLocks noGrp="1"/>
          </p:cNvSpPr>
          <p:nvPr>
            <p:ph type="title"/>
          </p:nvPr>
        </p:nvSpPr>
        <p:spPr>
          <a:xfrm>
            <a:off x="0" y="18256"/>
            <a:ext cx="9255760" cy="897337"/>
          </a:xfrm>
        </p:spPr>
        <p:txBody>
          <a:bodyPr>
            <a:normAutofit/>
          </a:bodyPr>
          <a:lstStyle/>
          <a:p>
            <a:r>
              <a:rPr lang="en-US" altLang="ja-JP" dirty="0">
                <a:latin typeface="Helvetica" pitchFamily="2" charset="0"/>
              </a:rPr>
              <a:t>Random Forest </a:t>
            </a:r>
            <a:r>
              <a:rPr lang="ja-JP" altLang="en-US" sz="3100">
                <a:latin typeface="Helvetica" pitchFamily="2" charset="0"/>
              </a:rPr>
              <a:t>原理と特徴</a:t>
            </a:r>
            <a:endParaRPr kumimoji="1" lang="ja-JP" altLang="en-US" sz="3100">
              <a:latin typeface="Helvetica" pitchFamily="2" charset="0"/>
            </a:endParaRPr>
          </a:p>
        </p:txBody>
      </p:sp>
      <p:sp>
        <p:nvSpPr>
          <p:cNvPr id="6" name="コンテンツ プレースホルダー 3">
            <a:extLst>
              <a:ext uri="{FF2B5EF4-FFF2-40B4-BE49-F238E27FC236}">
                <a16:creationId xmlns:a16="http://schemas.microsoft.com/office/drawing/2014/main" id="{BE1EFFCA-497E-C2CD-0018-3F4736E5BAAB}"/>
              </a:ext>
            </a:extLst>
          </p:cNvPr>
          <p:cNvSpPr txBox="1">
            <a:spLocks/>
          </p:cNvSpPr>
          <p:nvPr/>
        </p:nvSpPr>
        <p:spPr>
          <a:xfrm>
            <a:off x="191018" y="1030213"/>
            <a:ext cx="902612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Decision Tree </a:t>
            </a:r>
            <a:r>
              <a:rPr lang="ja-JP" altLang="en-US" b="1"/>
              <a:t>（決定木）</a:t>
            </a:r>
            <a:endParaRPr lang="ja-JP" altLang="ja-JP" b="1"/>
          </a:p>
          <a:p>
            <a:r>
              <a:rPr lang="ja-JP" altLang="ja-JP" sz="2400" b="1">
                <a:latin typeface="Hiragino Sans W6" panose="020B0400000000000000" pitchFamily="34" charset="-128"/>
                <a:ea typeface="Hiragino Sans W6" panose="020B0400000000000000" pitchFamily="34" charset="-128"/>
              </a:rPr>
              <a:t>Yes/Noで答えられる分岐で構成された階層的な木構造を構築</a:t>
            </a:r>
          </a:p>
          <a:p>
            <a:r>
              <a:rPr lang="ja-JP" altLang="ja-JP" sz="2400" b="1">
                <a:latin typeface="Hiragino Sans W6" panose="020B0400000000000000" pitchFamily="34" charset="-128"/>
                <a:ea typeface="Hiragino Sans W6" panose="020B0400000000000000" pitchFamily="34" charset="-128"/>
              </a:rPr>
              <a:t>分岐の数と閾値をさまざまに変えて入力データに最適化</a:t>
            </a:r>
          </a:p>
          <a:p>
            <a:r>
              <a:rPr lang="ja-JP" altLang="en-US" sz="2400" b="1">
                <a:latin typeface="Hiragino Sans W6" panose="020B0400000000000000" pitchFamily="34" charset="-128"/>
                <a:ea typeface="Hiragino Sans W6" panose="020B0400000000000000" pitchFamily="34" charset="-128"/>
              </a:rPr>
              <a:t>過学習に注意、外挿は不得意</a:t>
            </a:r>
          </a:p>
          <a:p>
            <a:endParaRPr lang="ja-JP" altLang="ja-JP" sz="2400" b="1"/>
          </a:p>
          <a:p>
            <a:pPr marL="0" indent="0">
              <a:buNone/>
            </a:pPr>
            <a:br>
              <a:rPr lang="en-US" altLang="ja-JP" b="1" dirty="0"/>
            </a:br>
            <a:endParaRPr lang="en-US" altLang="ja-JP" b="1" dirty="0"/>
          </a:p>
          <a:p>
            <a:endParaRPr lang="ja-JP" altLang="en-US" b="1"/>
          </a:p>
        </p:txBody>
      </p:sp>
      <p:sp>
        <p:nvSpPr>
          <p:cNvPr id="7" name="正方形/長方形 6">
            <a:extLst>
              <a:ext uri="{FF2B5EF4-FFF2-40B4-BE49-F238E27FC236}">
                <a16:creationId xmlns:a16="http://schemas.microsoft.com/office/drawing/2014/main" id="{469A688E-37A4-93AF-DD2F-F9AB052DDE77}"/>
              </a:ext>
            </a:extLst>
          </p:cNvPr>
          <p:cNvSpPr/>
          <p:nvPr/>
        </p:nvSpPr>
        <p:spPr>
          <a:xfrm>
            <a:off x="406400" y="3051313"/>
            <a:ext cx="8205584" cy="3339548"/>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9" name="図 8">
            <a:extLst>
              <a:ext uri="{FF2B5EF4-FFF2-40B4-BE49-F238E27FC236}">
                <a16:creationId xmlns:a16="http://schemas.microsoft.com/office/drawing/2014/main" id="{36C43D21-8269-684C-8567-E4CA049FE665}"/>
              </a:ext>
            </a:extLst>
          </p:cNvPr>
          <p:cNvPicPr>
            <a:picLocks noChangeAspect="1"/>
          </p:cNvPicPr>
          <p:nvPr/>
        </p:nvPicPr>
        <p:blipFill>
          <a:blip r:embed="rId3"/>
          <a:srcRect r="4113"/>
          <a:stretch>
            <a:fillRect/>
          </a:stretch>
        </p:blipFill>
        <p:spPr>
          <a:xfrm>
            <a:off x="532016" y="3429000"/>
            <a:ext cx="4172064" cy="2579656"/>
          </a:xfrm>
          <a:prstGeom prst="rect">
            <a:avLst/>
          </a:prstGeom>
          <a:solidFill>
            <a:schemeClr val="bg1"/>
          </a:solidFill>
        </p:spPr>
      </p:pic>
      <p:pic>
        <p:nvPicPr>
          <p:cNvPr id="11" name="図 10">
            <a:extLst>
              <a:ext uri="{FF2B5EF4-FFF2-40B4-BE49-F238E27FC236}">
                <a16:creationId xmlns:a16="http://schemas.microsoft.com/office/drawing/2014/main" id="{5EBC987A-DE30-5D78-FC45-D90866C789EF}"/>
              </a:ext>
            </a:extLst>
          </p:cNvPr>
          <p:cNvPicPr>
            <a:picLocks noChangeAspect="1"/>
          </p:cNvPicPr>
          <p:nvPr/>
        </p:nvPicPr>
        <p:blipFill>
          <a:blip r:embed="rId4"/>
          <a:stretch>
            <a:fillRect/>
          </a:stretch>
        </p:blipFill>
        <p:spPr>
          <a:xfrm>
            <a:off x="5113020" y="3345033"/>
            <a:ext cx="3279140" cy="2747590"/>
          </a:xfrm>
          <a:prstGeom prst="rect">
            <a:avLst/>
          </a:prstGeom>
          <a:solidFill>
            <a:schemeClr val="bg1"/>
          </a:solidFill>
        </p:spPr>
      </p:pic>
    </p:spTree>
    <p:extLst>
      <p:ext uri="{BB962C8B-B14F-4D97-AF65-F5344CB8AC3E}">
        <p14:creationId xmlns:p14="http://schemas.microsoft.com/office/powerpoint/2010/main" val="325012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8EC3CAA2-0DDB-6876-62BA-069D14996F8F}"/>
              </a:ext>
            </a:extLst>
          </p:cNvPr>
          <p:cNvSpPr/>
          <p:nvPr/>
        </p:nvSpPr>
        <p:spPr>
          <a:xfrm>
            <a:off x="406400" y="4013200"/>
            <a:ext cx="8205584" cy="2580640"/>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E3C5F55D-CAB8-A4FE-C63D-E7395B289416}"/>
              </a:ext>
            </a:extLst>
          </p:cNvPr>
          <p:cNvSpPr>
            <a:spLocks noGrp="1"/>
          </p:cNvSpPr>
          <p:nvPr>
            <p:ph type="title"/>
          </p:nvPr>
        </p:nvSpPr>
        <p:spPr>
          <a:xfrm>
            <a:off x="0" y="18256"/>
            <a:ext cx="9276080" cy="897337"/>
          </a:xfrm>
        </p:spPr>
        <p:txBody>
          <a:bodyPr>
            <a:normAutofit fontScale="90000"/>
          </a:bodyPr>
          <a:lstStyle/>
          <a:p>
            <a:r>
              <a:rPr lang="en-US" altLang="ja-JP" dirty="0">
                <a:latin typeface="Helvetica" pitchFamily="2" charset="0"/>
              </a:rPr>
              <a:t>Random Forest </a:t>
            </a:r>
            <a:r>
              <a:rPr lang="en-US" altLang="ja-JP" sz="3100" dirty="0">
                <a:latin typeface="Helvetica" pitchFamily="2" charset="0"/>
              </a:rPr>
              <a:t>Principles and Characteristics</a:t>
            </a:r>
            <a:endParaRPr kumimoji="1" lang="ja-JP" altLang="en-US" sz="3100">
              <a:latin typeface="Helvetica" pitchFamily="2" charset="0"/>
            </a:endParaRPr>
          </a:p>
        </p:txBody>
      </p:sp>
      <p:sp>
        <p:nvSpPr>
          <p:cNvPr id="7" name="コンテンツ プレースホルダー 3">
            <a:extLst>
              <a:ext uri="{FF2B5EF4-FFF2-40B4-BE49-F238E27FC236}">
                <a16:creationId xmlns:a16="http://schemas.microsoft.com/office/drawing/2014/main" id="{F4E32356-B0F9-2954-F08A-7F2B835CEB74}"/>
              </a:ext>
            </a:extLst>
          </p:cNvPr>
          <p:cNvSpPr txBox="1">
            <a:spLocks/>
          </p:cNvSpPr>
          <p:nvPr/>
        </p:nvSpPr>
        <p:spPr>
          <a:xfrm>
            <a:off x="229637" y="985520"/>
            <a:ext cx="904644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ja-JP" sz="3000" b="1"/>
              <a:t>Random Forest</a:t>
            </a:r>
          </a:p>
          <a:p>
            <a:r>
              <a:rPr lang="ja-JP" altLang="ja-JP" sz="2000" b="1"/>
              <a:t>An ensemble method that combines multiple  </a:t>
            </a:r>
            <a:r>
              <a:rPr lang="en-US" altLang="ja-JP" sz="2000" b="1" dirty="0"/>
              <a:t>decision tree</a:t>
            </a:r>
            <a:endParaRPr lang="ja-JP" altLang="ja-JP" sz="2000" b="1"/>
          </a:p>
          <a:p>
            <a:r>
              <a:rPr lang="ja-JP" altLang="ja-JP" sz="2000" b="1"/>
              <a:t>An ensemble of decision trees</a:t>
            </a:r>
          </a:p>
          <a:p>
            <a:pPr marL="0" indent="0">
              <a:buNone/>
            </a:pPr>
            <a:r>
              <a:rPr lang="ja-JP" altLang="en-US" sz="2000" b="1"/>
              <a:t>　</a:t>
            </a:r>
            <a:r>
              <a:rPr lang="ja-JP" altLang="ja-JP" sz="2000" b="1"/>
              <a:t>Trains N decision trees using sampled subsets of the data</a:t>
            </a:r>
          </a:p>
          <a:p>
            <a:pPr marL="0" indent="0">
              <a:buNone/>
            </a:pPr>
            <a:r>
              <a:rPr lang="ja-JP" altLang="en-US" sz="2000" b="1"/>
              <a:t>　</a:t>
            </a:r>
            <a:r>
              <a:rPr lang="ja-JP" altLang="ja-JP" sz="2000" b="1"/>
              <a:t>Makes predictions by majority vote for classification or by averaging </a:t>
            </a:r>
            <a:r>
              <a:rPr lang="ja-JP" altLang="en-US" sz="2000" b="1"/>
              <a:t>　　</a:t>
            </a:r>
            <a:br>
              <a:rPr lang="en-US" altLang="ja-JP" sz="2000" b="1" dirty="0"/>
            </a:br>
            <a:r>
              <a:rPr lang="ja-JP" altLang="en-US" sz="2000" b="1"/>
              <a:t>　　</a:t>
            </a:r>
            <a:r>
              <a:rPr lang="ja-JP" altLang="ja-JP" sz="2000" b="1"/>
              <a:t>for regression</a:t>
            </a:r>
          </a:p>
          <a:p>
            <a:r>
              <a:rPr lang="ja-JP" altLang="ja-JP" sz="2000" b="1"/>
              <a:t>Not good at extrapolation</a:t>
            </a:r>
          </a:p>
          <a:p>
            <a:pPr marL="0" indent="0">
              <a:buNone/>
            </a:pPr>
            <a:br>
              <a:rPr lang="en-US" altLang="ja-JP" b="1" dirty="0"/>
            </a:br>
            <a:endParaRPr lang="en-US" altLang="ja-JP" b="1" dirty="0"/>
          </a:p>
          <a:p>
            <a:endParaRPr lang="ja-JP" altLang="en-US" b="1"/>
          </a:p>
        </p:txBody>
      </p:sp>
      <p:pic>
        <p:nvPicPr>
          <p:cNvPr id="9" name="図 8">
            <a:extLst>
              <a:ext uri="{FF2B5EF4-FFF2-40B4-BE49-F238E27FC236}">
                <a16:creationId xmlns:a16="http://schemas.microsoft.com/office/drawing/2014/main" id="{6F0E5FF2-4219-5C73-8E39-E8DB02136C26}"/>
              </a:ext>
            </a:extLst>
          </p:cNvPr>
          <p:cNvPicPr>
            <a:picLocks noChangeAspect="1"/>
          </p:cNvPicPr>
          <p:nvPr/>
        </p:nvPicPr>
        <p:blipFill>
          <a:blip r:embed="rId3"/>
          <a:srcRect r="4113"/>
          <a:stretch>
            <a:fillRect/>
          </a:stretch>
        </p:blipFill>
        <p:spPr>
          <a:xfrm>
            <a:off x="843280" y="4137771"/>
            <a:ext cx="2341880" cy="1448023"/>
          </a:xfrm>
          <a:prstGeom prst="rect">
            <a:avLst/>
          </a:prstGeom>
          <a:solidFill>
            <a:schemeClr val="bg1"/>
          </a:solidFill>
          <a:ln w="28575">
            <a:solidFill>
              <a:schemeClr val="tx1"/>
            </a:solidFill>
          </a:ln>
        </p:spPr>
      </p:pic>
      <p:pic>
        <p:nvPicPr>
          <p:cNvPr id="11" name="図 10">
            <a:extLst>
              <a:ext uri="{FF2B5EF4-FFF2-40B4-BE49-F238E27FC236}">
                <a16:creationId xmlns:a16="http://schemas.microsoft.com/office/drawing/2014/main" id="{1C92EBAE-40D2-164C-5B0E-DA3695F4BCCA}"/>
              </a:ext>
            </a:extLst>
          </p:cNvPr>
          <p:cNvPicPr>
            <a:picLocks noChangeAspect="1"/>
          </p:cNvPicPr>
          <p:nvPr/>
        </p:nvPicPr>
        <p:blipFill>
          <a:blip r:embed="rId3"/>
          <a:srcRect r="4113"/>
          <a:stretch>
            <a:fillRect/>
          </a:stretch>
        </p:blipFill>
        <p:spPr>
          <a:xfrm>
            <a:off x="3401060" y="4137771"/>
            <a:ext cx="2341880" cy="1448023"/>
          </a:xfrm>
          <a:prstGeom prst="rect">
            <a:avLst/>
          </a:prstGeom>
          <a:solidFill>
            <a:schemeClr val="bg1"/>
          </a:solidFill>
          <a:ln w="28575">
            <a:solidFill>
              <a:schemeClr val="tx1"/>
            </a:solidFill>
          </a:ln>
        </p:spPr>
      </p:pic>
      <p:pic>
        <p:nvPicPr>
          <p:cNvPr id="12" name="図 11">
            <a:extLst>
              <a:ext uri="{FF2B5EF4-FFF2-40B4-BE49-F238E27FC236}">
                <a16:creationId xmlns:a16="http://schemas.microsoft.com/office/drawing/2014/main" id="{B0FAA87D-9C41-D5FD-7F62-FFACFCACC3AB}"/>
              </a:ext>
            </a:extLst>
          </p:cNvPr>
          <p:cNvPicPr>
            <a:picLocks noChangeAspect="1"/>
          </p:cNvPicPr>
          <p:nvPr/>
        </p:nvPicPr>
        <p:blipFill>
          <a:blip r:embed="rId3"/>
          <a:srcRect r="4113"/>
          <a:stretch>
            <a:fillRect/>
          </a:stretch>
        </p:blipFill>
        <p:spPr>
          <a:xfrm>
            <a:off x="5958840" y="4137771"/>
            <a:ext cx="2341880" cy="1448023"/>
          </a:xfrm>
          <a:prstGeom prst="rect">
            <a:avLst/>
          </a:prstGeom>
          <a:solidFill>
            <a:schemeClr val="bg1"/>
          </a:solidFill>
          <a:ln w="28575">
            <a:solidFill>
              <a:schemeClr val="tx1"/>
            </a:solidFill>
          </a:ln>
        </p:spPr>
      </p:pic>
      <p:sp>
        <p:nvSpPr>
          <p:cNvPr id="13" name="左中かっこ 12">
            <a:extLst>
              <a:ext uri="{FF2B5EF4-FFF2-40B4-BE49-F238E27FC236}">
                <a16:creationId xmlns:a16="http://schemas.microsoft.com/office/drawing/2014/main" id="{5404E8F4-C8A2-7418-9A5F-C600333A53D3}"/>
              </a:ext>
            </a:extLst>
          </p:cNvPr>
          <p:cNvSpPr/>
          <p:nvPr/>
        </p:nvSpPr>
        <p:spPr>
          <a:xfrm rot="16200000" flipV="1">
            <a:off x="4208326" y="2408374"/>
            <a:ext cx="463188" cy="6827520"/>
          </a:xfrm>
          <a:prstGeom prst="leftBrace">
            <a:avLst>
              <a:gd name="adj1" fmla="val 28586"/>
              <a:gd name="adj2" fmla="val 50277"/>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13DADF4C-AA33-1EF0-031B-C1953573AE07}"/>
              </a:ext>
            </a:extLst>
          </p:cNvPr>
          <p:cNvSpPr txBox="1"/>
          <p:nvPr/>
        </p:nvSpPr>
        <p:spPr>
          <a:xfrm>
            <a:off x="1026160" y="6054999"/>
            <a:ext cx="7107906" cy="584775"/>
          </a:xfrm>
          <a:prstGeom prst="rect">
            <a:avLst/>
          </a:prstGeom>
          <a:noFill/>
        </p:spPr>
        <p:txBody>
          <a:bodyPr wrap="square" rtlCol="0">
            <a:spAutoFit/>
          </a:bodyPr>
          <a:lstStyle/>
          <a:p>
            <a:r>
              <a:rPr lang="ja-JP" altLang="ja-JP" sz="3200" b="1">
                <a:latin typeface="Helvetica" pitchFamily="2" charset="0"/>
                <a:ea typeface="Hiragino Sans W4" panose="020B0400000000000000" pitchFamily="34" charset="-128"/>
              </a:rPr>
              <a:t>Majority Rule or Average</a:t>
            </a:r>
            <a:r>
              <a:rPr lang="en-US" altLang="ja-JP" sz="3200" b="1" dirty="0">
                <a:latin typeface="Helvetica" pitchFamily="2" charset="0"/>
                <a:ea typeface="Hiragino Sans W4" panose="020B0400000000000000" pitchFamily="34" charset="-128"/>
              </a:rPr>
              <a:t> (Bagging)</a:t>
            </a:r>
            <a:endParaRPr lang="ja-JP" altLang="ja-JP" sz="3200" b="1">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27692431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68397-5D8B-48CA-478A-E3D94A651EE0}"/>
            </a:ext>
          </a:extLst>
        </p:cNvPr>
        <p:cNvGrpSpPr/>
        <p:nvPr/>
      </p:nvGrpSpPr>
      <p:grpSpPr>
        <a:xfrm>
          <a:off x="0" y="0"/>
          <a:ext cx="0" cy="0"/>
          <a:chOff x="0" y="0"/>
          <a:chExt cx="0" cy="0"/>
        </a:xfrm>
      </p:grpSpPr>
      <p:sp>
        <p:nvSpPr>
          <p:cNvPr id="10" name="正方形/長方形 9">
            <a:extLst>
              <a:ext uri="{FF2B5EF4-FFF2-40B4-BE49-F238E27FC236}">
                <a16:creationId xmlns:a16="http://schemas.microsoft.com/office/drawing/2014/main" id="{18803892-9C2C-8A61-37AF-BD16745C5512}"/>
              </a:ext>
            </a:extLst>
          </p:cNvPr>
          <p:cNvSpPr/>
          <p:nvPr/>
        </p:nvSpPr>
        <p:spPr>
          <a:xfrm>
            <a:off x="406400" y="4013200"/>
            <a:ext cx="8205584" cy="2580640"/>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タイトル 1">
            <a:extLst>
              <a:ext uri="{FF2B5EF4-FFF2-40B4-BE49-F238E27FC236}">
                <a16:creationId xmlns:a16="http://schemas.microsoft.com/office/drawing/2014/main" id="{31B3FEC0-1474-3518-CC3F-F674687E6356}"/>
              </a:ext>
            </a:extLst>
          </p:cNvPr>
          <p:cNvSpPr>
            <a:spLocks noGrp="1"/>
          </p:cNvSpPr>
          <p:nvPr>
            <p:ph type="title"/>
          </p:nvPr>
        </p:nvSpPr>
        <p:spPr>
          <a:xfrm>
            <a:off x="0" y="18256"/>
            <a:ext cx="9276080" cy="897337"/>
          </a:xfrm>
        </p:spPr>
        <p:txBody>
          <a:bodyPr>
            <a:normAutofit/>
          </a:bodyPr>
          <a:lstStyle/>
          <a:p>
            <a:r>
              <a:rPr lang="en-US" altLang="ja-JP" dirty="0">
                <a:latin typeface="Helvetica" pitchFamily="2" charset="0"/>
              </a:rPr>
              <a:t>Random Forest </a:t>
            </a:r>
            <a:r>
              <a:rPr lang="ja-JP" altLang="en-US" sz="3100">
                <a:latin typeface="Helvetica" pitchFamily="2" charset="0"/>
              </a:rPr>
              <a:t>原理と特徴</a:t>
            </a:r>
            <a:endParaRPr kumimoji="1" lang="ja-JP" altLang="en-US" sz="3100">
              <a:latin typeface="Helvetica" pitchFamily="2" charset="0"/>
            </a:endParaRPr>
          </a:p>
        </p:txBody>
      </p:sp>
      <p:sp>
        <p:nvSpPr>
          <p:cNvPr id="7" name="コンテンツ プレースホルダー 3">
            <a:extLst>
              <a:ext uri="{FF2B5EF4-FFF2-40B4-BE49-F238E27FC236}">
                <a16:creationId xmlns:a16="http://schemas.microsoft.com/office/drawing/2014/main" id="{F96D4946-1F21-95D2-74FF-4A4E6DE4277B}"/>
              </a:ext>
            </a:extLst>
          </p:cNvPr>
          <p:cNvSpPr txBox="1">
            <a:spLocks/>
          </p:cNvSpPr>
          <p:nvPr/>
        </p:nvSpPr>
        <p:spPr>
          <a:xfrm>
            <a:off x="229637" y="985520"/>
            <a:ext cx="9046443" cy="47975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ja-JP" altLang="ja-JP" sz="3000" b="1"/>
              <a:t>Random Forest</a:t>
            </a:r>
          </a:p>
          <a:p>
            <a:r>
              <a:rPr lang="ja-JP" altLang="en-US" sz="2000" b="1">
                <a:ea typeface="Hiragino Sans W6" panose="020B0400000000000000" pitchFamily="34" charset="-128"/>
              </a:rPr>
              <a:t>複数の決定木を組み合わせたアンサンブル法の一つ</a:t>
            </a:r>
            <a:endParaRPr lang="ja-JP" altLang="ja-JP" sz="2000" b="1">
              <a:ea typeface="Hiragino Sans W6" panose="020B0400000000000000" pitchFamily="34" charset="-128"/>
            </a:endParaRPr>
          </a:p>
          <a:p>
            <a:r>
              <a:rPr lang="en-US" altLang="ja-JP" sz="2000" b="1" dirty="0">
                <a:ea typeface="Hiragino Sans W6" panose="020B0400000000000000" pitchFamily="34" charset="-128"/>
              </a:rPr>
              <a:t>Random Forest</a:t>
            </a:r>
            <a:r>
              <a:rPr lang="ja-JP" altLang="en-US" sz="2000" b="1">
                <a:ea typeface="Hiragino Sans W6" panose="020B0400000000000000" pitchFamily="34" charset="-128"/>
              </a:rPr>
              <a:t>は決定木のアンサンブル手法</a:t>
            </a:r>
            <a:endParaRPr lang="ja-JP" altLang="ja-JP" sz="2000" b="1">
              <a:ea typeface="Hiragino Sans W6" panose="020B0400000000000000" pitchFamily="34" charset="-128"/>
            </a:endParaRPr>
          </a:p>
          <a:p>
            <a:pPr marL="0" indent="0">
              <a:buNone/>
            </a:pPr>
            <a:r>
              <a:rPr lang="ja-JP" altLang="en-US" sz="2000" b="1">
                <a:ea typeface="Hiragino Sans W6" panose="020B0400000000000000" pitchFamily="34" charset="-128"/>
              </a:rPr>
              <a:t>　データの一部をサンプルして</a:t>
            </a:r>
            <a:r>
              <a:rPr lang="en" altLang="ja-JP" sz="2000" b="1" dirty="0">
                <a:ea typeface="Hiragino Sans W6" panose="020B0400000000000000" pitchFamily="34" charset="-128"/>
              </a:rPr>
              <a:t>N</a:t>
            </a:r>
            <a:r>
              <a:rPr lang="ja-JP" altLang="en-US" sz="2000" b="1">
                <a:ea typeface="Hiragino Sans W6" panose="020B0400000000000000" pitchFamily="34" charset="-128"/>
              </a:rPr>
              <a:t>個の決定木を学習</a:t>
            </a:r>
            <a:endParaRPr lang="en-US" altLang="ja-JP" sz="2000" b="1" dirty="0">
              <a:ea typeface="Hiragino Sans W6" panose="020B0400000000000000" pitchFamily="34" charset="-128"/>
            </a:endParaRPr>
          </a:p>
          <a:p>
            <a:pPr marL="0" indent="0">
              <a:buNone/>
            </a:pPr>
            <a:r>
              <a:rPr lang="ja-JP" altLang="en-US" sz="2000" b="1">
                <a:ea typeface="Hiragino Sans W6" panose="020B0400000000000000" pitchFamily="34" charset="-128"/>
              </a:rPr>
              <a:t>　</a:t>
            </a:r>
            <a:r>
              <a:rPr lang="en" altLang="ja-JP" sz="2000" b="1" dirty="0">
                <a:ea typeface="Hiragino Sans W6" panose="020B0400000000000000" pitchFamily="34" charset="-128"/>
              </a:rPr>
              <a:t>N</a:t>
            </a:r>
            <a:r>
              <a:rPr lang="ja-JP" altLang="en-US" sz="2000" b="1">
                <a:ea typeface="Hiragino Sans W6" panose="020B0400000000000000" pitchFamily="34" charset="-128"/>
              </a:rPr>
              <a:t>個の決定木の多数決</a:t>
            </a:r>
            <a:r>
              <a:rPr lang="en-US" altLang="ja-JP" sz="2000" b="1" dirty="0">
                <a:ea typeface="Hiragino Sans W6" panose="020B0400000000000000" pitchFamily="34" charset="-128"/>
              </a:rPr>
              <a:t>(</a:t>
            </a:r>
            <a:r>
              <a:rPr lang="en" altLang="ja-JP" sz="2000" b="1" dirty="0">
                <a:ea typeface="Hiragino Sans W6" panose="020B0400000000000000" pitchFamily="34" charset="-128"/>
              </a:rPr>
              <a:t>or </a:t>
            </a:r>
            <a:r>
              <a:rPr lang="ja-JP" altLang="en-US" sz="2000" b="1">
                <a:ea typeface="Hiragino Sans W6" panose="020B0400000000000000" pitchFamily="34" charset="-128"/>
              </a:rPr>
              <a:t>平均</a:t>
            </a:r>
            <a:r>
              <a:rPr lang="en-US" altLang="ja-JP" sz="2000" b="1" dirty="0">
                <a:ea typeface="Hiragino Sans W6" panose="020B0400000000000000" pitchFamily="34" charset="-128"/>
              </a:rPr>
              <a:t>)</a:t>
            </a:r>
            <a:r>
              <a:rPr lang="ja-JP" altLang="en-US" sz="2000" b="1">
                <a:ea typeface="Hiragino Sans W6" panose="020B0400000000000000" pitchFamily="34" charset="-128"/>
              </a:rPr>
              <a:t>で予測</a:t>
            </a:r>
            <a:endParaRPr lang="en-US" altLang="ja-JP" sz="2000" b="1" dirty="0">
              <a:ea typeface="Hiragino Sans W6" panose="020B0400000000000000" pitchFamily="34" charset="-128"/>
            </a:endParaRPr>
          </a:p>
          <a:p>
            <a:r>
              <a:rPr lang="ja-JP" altLang="en-US" sz="2000" b="1">
                <a:ea typeface="Hiragino Sans W6" panose="020B0400000000000000" pitchFamily="34" charset="-128"/>
              </a:rPr>
              <a:t>外挿は不得意</a:t>
            </a:r>
            <a:endParaRPr lang="en-US" altLang="ja-JP" sz="2000" b="1" dirty="0">
              <a:ea typeface="Hiragino Sans W6" panose="020B0400000000000000" pitchFamily="34" charset="-128"/>
            </a:endParaRPr>
          </a:p>
          <a:p>
            <a:pPr marL="0" indent="0">
              <a:buNone/>
            </a:pPr>
            <a:endParaRPr lang="ja-JP" altLang="ja-JP" sz="2000" b="1"/>
          </a:p>
          <a:p>
            <a:pPr marL="0" indent="0">
              <a:buNone/>
            </a:pPr>
            <a:br>
              <a:rPr lang="en-US" altLang="ja-JP" b="1" dirty="0"/>
            </a:br>
            <a:endParaRPr lang="en-US" altLang="ja-JP" b="1" dirty="0"/>
          </a:p>
          <a:p>
            <a:endParaRPr lang="ja-JP" altLang="en-US" b="1"/>
          </a:p>
        </p:txBody>
      </p:sp>
      <p:pic>
        <p:nvPicPr>
          <p:cNvPr id="9" name="図 8">
            <a:extLst>
              <a:ext uri="{FF2B5EF4-FFF2-40B4-BE49-F238E27FC236}">
                <a16:creationId xmlns:a16="http://schemas.microsoft.com/office/drawing/2014/main" id="{475A2693-7D2D-AB9B-527A-9B5DA376099F}"/>
              </a:ext>
            </a:extLst>
          </p:cNvPr>
          <p:cNvPicPr>
            <a:picLocks noChangeAspect="1"/>
          </p:cNvPicPr>
          <p:nvPr/>
        </p:nvPicPr>
        <p:blipFill>
          <a:blip r:embed="rId3"/>
          <a:srcRect r="4113"/>
          <a:stretch>
            <a:fillRect/>
          </a:stretch>
        </p:blipFill>
        <p:spPr>
          <a:xfrm>
            <a:off x="843280" y="4137771"/>
            <a:ext cx="2341880" cy="1448023"/>
          </a:xfrm>
          <a:prstGeom prst="rect">
            <a:avLst/>
          </a:prstGeom>
          <a:solidFill>
            <a:schemeClr val="bg1"/>
          </a:solidFill>
          <a:ln w="28575">
            <a:solidFill>
              <a:schemeClr val="tx1"/>
            </a:solidFill>
          </a:ln>
        </p:spPr>
      </p:pic>
      <p:pic>
        <p:nvPicPr>
          <p:cNvPr id="11" name="図 10">
            <a:extLst>
              <a:ext uri="{FF2B5EF4-FFF2-40B4-BE49-F238E27FC236}">
                <a16:creationId xmlns:a16="http://schemas.microsoft.com/office/drawing/2014/main" id="{20B3FCED-1B4D-7045-84DF-E7B9C7938CD9}"/>
              </a:ext>
            </a:extLst>
          </p:cNvPr>
          <p:cNvPicPr>
            <a:picLocks noChangeAspect="1"/>
          </p:cNvPicPr>
          <p:nvPr/>
        </p:nvPicPr>
        <p:blipFill>
          <a:blip r:embed="rId3"/>
          <a:srcRect r="4113"/>
          <a:stretch>
            <a:fillRect/>
          </a:stretch>
        </p:blipFill>
        <p:spPr>
          <a:xfrm>
            <a:off x="3401060" y="4137771"/>
            <a:ext cx="2341880" cy="1448023"/>
          </a:xfrm>
          <a:prstGeom prst="rect">
            <a:avLst/>
          </a:prstGeom>
          <a:solidFill>
            <a:schemeClr val="bg1"/>
          </a:solidFill>
          <a:ln w="28575">
            <a:solidFill>
              <a:schemeClr val="tx1"/>
            </a:solidFill>
          </a:ln>
        </p:spPr>
      </p:pic>
      <p:pic>
        <p:nvPicPr>
          <p:cNvPr id="12" name="図 11">
            <a:extLst>
              <a:ext uri="{FF2B5EF4-FFF2-40B4-BE49-F238E27FC236}">
                <a16:creationId xmlns:a16="http://schemas.microsoft.com/office/drawing/2014/main" id="{51BF5574-E0C3-CCED-6A6B-AEA6BC2F1CB4}"/>
              </a:ext>
            </a:extLst>
          </p:cNvPr>
          <p:cNvPicPr>
            <a:picLocks noChangeAspect="1"/>
          </p:cNvPicPr>
          <p:nvPr/>
        </p:nvPicPr>
        <p:blipFill>
          <a:blip r:embed="rId3"/>
          <a:srcRect r="4113"/>
          <a:stretch>
            <a:fillRect/>
          </a:stretch>
        </p:blipFill>
        <p:spPr>
          <a:xfrm>
            <a:off x="5958840" y="4137771"/>
            <a:ext cx="2341880" cy="1448023"/>
          </a:xfrm>
          <a:prstGeom prst="rect">
            <a:avLst/>
          </a:prstGeom>
          <a:solidFill>
            <a:schemeClr val="bg1"/>
          </a:solidFill>
          <a:ln w="28575">
            <a:solidFill>
              <a:schemeClr val="tx1"/>
            </a:solidFill>
          </a:ln>
        </p:spPr>
      </p:pic>
      <p:sp>
        <p:nvSpPr>
          <p:cNvPr id="13" name="左中かっこ 12">
            <a:extLst>
              <a:ext uri="{FF2B5EF4-FFF2-40B4-BE49-F238E27FC236}">
                <a16:creationId xmlns:a16="http://schemas.microsoft.com/office/drawing/2014/main" id="{4E80D37F-0B74-D705-A7FE-3B1B38FDA23E}"/>
              </a:ext>
            </a:extLst>
          </p:cNvPr>
          <p:cNvSpPr/>
          <p:nvPr/>
        </p:nvSpPr>
        <p:spPr>
          <a:xfrm rot="16200000" flipV="1">
            <a:off x="4208326" y="2408374"/>
            <a:ext cx="463188" cy="6827520"/>
          </a:xfrm>
          <a:prstGeom prst="leftBrace">
            <a:avLst>
              <a:gd name="adj1" fmla="val 28586"/>
              <a:gd name="adj2" fmla="val 50277"/>
            </a:avLst>
          </a:prstGeom>
          <a:ln w="57150"/>
        </p:spPr>
        <p:style>
          <a:lnRef idx="2">
            <a:schemeClr val="dk1"/>
          </a:lnRef>
          <a:fillRef idx="0">
            <a:schemeClr val="dk1"/>
          </a:fillRef>
          <a:effectRef idx="1">
            <a:schemeClr val="dk1"/>
          </a:effectRef>
          <a:fontRef idx="minor">
            <a:schemeClr val="tx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7518563-4DCA-6597-1126-2BA828A6F417}"/>
              </a:ext>
            </a:extLst>
          </p:cNvPr>
          <p:cNvSpPr txBox="1"/>
          <p:nvPr/>
        </p:nvSpPr>
        <p:spPr>
          <a:xfrm>
            <a:off x="2240811" y="6039167"/>
            <a:ext cx="5456527" cy="584775"/>
          </a:xfrm>
          <a:prstGeom prst="rect">
            <a:avLst/>
          </a:prstGeom>
          <a:noFill/>
        </p:spPr>
        <p:txBody>
          <a:bodyPr wrap="square" rtlCol="0">
            <a:spAutoFit/>
          </a:bodyPr>
          <a:lstStyle/>
          <a:p>
            <a:r>
              <a:rPr lang="ja-JP" altLang="en-US" sz="3200" b="1">
                <a:highlight>
                  <a:srgbClr val="FFFF00"/>
                </a:highlight>
                <a:latin typeface="Helvetica" pitchFamily="2" charset="0"/>
                <a:ea typeface="Hiragino Sans W6" panose="020B0400000000000000" pitchFamily="34" charset="-128"/>
              </a:rPr>
              <a:t>多数決</a:t>
            </a:r>
            <a:r>
              <a:rPr lang="en-US" altLang="ja-JP" sz="3200" b="1" dirty="0">
                <a:latin typeface="Helvetica" pitchFamily="2" charset="0"/>
                <a:ea typeface="Hiragino Sans W6" panose="020B0400000000000000" pitchFamily="34" charset="-128"/>
              </a:rPr>
              <a:t> or </a:t>
            </a:r>
            <a:r>
              <a:rPr lang="ja-JP" altLang="en-US" sz="3200" b="1">
                <a:latin typeface="Helvetica" pitchFamily="2" charset="0"/>
                <a:ea typeface="Hiragino Sans W6" panose="020B0400000000000000" pitchFamily="34" charset="-128"/>
              </a:rPr>
              <a:t>平均（バギング）</a:t>
            </a:r>
            <a:endParaRPr lang="ja-JP" altLang="ja-JP" sz="3200" b="1">
              <a:latin typeface="Helvetica" pitchFamily="2" charset="0"/>
              <a:ea typeface="Hiragino Sans W6" panose="020B0400000000000000" pitchFamily="34" charset="-128"/>
            </a:endParaRPr>
          </a:p>
        </p:txBody>
      </p:sp>
    </p:spTree>
    <p:extLst>
      <p:ext uri="{BB962C8B-B14F-4D97-AF65-F5344CB8AC3E}">
        <p14:creationId xmlns:p14="http://schemas.microsoft.com/office/powerpoint/2010/main" val="1443031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C82B2B91-B9B3-23B1-899A-D8AAFB25AEE4}"/>
              </a:ext>
            </a:extLst>
          </p:cNvPr>
          <p:cNvSpPr/>
          <p:nvPr/>
        </p:nvSpPr>
        <p:spPr>
          <a:xfrm>
            <a:off x="529258" y="1779104"/>
            <a:ext cx="8205584" cy="497950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7D907554-9DD5-82FF-759B-02DA8B33E02B}"/>
              </a:ext>
            </a:extLst>
          </p:cNvPr>
          <p:cNvSpPr>
            <a:spLocks noGrp="1"/>
          </p:cNvSpPr>
          <p:nvPr>
            <p:ph type="title"/>
          </p:nvPr>
        </p:nvSpPr>
        <p:spPr/>
        <p:txBody>
          <a:bodyPr>
            <a:normAutofit/>
          </a:bodyPr>
          <a:lstStyle/>
          <a:p>
            <a:r>
              <a:rPr lang="en-US" altLang="ja-JP" dirty="0">
                <a:latin typeface="Helvetica" pitchFamily="2" charset="0"/>
              </a:rPr>
              <a:t>Confusion </a:t>
            </a:r>
            <a:r>
              <a:rPr kumimoji="1" lang="en-US" altLang="ja-JP" dirty="0">
                <a:latin typeface="Helvetica" pitchFamily="2" charset="0"/>
              </a:rPr>
              <a:t>matrix </a:t>
            </a:r>
            <a:r>
              <a:rPr lang="en-US" altLang="ja-JP" sz="2700" dirty="0">
                <a:latin typeface="Helvetica" pitchFamily="2" charset="0"/>
              </a:rPr>
              <a:t>Evaluation Metrics</a:t>
            </a:r>
            <a:endParaRPr kumimoji="1" lang="ja-JP" altLang="en-US" sz="2700">
              <a:latin typeface="Helvetica" pitchFamily="2" charset="0"/>
            </a:endParaRPr>
          </a:p>
        </p:txBody>
      </p:sp>
      <p:sp>
        <p:nvSpPr>
          <p:cNvPr id="4" name="コンテンツ プレースホルダー 3">
            <a:extLst>
              <a:ext uri="{FF2B5EF4-FFF2-40B4-BE49-F238E27FC236}">
                <a16:creationId xmlns:a16="http://schemas.microsoft.com/office/drawing/2014/main" id="{7E78B210-5FD9-04C7-4E60-07B1CD6022A9}"/>
              </a:ext>
            </a:extLst>
          </p:cNvPr>
          <p:cNvSpPr>
            <a:spLocks noGrp="1"/>
          </p:cNvSpPr>
          <p:nvPr>
            <p:ph idx="13"/>
          </p:nvPr>
        </p:nvSpPr>
        <p:spPr>
          <a:xfrm>
            <a:off x="111814" y="1281480"/>
            <a:ext cx="9568899" cy="977528"/>
          </a:xfrm>
        </p:spPr>
        <p:txBody>
          <a:bodyPr/>
          <a:lstStyle/>
          <a:p>
            <a:pPr marL="0" indent="0">
              <a:buNone/>
            </a:pPr>
            <a:r>
              <a:rPr lang="ja-JP" altLang="ja-JP" b="1"/>
              <a:t>A table that summarizes the results of classification</a:t>
            </a:r>
          </a:p>
          <a:p>
            <a:endParaRPr kumimoji="1" lang="ja-JP" altLang="en-US" b="1"/>
          </a:p>
        </p:txBody>
      </p:sp>
      <p:pic>
        <p:nvPicPr>
          <p:cNvPr id="12" name="図 11">
            <a:extLst>
              <a:ext uri="{FF2B5EF4-FFF2-40B4-BE49-F238E27FC236}">
                <a16:creationId xmlns:a16="http://schemas.microsoft.com/office/drawing/2014/main" id="{45E4AC11-2CB6-6946-2A6D-644B99277DC1}"/>
              </a:ext>
            </a:extLst>
          </p:cNvPr>
          <p:cNvPicPr>
            <a:picLocks noChangeAspect="1"/>
          </p:cNvPicPr>
          <p:nvPr/>
        </p:nvPicPr>
        <p:blipFill>
          <a:blip r:embed="rId3"/>
          <a:stretch>
            <a:fillRect/>
          </a:stretch>
        </p:blipFill>
        <p:spPr>
          <a:xfrm>
            <a:off x="2878482" y="2036653"/>
            <a:ext cx="3387035" cy="2923546"/>
          </a:xfrm>
          <a:prstGeom prst="rect">
            <a:avLst/>
          </a:prstGeom>
          <a:solidFill>
            <a:schemeClr val="bg1"/>
          </a:solidFill>
        </p:spPr>
      </p:pic>
      <p:pic>
        <p:nvPicPr>
          <p:cNvPr id="14" name="図 13">
            <a:extLst>
              <a:ext uri="{FF2B5EF4-FFF2-40B4-BE49-F238E27FC236}">
                <a16:creationId xmlns:a16="http://schemas.microsoft.com/office/drawing/2014/main" id="{9F349B71-39FA-5FCB-A6A6-6364EE0ADC54}"/>
              </a:ext>
            </a:extLst>
          </p:cNvPr>
          <p:cNvPicPr>
            <a:picLocks noChangeAspect="1"/>
          </p:cNvPicPr>
          <p:nvPr/>
        </p:nvPicPr>
        <p:blipFill>
          <a:blip r:embed="rId4"/>
          <a:stretch>
            <a:fillRect/>
          </a:stretch>
        </p:blipFill>
        <p:spPr>
          <a:xfrm>
            <a:off x="1638299" y="5135504"/>
            <a:ext cx="5867400" cy="1447800"/>
          </a:xfrm>
          <a:prstGeom prst="rect">
            <a:avLst/>
          </a:prstGeom>
        </p:spPr>
      </p:pic>
      <p:sp>
        <p:nvSpPr>
          <p:cNvPr id="16" name="テキスト ボックス 15">
            <a:extLst>
              <a:ext uri="{FF2B5EF4-FFF2-40B4-BE49-F238E27FC236}">
                <a16:creationId xmlns:a16="http://schemas.microsoft.com/office/drawing/2014/main" id="{EDDEDAE3-72E5-76A8-D3BC-71F9E692B7D5}"/>
              </a:ext>
            </a:extLst>
          </p:cNvPr>
          <p:cNvSpPr txBox="1"/>
          <p:nvPr/>
        </p:nvSpPr>
        <p:spPr>
          <a:xfrm>
            <a:off x="692428" y="5628571"/>
            <a:ext cx="798442" cy="461665"/>
          </a:xfrm>
          <a:prstGeom prst="rect">
            <a:avLst/>
          </a:prstGeom>
          <a:noFill/>
        </p:spPr>
        <p:txBody>
          <a:bodyPr wrap="square">
            <a:spAutoFit/>
          </a:bodyPr>
          <a:lstStyle/>
          <a:p>
            <a:r>
              <a:rPr lang="en" altLang="ja-JP" sz="2400" b="1" dirty="0">
                <a:latin typeface="Helvetica" pitchFamily="2" charset="0"/>
              </a:rPr>
              <a:t>e.g. </a:t>
            </a:r>
            <a:endParaRPr lang="ja-JP" altLang="en-US" sz="2400" b="1">
              <a:latin typeface="Helvetica" pitchFamily="2" charset="0"/>
            </a:endParaRPr>
          </a:p>
        </p:txBody>
      </p:sp>
    </p:spTree>
    <p:extLst>
      <p:ext uri="{BB962C8B-B14F-4D97-AF65-F5344CB8AC3E}">
        <p14:creationId xmlns:p14="http://schemas.microsoft.com/office/powerpoint/2010/main" val="3195725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D8D2D-0F61-A1D6-E5A7-CF5566D4A4A2}"/>
            </a:ext>
          </a:extLst>
        </p:cNvPr>
        <p:cNvGrpSpPr/>
        <p:nvPr/>
      </p:nvGrpSpPr>
      <p:grpSpPr>
        <a:xfrm>
          <a:off x="0" y="0"/>
          <a:ext cx="0" cy="0"/>
          <a:chOff x="0" y="0"/>
          <a:chExt cx="0" cy="0"/>
        </a:xfrm>
      </p:grpSpPr>
      <p:sp>
        <p:nvSpPr>
          <p:cNvPr id="7" name="正方形/長方形 6">
            <a:extLst>
              <a:ext uri="{FF2B5EF4-FFF2-40B4-BE49-F238E27FC236}">
                <a16:creationId xmlns:a16="http://schemas.microsoft.com/office/drawing/2014/main" id="{E28D1549-11E6-8D70-59BC-99BB6F3EFB32}"/>
              </a:ext>
            </a:extLst>
          </p:cNvPr>
          <p:cNvSpPr/>
          <p:nvPr/>
        </p:nvSpPr>
        <p:spPr>
          <a:xfrm>
            <a:off x="529258" y="1779104"/>
            <a:ext cx="8205584" cy="497950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637C5A4E-E844-E8DA-4C0F-E1B082C50A29}"/>
              </a:ext>
            </a:extLst>
          </p:cNvPr>
          <p:cNvSpPr>
            <a:spLocks noGrp="1"/>
          </p:cNvSpPr>
          <p:nvPr>
            <p:ph type="title"/>
          </p:nvPr>
        </p:nvSpPr>
        <p:spPr/>
        <p:txBody>
          <a:bodyPr>
            <a:normAutofit/>
          </a:bodyPr>
          <a:lstStyle/>
          <a:p>
            <a:r>
              <a:rPr kumimoji="1" lang="ja-JP" altLang="en-US">
                <a:latin typeface="Helvetica" pitchFamily="2" charset="0"/>
              </a:rPr>
              <a:t>混同行列</a:t>
            </a:r>
            <a:r>
              <a:rPr kumimoji="1" lang="en-US" altLang="ja-JP" dirty="0">
                <a:latin typeface="Helvetica" pitchFamily="2" charset="0"/>
              </a:rPr>
              <a:t> </a:t>
            </a:r>
            <a:r>
              <a:rPr kumimoji="1" lang="ja-JP" altLang="en-US" sz="2700">
                <a:latin typeface="Helvetica" pitchFamily="2" charset="0"/>
              </a:rPr>
              <a:t>評価指標</a:t>
            </a:r>
          </a:p>
        </p:txBody>
      </p:sp>
      <p:sp>
        <p:nvSpPr>
          <p:cNvPr id="4" name="コンテンツ プレースホルダー 3">
            <a:extLst>
              <a:ext uri="{FF2B5EF4-FFF2-40B4-BE49-F238E27FC236}">
                <a16:creationId xmlns:a16="http://schemas.microsoft.com/office/drawing/2014/main" id="{3A55A472-7C0B-DE44-DE84-D1B99AEE9DA2}"/>
              </a:ext>
            </a:extLst>
          </p:cNvPr>
          <p:cNvSpPr>
            <a:spLocks noGrp="1"/>
          </p:cNvSpPr>
          <p:nvPr>
            <p:ph idx="13"/>
          </p:nvPr>
        </p:nvSpPr>
        <p:spPr>
          <a:xfrm>
            <a:off x="111814" y="1281480"/>
            <a:ext cx="9568899" cy="977528"/>
          </a:xfrm>
        </p:spPr>
        <p:txBody>
          <a:bodyPr/>
          <a:lstStyle/>
          <a:p>
            <a:pPr marL="0" indent="0">
              <a:buNone/>
            </a:pPr>
            <a:r>
              <a:rPr lang="ja-JP" altLang="en-US" b="1">
                <a:latin typeface="Hiragino Sans W6" panose="020B0400000000000000" pitchFamily="34" charset="-128"/>
                <a:ea typeface="Hiragino Sans W6" panose="020B0400000000000000" pitchFamily="34" charset="-128"/>
              </a:rPr>
              <a:t>クラス分類の結果をまとめた表</a:t>
            </a:r>
          </a:p>
          <a:p>
            <a:pPr marL="0" indent="0">
              <a:buNone/>
            </a:pPr>
            <a:endParaRPr lang="ja-JP" altLang="ja-JP" b="1">
              <a:latin typeface="Hiragino Sans W6" panose="020B0400000000000000" pitchFamily="34" charset="-128"/>
              <a:ea typeface="Hiragino Sans W6" panose="020B0400000000000000" pitchFamily="34" charset="-128"/>
            </a:endParaRPr>
          </a:p>
          <a:p>
            <a:endParaRPr kumimoji="1" lang="ja-JP" altLang="en-US" b="1">
              <a:latin typeface="Hiragino Sans W6" panose="020B0400000000000000" pitchFamily="34" charset="-128"/>
              <a:ea typeface="Hiragino Sans W6" panose="020B0400000000000000" pitchFamily="34" charset="-128"/>
            </a:endParaRPr>
          </a:p>
        </p:txBody>
      </p:sp>
      <p:pic>
        <p:nvPicPr>
          <p:cNvPr id="12" name="図 11">
            <a:extLst>
              <a:ext uri="{FF2B5EF4-FFF2-40B4-BE49-F238E27FC236}">
                <a16:creationId xmlns:a16="http://schemas.microsoft.com/office/drawing/2014/main" id="{DCD007D0-3D7B-2CB2-54D3-D01D67B912B2}"/>
              </a:ext>
            </a:extLst>
          </p:cNvPr>
          <p:cNvPicPr>
            <a:picLocks noChangeAspect="1"/>
          </p:cNvPicPr>
          <p:nvPr/>
        </p:nvPicPr>
        <p:blipFill>
          <a:blip r:embed="rId3"/>
          <a:stretch>
            <a:fillRect/>
          </a:stretch>
        </p:blipFill>
        <p:spPr>
          <a:xfrm>
            <a:off x="2878482" y="2036653"/>
            <a:ext cx="3387035" cy="2923546"/>
          </a:xfrm>
          <a:prstGeom prst="rect">
            <a:avLst/>
          </a:prstGeom>
          <a:solidFill>
            <a:schemeClr val="bg1"/>
          </a:solidFill>
        </p:spPr>
      </p:pic>
      <p:pic>
        <p:nvPicPr>
          <p:cNvPr id="14" name="図 13">
            <a:extLst>
              <a:ext uri="{FF2B5EF4-FFF2-40B4-BE49-F238E27FC236}">
                <a16:creationId xmlns:a16="http://schemas.microsoft.com/office/drawing/2014/main" id="{A38E9E63-B55C-BD1D-D481-44351BBA9E7F}"/>
              </a:ext>
            </a:extLst>
          </p:cNvPr>
          <p:cNvPicPr>
            <a:picLocks noChangeAspect="1"/>
          </p:cNvPicPr>
          <p:nvPr/>
        </p:nvPicPr>
        <p:blipFill>
          <a:blip r:embed="rId4"/>
          <a:stretch>
            <a:fillRect/>
          </a:stretch>
        </p:blipFill>
        <p:spPr>
          <a:xfrm>
            <a:off x="1638299" y="5135504"/>
            <a:ext cx="5867400" cy="1447800"/>
          </a:xfrm>
          <a:prstGeom prst="rect">
            <a:avLst/>
          </a:prstGeom>
        </p:spPr>
      </p:pic>
      <p:sp>
        <p:nvSpPr>
          <p:cNvPr id="16" name="テキスト ボックス 15">
            <a:extLst>
              <a:ext uri="{FF2B5EF4-FFF2-40B4-BE49-F238E27FC236}">
                <a16:creationId xmlns:a16="http://schemas.microsoft.com/office/drawing/2014/main" id="{081D19C8-5D0A-BDDB-E079-06167A448E32}"/>
              </a:ext>
            </a:extLst>
          </p:cNvPr>
          <p:cNvSpPr txBox="1"/>
          <p:nvPr/>
        </p:nvSpPr>
        <p:spPr>
          <a:xfrm>
            <a:off x="692428" y="5628571"/>
            <a:ext cx="798442" cy="461665"/>
          </a:xfrm>
          <a:prstGeom prst="rect">
            <a:avLst/>
          </a:prstGeom>
          <a:noFill/>
        </p:spPr>
        <p:txBody>
          <a:bodyPr wrap="square">
            <a:spAutoFit/>
          </a:bodyPr>
          <a:lstStyle/>
          <a:p>
            <a:r>
              <a:rPr lang="ja-JP" altLang="en-US" sz="2400" b="1">
                <a:latin typeface="Helvetica" pitchFamily="2" charset="0"/>
                <a:ea typeface="Hiragino Sans W6" panose="020B0400000000000000" pitchFamily="34" charset="-128"/>
              </a:rPr>
              <a:t>例：</a:t>
            </a:r>
            <a:r>
              <a:rPr lang="en" altLang="ja-JP" sz="2400" b="1" dirty="0">
                <a:latin typeface="Helvetica" pitchFamily="2" charset="0"/>
                <a:ea typeface="Hiragino Sans W6" panose="020B0400000000000000" pitchFamily="34" charset="-128"/>
              </a:rPr>
              <a:t> </a:t>
            </a:r>
            <a:endParaRPr lang="ja-JP" altLang="en-US" sz="2400" b="1">
              <a:latin typeface="Helvetica" pitchFamily="2" charset="0"/>
              <a:ea typeface="Hiragino Sans W6" panose="020B0400000000000000" pitchFamily="34" charset="-128"/>
            </a:endParaRPr>
          </a:p>
        </p:txBody>
      </p:sp>
    </p:spTree>
    <p:extLst>
      <p:ext uri="{BB962C8B-B14F-4D97-AF65-F5344CB8AC3E}">
        <p14:creationId xmlns:p14="http://schemas.microsoft.com/office/powerpoint/2010/main" val="2191064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09E2264-821E-AC72-B037-AB097F5654A8}"/>
              </a:ext>
            </a:extLst>
          </p:cNvPr>
          <p:cNvSpPr/>
          <p:nvPr/>
        </p:nvSpPr>
        <p:spPr>
          <a:xfrm>
            <a:off x="2539182" y="5919483"/>
            <a:ext cx="3733602"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E0589E3E-BB3E-FA6D-8600-6EF6A0A82A70}"/>
              </a:ext>
            </a:extLst>
          </p:cNvPr>
          <p:cNvSpPr/>
          <p:nvPr/>
        </p:nvSpPr>
        <p:spPr>
          <a:xfrm>
            <a:off x="2304288" y="4207725"/>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DDAF2ADE-FC8D-6718-B29E-E3FB160ACF97}"/>
              </a:ext>
            </a:extLst>
          </p:cNvPr>
          <p:cNvSpPr/>
          <p:nvPr/>
        </p:nvSpPr>
        <p:spPr>
          <a:xfrm>
            <a:off x="1451113" y="2161138"/>
            <a:ext cx="562702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6CCCEE8D-EA84-93D6-9856-405D1BD60726}"/>
              </a:ext>
            </a:extLst>
          </p:cNvPr>
          <p:cNvSpPr>
            <a:spLocks noGrp="1"/>
          </p:cNvSpPr>
          <p:nvPr>
            <p:ph type="title"/>
          </p:nvPr>
        </p:nvSpPr>
        <p:spPr/>
        <p:txBody>
          <a:bodyPr>
            <a:normAutofit fontScale="90000"/>
          </a:bodyPr>
          <a:lstStyle/>
          <a:p>
            <a:r>
              <a:rPr lang="en-US" altLang="ja-JP" dirty="0">
                <a:latin typeface="Helvetica" pitchFamily="2" charset="0"/>
              </a:rPr>
              <a:t>Accuracy, Precision, Recall</a:t>
            </a:r>
            <a:r>
              <a:rPr kumimoji="1" lang="en-US" altLang="ja-JP" dirty="0">
                <a:latin typeface="Helvetica" pitchFamily="2" charset="0"/>
              </a:rPr>
              <a:t> </a:t>
            </a:r>
            <a:r>
              <a:rPr lang="en-US" altLang="ja-JP" sz="2000" dirty="0">
                <a:latin typeface="Helvetica" pitchFamily="2" charset="0"/>
              </a:rPr>
              <a:t>Evaluation Metrics</a:t>
            </a:r>
            <a:endParaRPr kumimoji="1" lang="ja-JP" altLang="en-US" sz="2000">
              <a:latin typeface="Helvetica" pitchFamily="2" charset="0"/>
            </a:endParaRPr>
          </a:p>
        </p:txBody>
      </p:sp>
      <p:sp>
        <p:nvSpPr>
          <p:cNvPr id="6" name="コンテンツ プレースホルダー 3">
            <a:extLst>
              <a:ext uri="{FF2B5EF4-FFF2-40B4-BE49-F238E27FC236}">
                <a16:creationId xmlns:a16="http://schemas.microsoft.com/office/drawing/2014/main" id="{499BFCCD-E7BB-B4AE-17C5-C7AD5F69B3F6}"/>
              </a:ext>
            </a:extLst>
          </p:cNvPr>
          <p:cNvSpPr txBox="1">
            <a:spLocks/>
          </p:cNvSpPr>
          <p:nvPr/>
        </p:nvSpPr>
        <p:spPr>
          <a:xfrm>
            <a:off x="117877" y="1010336"/>
            <a:ext cx="9026123" cy="14048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Accuracy </a:t>
            </a:r>
            <a:r>
              <a:rPr lang="ja-JP" altLang="en-US" b="1"/>
              <a:t>（正解率）</a:t>
            </a:r>
            <a:endParaRPr lang="ja-JP" altLang="ja-JP" b="1"/>
          </a:p>
          <a:p>
            <a:r>
              <a:rPr lang="ja-JP" altLang="ja-JP" sz="2400" b="1"/>
              <a:t>how many samples were correctly classified among all samples.</a:t>
            </a:r>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D313195D-BE3E-A6ED-0A7B-39408AB610D9}"/>
                  </a:ext>
                </a:extLst>
              </p:cNvPr>
              <p:cNvSpPr txBox="1"/>
              <p:nvPr/>
            </p:nvSpPr>
            <p:spPr>
              <a:xfrm>
                <a:off x="1769163" y="2201409"/>
                <a:ext cx="4895699"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𝑨𝒄𝒄𝒖𝒓𝒂𝒄𝒚</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r>
                            <a:rPr kumimoji="1" lang="en-US" altLang="ja-JP" sz="2400" b="1" i="1" smtClean="0">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D313195D-BE3E-A6ED-0A7B-39408AB610D9}"/>
                  </a:ext>
                </a:extLst>
              </p:cNvPr>
              <p:cNvSpPr txBox="1">
                <a:spLocks noRot="1" noChangeAspect="1" noMove="1" noResize="1" noEditPoints="1" noAdjustHandles="1" noChangeArrowheads="1" noChangeShapeType="1" noTextEdit="1"/>
              </p:cNvSpPr>
              <p:nvPr/>
            </p:nvSpPr>
            <p:spPr>
              <a:xfrm>
                <a:off x="1769163" y="2201409"/>
                <a:ext cx="4895699" cy="697627"/>
              </a:xfrm>
              <a:prstGeom prst="rect">
                <a:avLst/>
              </a:prstGeom>
              <a:blipFill>
                <a:blip r:embed="rId3"/>
                <a:stretch>
                  <a:fillRect t="-1786" r="-1036" b="-14286"/>
                </a:stretch>
              </a:blipFill>
            </p:spPr>
            <p:txBody>
              <a:bodyPr/>
              <a:lstStyle/>
              <a:p>
                <a:r>
                  <a:rPr lang="ja-JP" altLang="en-US">
                    <a:noFill/>
                  </a:rPr>
                  <a:t> </a:t>
                </a:r>
              </a:p>
            </p:txBody>
          </p:sp>
        </mc:Fallback>
      </mc:AlternateContent>
      <p:sp>
        <p:nvSpPr>
          <p:cNvPr id="8" name="コンテンツ プレースホルダー 3">
            <a:extLst>
              <a:ext uri="{FF2B5EF4-FFF2-40B4-BE49-F238E27FC236}">
                <a16:creationId xmlns:a16="http://schemas.microsoft.com/office/drawing/2014/main" id="{E5258ADC-A2F9-5345-333B-0B4636325F1E}"/>
              </a:ext>
            </a:extLst>
          </p:cNvPr>
          <p:cNvSpPr txBox="1">
            <a:spLocks/>
          </p:cNvSpPr>
          <p:nvPr/>
        </p:nvSpPr>
        <p:spPr>
          <a:xfrm>
            <a:off x="117876" y="3075715"/>
            <a:ext cx="9026123" cy="1252349"/>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Precision </a:t>
            </a:r>
            <a:r>
              <a:rPr lang="ja-JP" altLang="en-US" b="1"/>
              <a:t>（適合率）</a:t>
            </a:r>
            <a:endParaRPr lang="ja-JP" altLang="ja-JP" b="1"/>
          </a:p>
          <a:p>
            <a:r>
              <a:rPr lang="en" altLang="ja-JP" sz="2400" b="1" dirty="0"/>
              <a:t> how many samples predicted as positive were actually positive.</a:t>
            </a: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FE0D46F1-2A92-8C13-800E-CBBE6F75C507}"/>
                  </a:ext>
                </a:extLst>
              </p:cNvPr>
              <p:cNvSpPr txBox="1"/>
              <p:nvPr/>
            </p:nvSpPr>
            <p:spPr>
              <a:xfrm>
                <a:off x="2539182" y="4242170"/>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xmlns="">
          <p:sp>
            <p:nvSpPr>
              <p:cNvPr id="9" name="テキスト ボックス 8">
                <a:extLst>
                  <a:ext uri="{FF2B5EF4-FFF2-40B4-BE49-F238E27FC236}">
                    <a16:creationId xmlns:a16="http://schemas.microsoft.com/office/drawing/2014/main" id="{FE0D46F1-2A92-8C13-800E-CBBE6F75C507}"/>
                  </a:ext>
                </a:extLst>
              </p:cNvPr>
              <p:cNvSpPr txBox="1">
                <a:spLocks noRot="1" noChangeAspect="1" noMove="1" noResize="1" noEditPoints="1" noAdjustHandles="1" noChangeArrowheads="1" noChangeShapeType="1" noTextEdit="1"/>
              </p:cNvSpPr>
              <p:nvPr/>
            </p:nvSpPr>
            <p:spPr>
              <a:xfrm>
                <a:off x="2539182" y="4242170"/>
                <a:ext cx="3355662" cy="697627"/>
              </a:xfrm>
              <a:prstGeom prst="rect">
                <a:avLst/>
              </a:prstGeom>
              <a:blipFill>
                <a:blip r:embed="rId4"/>
                <a:stretch>
                  <a:fillRect t="-1818" r="-1509" b="-14545"/>
                </a:stretch>
              </a:blipFill>
            </p:spPr>
            <p:txBody>
              <a:bodyPr/>
              <a:lstStyle/>
              <a:p>
                <a:r>
                  <a:rPr lang="ja-JP" altLang="en-US">
                    <a:noFill/>
                  </a:rPr>
                  <a:t> </a:t>
                </a:r>
              </a:p>
            </p:txBody>
          </p:sp>
        </mc:Fallback>
      </mc:AlternateContent>
      <p:sp>
        <p:nvSpPr>
          <p:cNvPr id="10" name="コンテンツ プレースホルダー 3">
            <a:extLst>
              <a:ext uri="{FF2B5EF4-FFF2-40B4-BE49-F238E27FC236}">
                <a16:creationId xmlns:a16="http://schemas.microsoft.com/office/drawing/2014/main" id="{9B5AFCC1-481C-0A0C-18AE-C833C78A7D08}"/>
              </a:ext>
            </a:extLst>
          </p:cNvPr>
          <p:cNvSpPr txBox="1">
            <a:spLocks/>
          </p:cNvSpPr>
          <p:nvPr/>
        </p:nvSpPr>
        <p:spPr>
          <a:xfrm>
            <a:off x="117877" y="4988571"/>
            <a:ext cx="9026123" cy="1051250"/>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Recall </a:t>
            </a:r>
            <a:r>
              <a:rPr lang="ja-JP" altLang="en-US" b="1"/>
              <a:t>（再現率）</a:t>
            </a:r>
            <a:endParaRPr lang="ja-JP" altLang="ja-JP" b="1"/>
          </a:p>
          <a:p>
            <a:r>
              <a:rPr lang="en" altLang="ja-JP" sz="2400" b="1" dirty="0"/>
              <a:t> how many actual positive samples were correctly detected.</a:t>
            </a:r>
          </a:p>
          <a:p>
            <a:pPr marL="0" indent="0">
              <a:buNone/>
            </a:pPr>
            <a:endParaRPr lang="ja-JP" altLang="ja-JP" sz="2400" b="1"/>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36224BC7-3BEF-89DC-1419-86A7A1077B54}"/>
                  </a:ext>
                </a:extLst>
              </p:cNvPr>
              <p:cNvSpPr txBox="1"/>
              <p:nvPr/>
            </p:nvSpPr>
            <p:spPr>
              <a:xfrm>
                <a:off x="2850353" y="5961091"/>
                <a:ext cx="2876365"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𝑹𝒆𝒄𝒂𝒍𝒍</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11" name="テキスト ボックス 10">
                <a:extLst>
                  <a:ext uri="{FF2B5EF4-FFF2-40B4-BE49-F238E27FC236}">
                    <a16:creationId xmlns:a16="http://schemas.microsoft.com/office/drawing/2014/main" id="{36224BC7-3BEF-89DC-1419-86A7A1077B54}"/>
                  </a:ext>
                </a:extLst>
              </p:cNvPr>
              <p:cNvSpPr txBox="1">
                <a:spLocks noRot="1" noChangeAspect="1" noMove="1" noResize="1" noEditPoints="1" noAdjustHandles="1" noChangeArrowheads="1" noChangeShapeType="1" noTextEdit="1"/>
              </p:cNvSpPr>
              <p:nvPr/>
            </p:nvSpPr>
            <p:spPr>
              <a:xfrm>
                <a:off x="2850353" y="5961091"/>
                <a:ext cx="2876365" cy="697627"/>
              </a:xfrm>
              <a:prstGeom prst="rect">
                <a:avLst/>
              </a:prstGeom>
              <a:blipFill>
                <a:blip r:embed="rId5"/>
                <a:stretch>
                  <a:fillRect t="-1786" r="-2203" b="-1428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992421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4A096-8AEE-CB8F-86DC-BB8C131E04B1}"/>
            </a:ext>
          </a:extLst>
        </p:cNvPr>
        <p:cNvGrpSpPr/>
        <p:nvPr/>
      </p:nvGrpSpPr>
      <p:grpSpPr>
        <a:xfrm>
          <a:off x="0" y="0"/>
          <a:ext cx="0" cy="0"/>
          <a:chOff x="0" y="0"/>
          <a:chExt cx="0" cy="0"/>
        </a:xfrm>
      </p:grpSpPr>
      <p:sp>
        <p:nvSpPr>
          <p:cNvPr id="14" name="正方形/長方形 13">
            <a:extLst>
              <a:ext uri="{FF2B5EF4-FFF2-40B4-BE49-F238E27FC236}">
                <a16:creationId xmlns:a16="http://schemas.microsoft.com/office/drawing/2014/main" id="{2EB34FE0-5AE6-A053-810C-0CA17A1050DC}"/>
              </a:ext>
            </a:extLst>
          </p:cNvPr>
          <p:cNvSpPr/>
          <p:nvPr/>
        </p:nvSpPr>
        <p:spPr>
          <a:xfrm>
            <a:off x="2539182" y="6058899"/>
            <a:ext cx="3733602"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B327FA15-273D-5E99-76AA-A16F616AAFBD}"/>
              </a:ext>
            </a:extLst>
          </p:cNvPr>
          <p:cNvSpPr/>
          <p:nvPr/>
        </p:nvSpPr>
        <p:spPr>
          <a:xfrm>
            <a:off x="2304288" y="4207725"/>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BD5CEEC-B800-6FE9-C202-92CE9A14FBE1}"/>
              </a:ext>
            </a:extLst>
          </p:cNvPr>
          <p:cNvSpPr/>
          <p:nvPr/>
        </p:nvSpPr>
        <p:spPr>
          <a:xfrm>
            <a:off x="1451113" y="2161138"/>
            <a:ext cx="562702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6145E086-3360-CF3D-CEEF-52B67E9DDF62}"/>
              </a:ext>
            </a:extLst>
          </p:cNvPr>
          <p:cNvSpPr>
            <a:spLocks noGrp="1"/>
          </p:cNvSpPr>
          <p:nvPr>
            <p:ph type="title"/>
          </p:nvPr>
        </p:nvSpPr>
        <p:spPr/>
        <p:txBody>
          <a:bodyPr>
            <a:normAutofit/>
          </a:bodyPr>
          <a:lstStyle/>
          <a:p>
            <a:r>
              <a:rPr lang="en-US" altLang="ja-JP" dirty="0">
                <a:latin typeface="Helvetica" pitchFamily="2" charset="0"/>
              </a:rPr>
              <a:t>Accuracy, Precision, Recall</a:t>
            </a:r>
            <a:r>
              <a:rPr kumimoji="1" lang="en-US" altLang="ja-JP" dirty="0">
                <a:latin typeface="Helvetica" pitchFamily="2" charset="0"/>
              </a:rPr>
              <a:t> </a:t>
            </a:r>
            <a:r>
              <a:rPr kumimoji="1" lang="ja-JP" altLang="en-US" sz="2000">
                <a:latin typeface="Helvetica" pitchFamily="2" charset="0"/>
              </a:rPr>
              <a:t>評価指標</a:t>
            </a:r>
          </a:p>
        </p:txBody>
      </p:sp>
      <p:sp>
        <p:nvSpPr>
          <p:cNvPr id="6" name="コンテンツ プレースホルダー 3">
            <a:extLst>
              <a:ext uri="{FF2B5EF4-FFF2-40B4-BE49-F238E27FC236}">
                <a16:creationId xmlns:a16="http://schemas.microsoft.com/office/drawing/2014/main" id="{DAACA657-BC15-D3FB-C8C1-A7EA2A5DA1E5}"/>
              </a:ext>
            </a:extLst>
          </p:cNvPr>
          <p:cNvSpPr txBox="1">
            <a:spLocks/>
          </p:cNvSpPr>
          <p:nvPr/>
        </p:nvSpPr>
        <p:spPr>
          <a:xfrm>
            <a:off x="117877" y="1010336"/>
            <a:ext cx="9026123" cy="1404873"/>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Accuracy </a:t>
            </a:r>
            <a:r>
              <a:rPr lang="ja-JP" altLang="en-US" b="1"/>
              <a:t>（正解率）</a:t>
            </a:r>
            <a:endParaRPr lang="ja-JP" altLang="ja-JP" b="1"/>
          </a:p>
          <a:p>
            <a:r>
              <a:rPr lang="ja-JP" altLang="en-US" sz="2400" b="1">
                <a:latin typeface="Hiragino Sans W6" panose="020B0400000000000000" pitchFamily="34" charset="-128"/>
                <a:ea typeface="Hiragino Sans W6" panose="020B0400000000000000" pitchFamily="34" charset="-128"/>
              </a:rPr>
              <a:t>正しく予測されたサンプルの割合</a:t>
            </a:r>
            <a:endParaRPr lang="ja-JP" altLang="ja-JP" sz="2400" b="1">
              <a:latin typeface="Hiragino Sans W6" panose="020B0400000000000000" pitchFamily="34" charset="-128"/>
              <a:ea typeface="Hiragino Sans W6" panose="020B0400000000000000" pitchFamily="34" charset="-128"/>
            </a:endParaRPr>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51B42708-0D67-43EF-8DE0-72A28A7FE065}"/>
                  </a:ext>
                </a:extLst>
              </p:cNvPr>
              <p:cNvSpPr txBox="1"/>
              <p:nvPr/>
            </p:nvSpPr>
            <p:spPr>
              <a:xfrm>
                <a:off x="1769163" y="2201409"/>
                <a:ext cx="4895699"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𝑨𝒄𝒄𝒖𝒓𝒂𝒄𝒚</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r>
                            <a:rPr kumimoji="1" lang="en-US" altLang="ja-JP" sz="2400" b="1" i="1" smtClean="0">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D313195D-BE3E-A6ED-0A7B-39408AB610D9}"/>
                  </a:ext>
                </a:extLst>
              </p:cNvPr>
              <p:cNvSpPr txBox="1">
                <a:spLocks noRot="1" noChangeAspect="1" noMove="1" noResize="1" noEditPoints="1" noAdjustHandles="1" noChangeArrowheads="1" noChangeShapeType="1" noTextEdit="1"/>
              </p:cNvSpPr>
              <p:nvPr/>
            </p:nvSpPr>
            <p:spPr>
              <a:xfrm>
                <a:off x="1769163" y="2201409"/>
                <a:ext cx="4895699" cy="697627"/>
              </a:xfrm>
              <a:prstGeom prst="rect">
                <a:avLst/>
              </a:prstGeom>
              <a:blipFill>
                <a:blip r:embed="rId3"/>
                <a:stretch>
                  <a:fillRect t="-1786" r="-1036" b="-14286"/>
                </a:stretch>
              </a:blipFill>
            </p:spPr>
            <p:txBody>
              <a:bodyPr/>
              <a:lstStyle/>
              <a:p>
                <a:r>
                  <a:rPr lang="ja-JP" altLang="en-US">
                    <a:noFill/>
                  </a:rPr>
                  <a:t> </a:t>
                </a:r>
              </a:p>
            </p:txBody>
          </p:sp>
        </mc:Fallback>
      </mc:AlternateContent>
      <p:sp>
        <p:nvSpPr>
          <p:cNvPr id="8" name="コンテンツ プレースホルダー 3">
            <a:extLst>
              <a:ext uri="{FF2B5EF4-FFF2-40B4-BE49-F238E27FC236}">
                <a16:creationId xmlns:a16="http://schemas.microsoft.com/office/drawing/2014/main" id="{5F25A164-70B1-AA6D-D4B3-183D99FC14F8}"/>
              </a:ext>
            </a:extLst>
          </p:cNvPr>
          <p:cNvSpPr txBox="1">
            <a:spLocks/>
          </p:cNvSpPr>
          <p:nvPr/>
        </p:nvSpPr>
        <p:spPr>
          <a:xfrm>
            <a:off x="117876" y="3075715"/>
            <a:ext cx="9026123" cy="1252349"/>
          </a:xfrm>
          <a:prstGeom prst="rect">
            <a:avLst/>
          </a:prstGeom>
          <a:noFill/>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Precision </a:t>
            </a:r>
            <a:r>
              <a:rPr lang="ja-JP" altLang="en-US" b="1"/>
              <a:t>（適合率）</a:t>
            </a:r>
            <a:endParaRPr lang="ja-JP" altLang="ja-JP" b="1"/>
          </a:p>
          <a:p>
            <a:r>
              <a:rPr lang="en" altLang="ja-JP" sz="2400" b="1" dirty="0"/>
              <a:t> </a:t>
            </a:r>
            <a:r>
              <a:rPr lang="ja-JP" altLang="en-US" sz="2400" b="1">
                <a:latin typeface="Hiragino Sans W6" panose="020B0400000000000000" pitchFamily="34" charset="-128"/>
                <a:ea typeface="Hiragino Sans W6" panose="020B0400000000000000" pitchFamily="34" charset="-128"/>
              </a:rPr>
              <a:t>陽性と予測されたサンプルの内、実際に陽性であるサンプルの割合</a:t>
            </a:r>
            <a:endParaRPr lang="en" altLang="ja-JP" sz="2400" b="1" dirty="0">
              <a:latin typeface="Hiragino Sans W6" panose="020B0400000000000000" pitchFamily="34" charset="-128"/>
              <a:ea typeface="Hiragino Sans W6" panose="020B0400000000000000" pitchFamily="34" charset="-128"/>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2FC6ED7A-B0E5-D439-FC97-B10870E51342}"/>
                  </a:ext>
                </a:extLst>
              </p:cNvPr>
              <p:cNvSpPr txBox="1"/>
              <p:nvPr/>
            </p:nvSpPr>
            <p:spPr>
              <a:xfrm>
                <a:off x="2539182" y="4242170"/>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xmlns="">
          <p:sp>
            <p:nvSpPr>
              <p:cNvPr id="9" name="テキスト ボックス 8">
                <a:extLst>
                  <a:ext uri="{FF2B5EF4-FFF2-40B4-BE49-F238E27FC236}">
                    <a16:creationId xmlns:a16="http://schemas.microsoft.com/office/drawing/2014/main" id="{FE0D46F1-2A92-8C13-800E-CBBE6F75C507}"/>
                  </a:ext>
                </a:extLst>
              </p:cNvPr>
              <p:cNvSpPr txBox="1">
                <a:spLocks noRot="1" noChangeAspect="1" noMove="1" noResize="1" noEditPoints="1" noAdjustHandles="1" noChangeArrowheads="1" noChangeShapeType="1" noTextEdit="1"/>
              </p:cNvSpPr>
              <p:nvPr/>
            </p:nvSpPr>
            <p:spPr>
              <a:xfrm>
                <a:off x="2539182" y="4242170"/>
                <a:ext cx="3355662" cy="697627"/>
              </a:xfrm>
              <a:prstGeom prst="rect">
                <a:avLst/>
              </a:prstGeom>
              <a:blipFill>
                <a:blip r:embed="rId4"/>
                <a:stretch>
                  <a:fillRect t="-1818" r="-1509" b="-14545"/>
                </a:stretch>
              </a:blipFill>
            </p:spPr>
            <p:txBody>
              <a:bodyPr/>
              <a:lstStyle/>
              <a:p>
                <a:r>
                  <a:rPr lang="ja-JP" altLang="en-US">
                    <a:noFill/>
                  </a:rPr>
                  <a:t> </a:t>
                </a:r>
              </a:p>
            </p:txBody>
          </p:sp>
        </mc:Fallback>
      </mc:AlternateContent>
      <p:sp>
        <p:nvSpPr>
          <p:cNvPr id="10" name="コンテンツ プレースホルダー 3">
            <a:extLst>
              <a:ext uri="{FF2B5EF4-FFF2-40B4-BE49-F238E27FC236}">
                <a16:creationId xmlns:a16="http://schemas.microsoft.com/office/drawing/2014/main" id="{00C00E0E-795F-6059-AC06-3FE3FF3F726E}"/>
              </a:ext>
            </a:extLst>
          </p:cNvPr>
          <p:cNvSpPr txBox="1">
            <a:spLocks/>
          </p:cNvSpPr>
          <p:nvPr/>
        </p:nvSpPr>
        <p:spPr>
          <a:xfrm>
            <a:off x="117877" y="4988571"/>
            <a:ext cx="9026123" cy="1139274"/>
          </a:xfrm>
          <a:prstGeom prst="rect">
            <a:avLst/>
          </a:prstGeom>
          <a:noFill/>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Recall </a:t>
            </a:r>
            <a:r>
              <a:rPr lang="ja-JP" altLang="en-US" b="1"/>
              <a:t>（再現率）</a:t>
            </a:r>
            <a:endParaRPr lang="ja-JP" altLang="ja-JP" b="1"/>
          </a:p>
          <a:p>
            <a:r>
              <a:rPr lang="en" altLang="ja-JP" sz="2400" b="1" dirty="0"/>
              <a:t> </a:t>
            </a:r>
            <a:r>
              <a:rPr lang="ja-JP" altLang="en-US" sz="2600" b="1"/>
              <a:t>実際に陽性であるサンプルの内、正しく陽性と予測された</a:t>
            </a:r>
            <a:br>
              <a:rPr lang="en-US" altLang="ja-JP" sz="2600" b="1" dirty="0"/>
            </a:br>
            <a:r>
              <a:rPr lang="ja-JP" altLang="en-US" sz="2600" b="1"/>
              <a:t>サンプルの割合（真陽性率）</a:t>
            </a:r>
            <a:endParaRPr lang="en" altLang="ja-JP" sz="2600" b="1" dirty="0"/>
          </a:p>
          <a:p>
            <a:pPr marL="0" indent="0">
              <a:buNone/>
            </a:pPr>
            <a:endParaRPr lang="ja-JP" altLang="ja-JP" sz="2400" b="1"/>
          </a:p>
        </p:txBody>
      </p:sp>
      <mc:AlternateContent xmlns:mc="http://schemas.openxmlformats.org/markup-compatibility/2006">
        <mc:Choice xmlns:a14="http://schemas.microsoft.com/office/drawing/2010/main" Requires="a14">
          <p:sp>
            <p:nvSpPr>
              <p:cNvPr id="11" name="テキスト ボックス 10">
                <a:extLst>
                  <a:ext uri="{FF2B5EF4-FFF2-40B4-BE49-F238E27FC236}">
                    <a16:creationId xmlns:a16="http://schemas.microsoft.com/office/drawing/2014/main" id="{CAEA83C7-11F7-266F-6ED7-AE9BFCEFFE12}"/>
                  </a:ext>
                </a:extLst>
              </p:cNvPr>
              <p:cNvSpPr txBox="1"/>
              <p:nvPr/>
            </p:nvSpPr>
            <p:spPr>
              <a:xfrm>
                <a:off x="2850353" y="6100507"/>
                <a:ext cx="2876365"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𝑹𝒆𝒄𝒂𝒍𝒍</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oMath>
                  </m:oMathPara>
                </a14:m>
                <a:endParaRPr kumimoji="1" lang="ja-JP" altLang="en-US" sz="2400" b="1"/>
              </a:p>
            </p:txBody>
          </p:sp>
        </mc:Choice>
        <mc:Fallback>
          <p:sp>
            <p:nvSpPr>
              <p:cNvPr id="11" name="テキスト ボックス 10">
                <a:extLst>
                  <a:ext uri="{FF2B5EF4-FFF2-40B4-BE49-F238E27FC236}">
                    <a16:creationId xmlns:a16="http://schemas.microsoft.com/office/drawing/2014/main" id="{CAEA83C7-11F7-266F-6ED7-AE9BFCEFFE12}"/>
                  </a:ext>
                </a:extLst>
              </p:cNvPr>
              <p:cNvSpPr txBox="1">
                <a:spLocks noRot="1" noChangeAspect="1" noMove="1" noResize="1" noEditPoints="1" noAdjustHandles="1" noChangeArrowheads="1" noChangeShapeType="1" noTextEdit="1"/>
              </p:cNvSpPr>
              <p:nvPr/>
            </p:nvSpPr>
            <p:spPr>
              <a:xfrm>
                <a:off x="2850353" y="6100507"/>
                <a:ext cx="2876365" cy="697627"/>
              </a:xfrm>
              <a:prstGeom prst="rect">
                <a:avLst/>
              </a:prstGeom>
              <a:blipFill>
                <a:blip r:embed="rId5"/>
                <a:stretch>
                  <a:fillRect r="-2203" b="-1428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784206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CACEFDC-463A-95EC-2C3F-7B4479799373}"/>
              </a:ext>
            </a:extLst>
          </p:cNvPr>
          <p:cNvSpPr/>
          <p:nvPr/>
        </p:nvSpPr>
        <p:spPr>
          <a:xfrm>
            <a:off x="1187324" y="4008387"/>
            <a:ext cx="700570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E468ADE3-DC6F-4684-D11F-75C6C09A1129}"/>
              </a:ext>
            </a:extLst>
          </p:cNvPr>
          <p:cNvSpPr>
            <a:spLocks noGrp="1"/>
          </p:cNvSpPr>
          <p:nvPr>
            <p:ph type="title"/>
          </p:nvPr>
        </p:nvSpPr>
        <p:spPr/>
        <p:txBody>
          <a:bodyPr>
            <a:normAutofit/>
          </a:bodyPr>
          <a:lstStyle/>
          <a:p>
            <a:r>
              <a:rPr lang="en-US" altLang="ja-JP" dirty="0">
                <a:latin typeface="Helvetica" pitchFamily="2" charset="0"/>
              </a:rPr>
              <a:t>F1 score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6" name="コンテンツ プレースホルダー 3">
            <a:extLst>
              <a:ext uri="{FF2B5EF4-FFF2-40B4-BE49-F238E27FC236}">
                <a16:creationId xmlns:a16="http://schemas.microsoft.com/office/drawing/2014/main" id="{4DF80631-1DFA-4EE2-9249-FD75A5BA0ABE}"/>
              </a:ext>
            </a:extLst>
          </p:cNvPr>
          <p:cNvSpPr txBox="1">
            <a:spLocks/>
          </p:cNvSpPr>
          <p:nvPr/>
        </p:nvSpPr>
        <p:spPr>
          <a:xfrm>
            <a:off x="117877" y="1010336"/>
            <a:ext cx="9026123" cy="2766534"/>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F</a:t>
            </a:r>
            <a:r>
              <a:rPr lang="en-US" altLang="ja-JP" b="1" dirty="0">
                <a:latin typeface="Symbol" pitchFamily="2" charset="2"/>
              </a:rPr>
              <a:t>b</a:t>
            </a:r>
            <a:r>
              <a:rPr lang="ja-JP" altLang="en-US" b="1"/>
              <a:t> </a:t>
            </a:r>
            <a:r>
              <a:rPr lang="en-US" altLang="ja-JP" b="1" dirty="0"/>
              <a:t>score </a:t>
            </a:r>
            <a:r>
              <a:rPr lang="ja-JP" altLang="en-US" b="1"/>
              <a:t>（重ね付き</a:t>
            </a:r>
            <a:r>
              <a:rPr lang="en-US" altLang="ja-JP" b="1" dirty="0"/>
              <a:t>F</a:t>
            </a:r>
            <a:r>
              <a:rPr lang="ja-JP" altLang="en-US" b="1"/>
              <a:t>値）</a:t>
            </a:r>
            <a:endParaRPr lang="ja-JP" altLang="ja-JP" b="1"/>
          </a:p>
          <a:p>
            <a:r>
              <a:rPr lang="ja-JP" altLang="ja-JP" sz="2400" b="1"/>
              <a:t>A weighted metric based on Precision and Recall</a:t>
            </a:r>
          </a:p>
          <a:p>
            <a:r>
              <a:rPr lang="en-US" altLang="ja-JP" sz="2400" b="1" dirty="0"/>
              <a:t>Common </a:t>
            </a:r>
            <a:r>
              <a:rPr lang="en-US" altLang="ja-JP" sz="2400" b="1" dirty="0">
                <a:latin typeface="Symbol" pitchFamily="2" charset="2"/>
              </a:rPr>
              <a:t>b</a:t>
            </a:r>
            <a:r>
              <a:rPr lang="el-GR" altLang="ja-JP" sz="2400" b="1" dirty="0"/>
              <a:t> </a:t>
            </a:r>
            <a:r>
              <a:rPr lang="en-US" altLang="ja-JP" sz="2400" b="1" dirty="0"/>
              <a:t>values are 1, 0.5, and 2</a:t>
            </a:r>
          </a:p>
          <a:p>
            <a:r>
              <a:rPr lang="en-US" altLang="ja-JP" sz="2400" b="1" dirty="0"/>
              <a:t>When </a:t>
            </a:r>
            <a:r>
              <a:rPr lang="en-US" altLang="ja-JP" sz="2400" b="1" dirty="0">
                <a:latin typeface="Symbol" pitchFamily="2" charset="2"/>
              </a:rPr>
              <a:t>b</a:t>
            </a:r>
            <a:r>
              <a:rPr lang="el-GR" altLang="ja-JP" sz="2400" b="1" dirty="0"/>
              <a:t> = 1, </a:t>
            </a:r>
            <a:r>
              <a:rPr lang="en-US" altLang="ja-JP" sz="2400" b="1" dirty="0"/>
              <a:t>it becomes the harmonic mean of Precision and Recall so it is used to evaluate the balance between Precision and Recall</a:t>
            </a:r>
          </a:p>
          <a:p>
            <a:endParaRPr lang="en-US" altLang="ja-JP" b="1" dirty="0"/>
          </a:p>
          <a:p>
            <a:endParaRPr lang="en-US" altLang="ja-JP" b="1" dirty="0"/>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5DCA8EBF-DE10-A31E-9A5B-0FEE9A648348}"/>
                  </a:ext>
                </a:extLst>
              </p:cNvPr>
              <p:cNvSpPr txBox="1"/>
              <p:nvPr/>
            </p:nvSpPr>
            <p:spPr>
              <a:xfrm>
                <a:off x="1315563" y="4169018"/>
                <a:ext cx="6641113" cy="79124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ea typeface="Cambria Math" panose="02040503050406030204" pitchFamily="18" charset="0"/>
                            </a:rPr>
                            <m:t>𝜷</m:t>
                          </m:r>
                        </m:e>
                      </m:d>
                      <m:r>
                        <a:rPr kumimoji="1" lang="en-US" altLang="ja-JP" sz="2400" b="1" i="1" smtClean="0">
                          <a:latin typeface="Cambria Math" panose="02040503050406030204" pitchFamily="18" charset="0"/>
                        </a:rPr>
                        <m:t>=</m:t>
                      </m:r>
                      <m:d>
                        <m:dPr>
                          <m:ctrlPr>
                            <a:rPr kumimoji="1" lang="ja-JP" altLang="en-US" sz="2400" b="1" i="1" smtClean="0">
                              <a:latin typeface="Cambria Math" panose="02040503050406030204" pitchFamily="18" charset="0"/>
                            </a:rPr>
                          </m:ctrlPr>
                        </m:dPr>
                        <m:e>
                          <m:r>
                            <a:rPr kumimoji="1" lang="en-US" altLang="ja-JP" sz="2400" b="1" i="1" smtClean="0">
                              <a:latin typeface="Cambria Math" panose="02040503050406030204" pitchFamily="18" charset="0"/>
                            </a:rPr>
                            <m:t>𝟏</m:t>
                          </m:r>
                          <m:r>
                            <a:rPr kumimoji="1" lang="en-US" altLang="ja-JP" sz="2400" b="1" i="1" smtClean="0">
                              <a:latin typeface="Cambria Math" panose="02040503050406030204" pitchFamily="18" charset="0"/>
                            </a:rPr>
                            <m:t>+</m:t>
                          </m:r>
                          <m:sSup>
                            <m:sSupPr>
                              <m:ctrlPr>
                                <a:rPr kumimoji="1" lang="ja-JP" altLang="en-US" sz="2400" b="1" i="1" smtClean="0">
                                  <a:latin typeface="Cambria Math" panose="02040503050406030204" pitchFamily="18" charset="0"/>
                                </a:rPr>
                              </m:ctrlPr>
                            </m:sSupPr>
                            <m:e>
                              <m:r>
                                <a:rPr kumimoji="1" lang="ja-JP" altLang="en-US" sz="2400" b="1" i="1" smtClean="0">
                                  <a:latin typeface="Cambria Math" panose="02040503050406030204" pitchFamily="18" charset="0"/>
                                </a:rPr>
                                <m:t>𝜷</m:t>
                              </m:r>
                            </m:e>
                            <m:sup>
                              <m:r>
                                <a:rPr kumimoji="1" lang="en-US" altLang="ja-JP" sz="2400" b="1" i="1" smtClean="0">
                                  <a:latin typeface="Cambria Math" panose="02040503050406030204" pitchFamily="18" charset="0"/>
                                </a:rPr>
                                <m:t>𝟐</m:t>
                              </m:r>
                            </m:sup>
                          </m:sSup>
                        </m:e>
                      </m:d>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d>
                            <m:dPr>
                              <m:begChr m:val="{"/>
                              <m:endChr m:val="}"/>
                              <m:ctrlPr>
                                <a:rPr kumimoji="1" lang="ja-JP" altLang="en-US" sz="2400" b="1" i="1" smtClean="0">
                                  <a:latin typeface="Cambria Math" panose="02040503050406030204" pitchFamily="18" charset="0"/>
                                </a:rPr>
                              </m:ctrlPr>
                            </m:dPr>
                            <m:e>
                              <m:sSup>
                                <m:sSupPr>
                                  <m:ctrlPr>
                                    <a:rPr kumimoji="1" lang="ja-JP" altLang="en-US" sz="2400" b="1" i="1">
                                      <a:latin typeface="Cambria Math" panose="02040503050406030204" pitchFamily="18" charset="0"/>
                                    </a:rPr>
                                  </m:ctrlPr>
                                </m:sSupPr>
                                <m:e>
                                  <m:r>
                                    <a:rPr kumimoji="1" lang="ja-JP" altLang="en-US" sz="2400" b="1" i="1">
                                      <a:latin typeface="Cambria Math" panose="02040503050406030204" pitchFamily="18" charset="0"/>
                                    </a:rPr>
                                    <m:t>𝜷</m:t>
                                  </m:r>
                                </m:e>
                                <m:sup>
                                  <m:r>
                                    <a:rPr kumimoji="1" lang="en-US" altLang="ja-JP" sz="2400" b="1" i="1">
                                      <a:latin typeface="Cambria Math" panose="02040503050406030204" pitchFamily="18" charset="0"/>
                                    </a:rPr>
                                    <m:t>𝟐</m:t>
                                  </m:r>
                                </m:sup>
                              </m:sSup>
                              <m:r>
                                <a:rPr kumimoji="1" lang="en-US" altLang="ja-JP" sz="2400" b="1" i="1" smtClean="0">
                                  <a:latin typeface="Cambria Math" panose="02040503050406030204" pitchFamily="18" charset="0"/>
                                  <a:ea typeface="Cambria Math" panose="02040503050406030204" pitchFamily="18" charset="0"/>
                                </a:rPr>
                                <m:t>∙</m:t>
                              </m:r>
                              <m:d>
                                <m:dPr>
                                  <m:ctrlPr>
                                    <a:rPr kumimoji="1" lang="en-US" altLang="ja-JP" sz="2400" b="1" i="1" smtClean="0">
                                      <a:latin typeface="Cambria Math" panose="02040503050406030204" pitchFamily="18" charset="0"/>
                                      <a:ea typeface="Cambria Math" panose="02040503050406030204" pitchFamily="18" charset="0"/>
                                    </a:rPr>
                                  </m:ctrlPr>
                                </m:dPr>
                                <m:e>
                                  <m:r>
                                    <a:rPr kumimoji="1" lang="en-US" altLang="ja-JP" sz="2400" b="1" i="1" smtClean="0">
                                      <a:latin typeface="Cambria Math" panose="02040503050406030204" pitchFamily="18" charset="0"/>
                                      <a:ea typeface="Cambria Math" panose="02040503050406030204" pitchFamily="18" charset="0"/>
                                    </a:rPr>
                                    <m:t>𝑷𝒓𝒆𝒄𝒊𝒔𝒊𝒐𝒏</m:t>
                                  </m:r>
                                </m:e>
                              </m:d>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5DCA8EBF-DE10-A31E-9A5B-0FEE9A648348}"/>
                  </a:ext>
                </a:extLst>
              </p:cNvPr>
              <p:cNvSpPr txBox="1">
                <a:spLocks noRot="1" noChangeAspect="1" noMove="1" noResize="1" noEditPoints="1" noAdjustHandles="1" noChangeArrowheads="1" noChangeShapeType="1" noTextEdit="1"/>
              </p:cNvSpPr>
              <p:nvPr/>
            </p:nvSpPr>
            <p:spPr>
              <a:xfrm>
                <a:off x="1315563" y="4169018"/>
                <a:ext cx="6641113" cy="791242"/>
              </a:xfrm>
              <a:prstGeom prst="rect">
                <a:avLst/>
              </a:prstGeom>
              <a:blipFill>
                <a:blip r:embed="rId3"/>
                <a:stretch>
                  <a:fillRect t="-3175" r="-1145" b="-14286"/>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6345898F-07CC-58EB-BF35-A34920AC2F9A}"/>
              </a:ext>
            </a:extLst>
          </p:cNvPr>
          <p:cNvSpPr/>
          <p:nvPr/>
        </p:nvSpPr>
        <p:spPr>
          <a:xfrm>
            <a:off x="1709928" y="5390999"/>
            <a:ext cx="576072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37F20928-0C74-33EA-E436-C890BCC63DF8}"/>
                  </a:ext>
                </a:extLst>
              </p:cNvPr>
              <p:cNvSpPr txBox="1"/>
              <p:nvPr/>
            </p:nvSpPr>
            <p:spPr>
              <a:xfrm>
                <a:off x="2170926" y="5560774"/>
                <a:ext cx="4802148" cy="76899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rPr>
                            <m:t>𝟏</m:t>
                          </m:r>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𝟐</m:t>
                      </m:r>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10" name="テキスト ボックス 9">
                <a:extLst>
                  <a:ext uri="{FF2B5EF4-FFF2-40B4-BE49-F238E27FC236}">
                    <a16:creationId xmlns:a16="http://schemas.microsoft.com/office/drawing/2014/main" id="{37F20928-0C74-33EA-E436-C890BCC63DF8}"/>
                  </a:ext>
                </a:extLst>
              </p:cNvPr>
              <p:cNvSpPr txBox="1">
                <a:spLocks noRot="1" noChangeAspect="1" noMove="1" noResize="1" noEditPoints="1" noAdjustHandles="1" noChangeArrowheads="1" noChangeShapeType="1" noTextEdit="1"/>
              </p:cNvSpPr>
              <p:nvPr/>
            </p:nvSpPr>
            <p:spPr>
              <a:xfrm>
                <a:off x="2170926" y="5560774"/>
                <a:ext cx="4802148" cy="768993"/>
              </a:xfrm>
              <a:prstGeom prst="rect">
                <a:avLst/>
              </a:prstGeom>
              <a:blipFill>
                <a:blip r:embed="rId4"/>
                <a:stretch>
                  <a:fillRect t="-3226" r="-1579" b="-177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840871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10CC3-67AB-14B5-047D-A766EED1A67F}"/>
            </a:ext>
          </a:extLst>
        </p:cNvPr>
        <p:cNvGrpSpPr/>
        <p:nvPr/>
      </p:nvGrpSpPr>
      <p:grpSpPr>
        <a:xfrm>
          <a:off x="0" y="0"/>
          <a:ext cx="0" cy="0"/>
          <a:chOff x="0" y="0"/>
          <a:chExt cx="0" cy="0"/>
        </a:xfrm>
      </p:grpSpPr>
      <p:sp>
        <p:nvSpPr>
          <p:cNvPr id="8" name="正方形/長方形 7">
            <a:extLst>
              <a:ext uri="{FF2B5EF4-FFF2-40B4-BE49-F238E27FC236}">
                <a16:creationId xmlns:a16="http://schemas.microsoft.com/office/drawing/2014/main" id="{C18A2D7B-6841-A23D-E790-2684978D316E}"/>
              </a:ext>
            </a:extLst>
          </p:cNvPr>
          <p:cNvSpPr/>
          <p:nvPr/>
        </p:nvSpPr>
        <p:spPr>
          <a:xfrm>
            <a:off x="1187324" y="4008387"/>
            <a:ext cx="700570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タイトル 1">
            <a:extLst>
              <a:ext uri="{FF2B5EF4-FFF2-40B4-BE49-F238E27FC236}">
                <a16:creationId xmlns:a16="http://schemas.microsoft.com/office/drawing/2014/main" id="{23A8B076-BF44-95CE-F83D-D8F280DB600D}"/>
              </a:ext>
            </a:extLst>
          </p:cNvPr>
          <p:cNvSpPr>
            <a:spLocks noGrp="1"/>
          </p:cNvSpPr>
          <p:nvPr>
            <p:ph type="title"/>
          </p:nvPr>
        </p:nvSpPr>
        <p:spPr/>
        <p:txBody>
          <a:bodyPr>
            <a:normAutofit/>
          </a:bodyPr>
          <a:lstStyle/>
          <a:p>
            <a:r>
              <a:rPr lang="en-US" altLang="ja-JP" dirty="0">
                <a:latin typeface="Helvetica" pitchFamily="2" charset="0"/>
              </a:rPr>
              <a:t>F1 </a:t>
            </a:r>
            <a:r>
              <a:rPr lang="ja-JP" altLang="en-US">
                <a:latin typeface="Helvetica" pitchFamily="2" charset="0"/>
              </a:rPr>
              <a:t>値</a:t>
            </a:r>
            <a:r>
              <a:rPr kumimoji="1" lang="en-US" altLang="ja-JP" dirty="0">
                <a:latin typeface="Helvetica" pitchFamily="2" charset="0"/>
              </a:rPr>
              <a:t> </a:t>
            </a:r>
            <a:r>
              <a:rPr kumimoji="1" lang="ja-JP" altLang="en-US" sz="2700">
                <a:latin typeface="Helvetica" pitchFamily="2" charset="0"/>
              </a:rPr>
              <a:t>評価指標</a:t>
            </a:r>
          </a:p>
        </p:txBody>
      </p:sp>
      <p:sp>
        <p:nvSpPr>
          <p:cNvPr id="6" name="コンテンツ プレースホルダー 3">
            <a:extLst>
              <a:ext uri="{FF2B5EF4-FFF2-40B4-BE49-F238E27FC236}">
                <a16:creationId xmlns:a16="http://schemas.microsoft.com/office/drawing/2014/main" id="{88DFC609-84C7-41B0-9898-D5F64B0FDF37}"/>
              </a:ext>
            </a:extLst>
          </p:cNvPr>
          <p:cNvSpPr txBox="1">
            <a:spLocks/>
          </p:cNvSpPr>
          <p:nvPr/>
        </p:nvSpPr>
        <p:spPr>
          <a:xfrm>
            <a:off x="117877" y="1010336"/>
            <a:ext cx="9026123" cy="2766534"/>
          </a:xfrm>
          <a:prstGeom prst="rect">
            <a:avLst/>
          </a:prstGeom>
          <a:no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b="0" i="0" kern="1200" baseline="0">
                <a:solidFill>
                  <a:schemeClr val="tx1"/>
                </a:solidFill>
                <a:latin typeface="Helvetica" pitchFamily="2" charset="0"/>
                <a:ea typeface="Hiragino Sans W4" panose="020B0400000000000000"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b="0" i="0" kern="1200" baseline="0">
                <a:solidFill>
                  <a:schemeClr val="tx1"/>
                </a:solidFill>
                <a:latin typeface="Helvetica" pitchFamily="2" charset="0"/>
                <a:ea typeface="Hiragino Sans W4" panose="020B0400000000000000" pitchFamily="34" charset="-128"/>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b="0" i="0" kern="1200" baseline="0">
                <a:solidFill>
                  <a:schemeClr val="tx1"/>
                </a:solidFill>
                <a:latin typeface="Helvetica" pitchFamily="2" charset="0"/>
                <a:ea typeface="Hiragino Sans W4" panose="020B0400000000000000" pitchFamily="34" charset="-128"/>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b="0" i="0" kern="1200" baseline="0">
                <a:solidFill>
                  <a:schemeClr val="tx1"/>
                </a:solidFill>
                <a:latin typeface="Helvetica" pitchFamily="2" charset="0"/>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r>
              <a:rPr lang="en-US" altLang="ja-JP" b="1" dirty="0"/>
              <a:t>F</a:t>
            </a:r>
            <a:r>
              <a:rPr lang="en-US" altLang="ja-JP" b="1" dirty="0">
                <a:latin typeface="Symbol" pitchFamily="2" charset="2"/>
              </a:rPr>
              <a:t>b</a:t>
            </a:r>
            <a:r>
              <a:rPr lang="ja-JP" altLang="en-US" b="1"/>
              <a:t> </a:t>
            </a:r>
            <a:r>
              <a:rPr lang="en-US" altLang="ja-JP" b="1" dirty="0"/>
              <a:t>score </a:t>
            </a:r>
            <a:r>
              <a:rPr lang="ja-JP" altLang="en-US" b="1"/>
              <a:t>（重ね付き</a:t>
            </a:r>
            <a:r>
              <a:rPr lang="en-US" altLang="ja-JP" b="1" dirty="0"/>
              <a:t>F</a:t>
            </a:r>
            <a:r>
              <a:rPr lang="ja-JP" altLang="en-US" b="1"/>
              <a:t>値）</a:t>
            </a:r>
            <a:endParaRPr lang="ja-JP" altLang="ja-JP" b="1"/>
          </a:p>
          <a:p>
            <a:r>
              <a:rPr lang="ja-JP" altLang="en-US" b="1">
                <a:latin typeface="Hiragino Sans W6" panose="020B0400000000000000" pitchFamily="34" charset="-128"/>
                <a:ea typeface="Hiragino Sans W6" panose="020B0400000000000000" pitchFamily="34" charset="-128"/>
              </a:rPr>
              <a:t>適合率と再現性から構成される重み付きの指標</a:t>
            </a:r>
            <a:endParaRPr lang="ja-JP" altLang="ja-JP" b="1">
              <a:latin typeface="Hiragino Sans W6" panose="020B0400000000000000" pitchFamily="34" charset="-128"/>
              <a:ea typeface="Hiragino Sans W6" panose="020B0400000000000000" pitchFamily="34" charset="-128"/>
            </a:endParaRPr>
          </a:p>
          <a:p>
            <a:r>
              <a:rPr lang="ja-JP" altLang="en-US" b="1">
                <a:latin typeface="Hiragino Sans W6" panose="020B0400000000000000" pitchFamily="34" charset="-128"/>
                <a:ea typeface="Hiragino Sans W6" panose="020B0400000000000000" pitchFamily="34" charset="-128"/>
              </a:rPr>
              <a:t>代表的な</a:t>
            </a:r>
            <a:r>
              <a:rPr lang="en-US" altLang="ja-JP" b="1" dirty="0">
                <a:latin typeface="Hiragino Sans W6" panose="020B0400000000000000" pitchFamily="34" charset="-128"/>
                <a:ea typeface="Hiragino Sans W6" panose="020B0400000000000000" pitchFamily="34" charset="-128"/>
              </a:rPr>
              <a:t> </a:t>
            </a:r>
            <a:r>
              <a:rPr lang="en-US" altLang="ja-JP" b="1" dirty="0">
                <a:latin typeface="Symbol" pitchFamily="2" charset="2"/>
              </a:rPr>
              <a:t>b </a:t>
            </a:r>
            <a:r>
              <a:rPr lang="ja-JP" altLang="en-US" b="1">
                <a:latin typeface="Hiragino Sans W6" panose="020B0400000000000000" pitchFamily="34" charset="-128"/>
                <a:ea typeface="Hiragino Sans W6" panose="020B0400000000000000" pitchFamily="34" charset="-128"/>
              </a:rPr>
              <a:t>の値としては</a:t>
            </a:r>
            <a:r>
              <a:rPr lang="en-US" altLang="ja-JP" b="1" dirty="0">
                <a:latin typeface="Hiragino Sans W6" panose="020B0400000000000000" pitchFamily="34" charset="-128"/>
                <a:ea typeface="Hiragino Sans W6" panose="020B0400000000000000" pitchFamily="34" charset="-128"/>
              </a:rPr>
              <a:t> </a:t>
            </a:r>
            <a:r>
              <a:rPr lang="en-US" altLang="ja-JP" b="1" dirty="0">
                <a:latin typeface="Symbol" pitchFamily="2" charset="2"/>
                <a:ea typeface="Hiragino Sans W6" panose="020B0400000000000000" pitchFamily="34" charset="-128"/>
              </a:rPr>
              <a:t>b</a:t>
            </a:r>
            <a:r>
              <a:rPr lang="en-US" altLang="ja-JP" b="1" dirty="0"/>
              <a:t> </a:t>
            </a:r>
            <a:r>
              <a:rPr lang="ja-JP" altLang="el-GR" b="1"/>
              <a:t>＝</a:t>
            </a:r>
            <a:r>
              <a:rPr lang="en-US" altLang="ja-JP" b="1" dirty="0"/>
              <a:t> </a:t>
            </a:r>
            <a:r>
              <a:rPr lang="el-GR" altLang="ja-JP" b="1" dirty="0"/>
              <a:t>1,0.5,2</a:t>
            </a:r>
            <a:r>
              <a:rPr lang="ja-JP" altLang="en-US" b="1">
                <a:latin typeface="Hiragino Sans W6" panose="020B0400000000000000" pitchFamily="34" charset="-128"/>
                <a:ea typeface="Hiragino Sans W6" panose="020B0400000000000000" pitchFamily="34" charset="-128"/>
              </a:rPr>
              <a:t>などがある</a:t>
            </a:r>
            <a:endParaRPr lang="en-US" altLang="ja-JP" b="1" dirty="0">
              <a:latin typeface="Hiragino Sans W6" panose="020B0400000000000000" pitchFamily="34" charset="-128"/>
              <a:ea typeface="Hiragino Sans W6" panose="020B0400000000000000" pitchFamily="34" charset="-128"/>
            </a:endParaRPr>
          </a:p>
          <a:p>
            <a:r>
              <a:rPr lang="en-US" altLang="ja-JP" b="1" dirty="0">
                <a:latin typeface="Symbol" pitchFamily="2" charset="2"/>
                <a:ea typeface="Hiragino Sans W6" panose="020B0400000000000000" pitchFamily="34" charset="-128"/>
              </a:rPr>
              <a:t>b</a:t>
            </a:r>
            <a:r>
              <a:rPr lang="en-US" altLang="ja-JP" b="1" dirty="0"/>
              <a:t> </a:t>
            </a:r>
            <a:r>
              <a:rPr lang="ja-JP" altLang="el-GR" b="1"/>
              <a:t>＝</a:t>
            </a:r>
            <a:r>
              <a:rPr lang="en-US" altLang="ja-JP" b="1" dirty="0"/>
              <a:t> </a:t>
            </a:r>
            <a:r>
              <a:rPr lang="el-GR" altLang="ja-JP" b="1" dirty="0"/>
              <a:t>1</a:t>
            </a:r>
            <a:r>
              <a:rPr lang="en-US" altLang="ja-JP" b="1" dirty="0"/>
              <a:t> </a:t>
            </a:r>
            <a:r>
              <a:rPr lang="ja-JP" altLang="en-US" b="1"/>
              <a:t>の場合は適合率と再現性の調和平均となる</a:t>
            </a:r>
            <a:br>
              <a:rPr lang="en-US" altLang="ja-JP" b="1" dirty="0"/>
            </a:br>
            <a:r>
              <a:rPr lang="ja-JP" altLang="en-US" b="1"/>
              <a:t>適合率と再現性のバランスのとれた評価指標</a:t>
            </a:r>
            <a:endParaRPr lang="en-US" altLang="ja-JP" b="1" dirty="0"/>
          </a:p>
          <a:p>
            <a:endParaRPr lang="en-US" altLang="ja-JP" b="1" dirty="0"/>
          </a:p>
          <a:p>
            <a:endParaRPr lang="en-US" altLang="ja-JP" b="1" dirty="0"/>
          </a:p>
        </p:txBody>
      </p: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09989A10-A971-5CA2-CFF4-00DF2CD6C0A3}"/>
                  </a:ext>
                </a:extLst>
              </p:cNvPr>
              <p:cNvSpPr txBox="1"/>
              <p:nvPr/>
            </p:nvSpPr>
            <p:spPr>
              <a:xfrm>
                <a:off x="1315563" y="4169018"/>
                <a:ext cx="6641113" cy="791242"/>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ea typeface="Cambria Math" panose="02040503050406030204" pitchFamily="18" charset="0"/>
                            </a:rPr>
                            <m:t>𝜷</m:t>
                          </m:r>
                        </m:e>
                      </m:d>
                      <m:r>
                        <a:rPr kumimoji="1" lang="en-US" altLang="ja-JP" sz="2400" b="1" i="1" smtClean="0">
                          <a:latin typeface="Cambria Math" panose="02040503050406030204" pitchFamily="18" charset="0"/>
                        </a:rPr>
                        <m:t>=</m:t>
                      </m:r>
                      <m:d>
                        <m:dPr>
                          <m:ctrlPr>
                            <a:rPr kumimoji="1" lang="ja-JP" altLang="en-US" sz="2400" b="1" i="1" smtClean="0">
                              <a:latin typeface="Cambria Math" panose="02040503050406030204" pitchFamily="18" charset="0"/>
                            </a:rPr>
                          </m:ctrlPr>
                        </m:dPr>
                        <m:e>
                          <m:r>
                            <a:rPr kumimoji="1" lang="en-US" altLang="ja-JP" sz="2400" b="1" i="1" smtClean="0">
                              <a:latin typeface="Cambria Math" panose="02040503050406030204" pitchFamily="18" charset="0"/>
                            </a:rPr>
                            <m:t>𝟏</m:t>
                          </m:r>
                          <m:r>
                            <a:rPr kumimoji="1" lang="en-US" altLang="ja-JP" sz="2400" b="1" i="1" smtClean="0">
                              <a:latin typeface="Cambria Math" panose="02040503050406030204" pitchFamily="18" charset="0"/>
                            </a:rPr>
                            <m:t>+</m:t>
                          </m:r>
                          <m:sSup>
                            <m:sSupPr>
                              <m:ctrlPr>
                                <a:rPr kumimoji="1" lang="ja-JP" altLang="en-US" sz="2400" b="1" i="1" smtClean="0">
                                  <a:latin typeface="Cambria Math" panose="02040503050406030204" pitchFamily="18" charset="0"/>
                                </a:rPr>
                              </m:ctrlPr>
                            </m:sSupPr>
                            <m:e>
                              <m:r>
                                <a:rPr kumimoji="1" lang="ja-JP" altLang="en-US" sz="2400" b="1" i="1" smtClean="0">
                                  <a:latin typeface="Cambria Math" panose="02040503050406030204" pitchFamily="18" charset="0"/>
                                </a:rPr>
                                <m:t>𝜷</m:t>
                              </m:r>
                            </m:e>
                            <m:sup>
                              <m:r>
                                <a:rPr kumimoji="1" lang="en-US" altLang="ja-JP" sz="2400" b="1" i="1" smtClean="0">
                                  <a:latin typeface="Cambria Math" panose="02040503050406030204" pitchFamily="18" charset="0"/>
                                </a:rPr>
                                <m:t>𝟐</m:t>
                              </m:r>
                            </m:sup>
                          </m:sSup>
                        </m:e>
                      </m:d>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d>
                            <m:dPr>
                              <m:begChr m:val="{"/>
                              <m:endChr m:val="}"/>
                              <m:ctrlPr>
                                <a:rPr kumimoji="1" lang="ja-JP" altLang="en-US" sz="2400" b="1" i="1" smtClean="0">
                                  <a:latin typeface="Cambria Math" panose="02040503050406030204" pitchFamily="18" charset="0"/>
                                </a:rPr>
                              </m:ctrlPr>
                            </m:dPr>
                            <m:e>
                              <m:sSup>
                                <m:sSupPr>
                                  <m:ctrlPr>
                                    <a:rPr kumimoji="1" lang="ja-JP" altLang="en-US" sz="2400" b="1" i="1">
                                      <a:latin typeface="Cambria Math" panose="02040503050406030204" pitchFamily="18" charset="0"/>
                                    </a:rPr>
                                  </m:ctrlPr>
                                </m:sSupPr>
                                <m:e>
                                  <m:r>
                                    <a:rPr kumimoji="1" lang="ja-JP" altLang="en-US" sz="2400" b="1" i="1">
                                      <a:latin typeface="Cambria Math" panose="02040503050406030204" pitchFamily="18" charset="0"/>
                                    </a:rPr>
                                    <m:t>𝜷</m:t>
                                  </m:r>
                                </m:e>
                                <m:sup>
                                  <m:r>
                                    <a:rPr kumimoji="1" lang="en-US" altLang="ja-JP" sz="2400" b="1" i="1">
                                      <a:latin typeface="Cambria Math" panose="02040503050406030204" pitchFamily="18" charset="0"/>
                                    </a:rPr>
                                    <m:t>𝟐</m:t>
                                  </m:r>
                                </m:sup>
                              </m:sSup>
                              <m:r>
                                <a:rPr kumimoji="1" lang="en-US" altLang="ja-JP" sz="2400" b="1" i="1" smtClean="0">
                                  <a:latin typeface="Cambria Math" panose="02040503050406030204" pitchFamily="18" charset="0"/>
                                  <a:ea typeface="Cambria Math" panose="02040503050406030204" pitchFamily="18" charset="0"/>
                                </a:rPr>
                                <m:t>∙</m:t>
                              </m:r>
                              <m:d>
                                <m:dPr>
                                  <m:ctrlPr>
                                    <a:rPr kumimoji="1" lang="en-US" altLang="ja-JP" sz="2400" b="1" i="1" smtClean="0">
                                      <a:latin typeface="Cambria Math" panose="02040503050406030204" pitchFamily="18" charset="0"/>
                                      <a:ea typeface="Cambria Math" panose="02040503050406030204" pitchFamily="18" charset="0"/>
                                    </a:rPr>
                                  </m:ctrlPr>
                                </m:dPr>
                                <m:e>
                                  <m:r>
                                    <a:rPr kumimoji="1" lang="en-US" altLang="ja-JP" sz="2400" b="1" i="1" smtClean="0">
                                      <a:latin typeface="Cambria Math" panose="02040503050406030204" pitchFamily="18" charset="0"/>
                                      <a:ea typeface="Cambria Math" panose="02040503050406030204" pitchFamily="18" charset="0"/>
                                    </a:rPr>
                                    <m:t>𝑷𝒓𝒆𝒄𝒊𝒔𝒊𝒐𝒏</m:t>
                                  </m:r>
                                </m:e>
                              </m:d>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7" name="テキスト ボックス 6">
                <a:extLst>
                  <a:ext uri="{FF2B5EF4-FFF2-40B4-BE49-F238E27FC236}">
                    <a16:creationId xmlns:a16="http://schemas.microsoft.com/office/drawing/2014/main" id="{5DCA8EBF-DE10-A31E-9A5B-0FEE9A648348}"/>
                  </a:ext>
                </a:extLst>
              </p:cNvPr>
              <p:cNvSpPr txBox="1">
                <a:spLocks noRot="1" noChangeAspect="1" noMove="1" noResize="1" noEditPoints="1" noAdjustHandles="1" noChangeArrowheads="1" noChangeShapeType="1" noTextEdit="1"/>
              </p:cNvSpPr>
              <p:nvPr/>
            </p:nvSpPr>
            <p:spPr>
              <a:xfrm>
                <a:off x="1315563" y="4169018"/>
                <a:ext cx="6641113" cy="791242"/>
              </a:xfrm>
              <a:prstGeom prst="rect">
                <a:avLst/>
              </a:prstGeom>
              <a:blipFill>
                <a:blip r:embed="rId3"/>
                <a:stretch>
                  <a:fillRect t="-3175" r="-1145" b="-14286"/>
                </a:stretch>
              </a:blipFill>
            </p:spPr>
            <p:txBody>
              <a:bodyPr/>
              <a:lstStyle/>
              <a:p>
                <a:r>
                  <a:rPr lang="ja-JP" altLang="en-US">
                    <a:noFill/>
                  </a:rPr>
                  <a:t> </a:t>
                </a:r>
              </a:p>
            </p:txBody>
          </p:sp>
        </mc:Fallback>
      </mc:AlternateContent>
      <p:sp>
        <p:nvSpPr>
          <p:cNvPr id="9" name="正方形/長方形 8">
            <a:extLst>
              <a:ext uri="{FF2B5EF4-FFF2-40B4-BE49-F238E27FC236}">
                <a16:creationId xmlns:a16="http://schemas.microsoft.com/office/drawing/2014/main" id="{EEE5E5B7-E400-F6ED-265C-2F0871C59663}"/>
              </a:ext>
            </a:extLst>
          </p:cNvPr>
          <p:cNvSpPr/>
          <p:nvPr/>
        </p:nvSpPr>
        <p:spPr>
          <a:xfrm>
            <a:off x="1709928" y="5390999"/>
            <a:ext cx="5760720" cy="122198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D24CC33D-ED91-C040-F1A8-ADC64F15FF93}"/>
                  </a:ext>
                </a:extLst>
              </p:cNvPr>
              <p:cNvSpPr txBox="1"/>
              <p:nvPr/>
            </p:nvSpPr>
            <p:spPr>
              <a:xfrm>
                <a:off x="2170926" y="5560774"/>
                <a:ext cx="4802148" cy="768993"/>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m:t>
                          </m:r>
                          <m:r>
                            <a:rPr kumimoji="1" lang="en-US" altLang="ja-JP" sz="2400" b="1" i="1" smtClean="0">
                              <a:latin typeface="Cambria Math" panose="02040503050406030204" pitchFamily="18" charset="0"/>
                            </a:rPr>
                            <m:t>𝟏</m:t>
                          </m:r>
                        </m:e>
                      </m:d>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𝟐</m:t>
                      </m:r>
                      <m:r>
                        <a:rPr kumimoji="1" lang="ja-JP" altLang="en-US"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ea typeface="Cambria Math" panose="02040503050406030204" pitchFamily="18" charset="0"/>
                            </a:rPr>
                            <m:t>𝑹𝒆𝒄𝒂𝒍𝒍</m:t>
                          </m:r>
                          <m:r>
                            <a:rPr kumimoji="1" lang="en-US" altLang="ja-JP" sz="2400" b="1" i="1" smtClean="0">
                              <a:latin typeface="Cambria Math" panose="02040503050406030204" pitchFamily="18" charset="0"/>
                              <a:ea typeface="Cambria Math" panose="02040503050406030204" pitchFamily="18" charset="0"/>
                            </a:rPr>
                            <m:t>)</m:t>
                          </m:r>
                        </m:num>
                        <m:den>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𝑷𝒓𝒆𝒄𝒊𝒔𝒊𝒐𝒏</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den>
                      </m:f>
                    </m:oMath>
                  </m:oMathPara>
                </a14:m>
                <a:endParaRPr kumimoji="1" lang="ja-JP" altLang="en-US" sz="2400" b="1"/>
              </a:p>
            </p:txBody>
          </p:sp>
        </mc:Choice>
        <mc:Fallback xmlns="">
          <p:sp>
            <p:nvSpPr>
              <p:cNvPr id="10" name="テキスト ボックス 9">
                <a:extLst>
                  <a:ext uri="{FF2B5EF4-FFF2-40B4-BE49-F238E27FC236}">
                    <a16:creationId xmlns:a16="http://schemas.microsoft.com/office/drawing/2014/main" id="{37F20928-0C74-33EA-E436-C890BCC63DF8}"/>
                  </a:ext>
                </a:extLst>
              </p:cNvPr>
              <p:cNvSpPr txBox="1">
                <a:spLocks noRot="1" noChangeAspect="1" noMove="1" noResize="1" noEditPoints="1" noAdjustHandles="1" noChangeArrowheads="1" noChangeShapeType="1" noTextEdit="1"/>
              </p:cNvSpPr>
              <p:nvPr/>
            </p:nvSpPr>
            <p:spPr>
              <a:xfrm>
                <a:off x="2170926" y="5560774"/>
                <a:ext cx="4802148" cy="768993"/>
              </a:xfrm>
              <a:prstGeom prst="rect">
                <a:avLst/>
              </a:prstGeom>
              <a:blipFill>
                <a:blip r:embed="rId4"/>
                <a:stretch>
                  <a:fillRect t="-3226" r="-1579" b="-1774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65968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F2A1FBDE-BE16-849D-03E1-394B33420782}"/>
              </a:ext>
            </a:extLst>
          </p:cNvPr>
          <p:cNvSpPr>
            <a:spLocks noGrp="1"/>
          </p:cNvSpPr>
          <p:nvPr>
            <p:ph type="title"/>
          </p:nvPr>
        </p:nvSpPr>
        <p:spPr/>
        <p:txBody>
          <a:bodyPr>
            <a:normAutofit/>
          </a:bodyPr>
          <a:lstStyle/>
          <a:p>
            <a:r>
              <a:rPr kumimoji="1" lang="en-US" altLang="ja-JP" dirty="0">
                <a:latin typeface="Helvetica" pitchFamily="2" charset="0"/>
              </a:rPr>
              <a:t>RO</a:t>
            </a:r>
            <a:r>
              <a:rPr lang="en-US" altLang="ja-JP" dirty="0">
                <a:latin typeface="Helvetica" pitchFamily="2" charset="0"/>
              </a:rPr>
              <a:t>C Curve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8" name="正方形/長方形 7">
            <a:extLst>
              <a:ext uri="{FF2B5EF4-FFF2-40B4-BE49-F238E27FC236}">
                <a16:creationId xmlns:a16="http://schemas.microsoft.com/office/drawing/2014/main" id="{08FB176E-CC35-32EC-28C5-06AD0468596F}"/>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6DD0D5AE-E398-05B4-C9C0-A51E8A169EEF}"/>
              </a:ext>
            </a:extLst>
          </p:cNvPr>
          <p:cNvPicPr>
            <a:picLocks noChangeAspect="1"/>
          </p:cNvPicPr>
          <p:nvPr/>
        </p:nvPicPr>
        <p:blipFill>
          <a:blip r:embed="rId3"/>
          <a:stretch>
            <a:fillRect/>
          </a:stretch>
        </p:blipFill>
        <p:spPr>
          <a:xfrm>
            <a:off x="5920486" y="4087831"/>
            <a:ext cx="2474644" cy="2487433"/>
          </a:xfrm>
          <a:prstGeom prst="rect">
            <a:avLst/>
          </a:prstGeom>
          <a:solidFill>
            <a:schemeClr val="bg1"/>
          </a:solidFill>
        </p:spPr>
      </p:pic>
      <p:sp>
        <p:nvSpPr>
          <p:cNvPr id="13" name="テキスト ボックス 12">
            <a:extLst>
              <a:ext uri="{FF2B5EF4-FFF2-40B4-BE49-F238E27FC236}">
                <a16:creationId xmlns:a16="http://schemas.microsoft.com/office/drawing/2014/main" id="{E2F8114D-B579-61EF-E3A2-BA6F57DB14EC}"/>
              </a:ext>
            </a:extLst>
          </p:cNvPr>
          <p:cNvSpPr txBox="1"/>
          <p:nvPr/>
        </p:nvSpPr>
        <p:spPr>
          <a:xfrm>
            <a:off x="310896" y="1207008"/>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Vertical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True Positive Rate (TPR)</a:t>
            </a:r>
          </a:p>
        </p:txBody>
      </p:sp>
      <p:sp>
        <p:nvSpPr>
          <p:cNvPr id="14" name="テキスト ボックス 13">
            <a:extLst>
              <a:ext uri="{FF2B5EF4-FFF2-40B4-BE49-F238E27FC236}">
                <a16:creationId xmlns:a16="http://schemas.microsoft.com/office/drawing/2014/main" id="{EF45AB60-4BA6-8FB0-7B09-14351AF627B1}"/>
              </a:ext>
            </a:extLst>
          </p:cNvPr>
          <p:cNvSpPr txBox="1"/>
          <p:nvPr/>
        </p:nvSpPr>
        <p:spPr>
          <a:xfrm>
            <a:off x="310896" y="2435120"/>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Horizonal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False Positive Rate (FPR)</a:t>
            </a:r>
          </a:p>
        </p:txBody>
      </p:sp>
      <p:sp>
        <p:nvSpPr>
          <p:cNvPr id="15" name="正方形/長方形 14">
            <a:extLst>
              <a:ext uri="{FF2B5EF4-FFF2-40B4-BE49-F238E27FC236}">
                <a16:creationId xmlns:a16="http://schemas.microsoft.com/office/drawing/2014/main" id="{BC99BADA-53D8-35B3-5835-60EA40152AC5}"/>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ABDAAEC3-C3AA-8AD9-374F-8C5FCBBD57CB}"/>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4"/>
                <a:stretch>
                  <a:fillRect r="-2134" b="-12500"/>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AB326BDB-7448-4364-74EF-5627587E75F7}"/>
              </a:ext>
            </a:extLst>
          </p:cNvPr>
          <p:cNvSpPr/>
          <p:nvPr/>
        </p:nvSpPr>
        <p:spPr>
          <a:xfrm>
            <a:off x="2751667" y="2999948"/>
            <a:ext cx="284480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D145946B-BDB4-A8F6-73F4-3D5A5E9DDD48}"/>
                  </a:ext>
                </a:extLst>
              </p:cNvPr>
              <p:cNvSpPr txBox="1"/>
              <p:nvPr/>
            </p:nvSpPr>
            <p:spPr>
              <a:xfrm>
                <a:off x="2890316" y="3041556"/>
                <a:ext cx="2542940"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00B0F0"/>
                              </a:solidFill>
                              <a:latin typeface="Cambria Math" panose="02040503050406030204" pitchFamily="18" charset="0"/>
                            </a:rPr>
                            <m:t>𝑭𝑷</m:t>
                          </m:r>
                        </m:num>
                        <m:den>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den>
                      </m:f>
                    </m:oMath>
                  </m:oMathPara>
                </a14:m>
                <a:endParaRPr kumimoji="1" lang="ja-JP" altLang="en-US" sz="2400" b="1"/>
              </a:p>
            </p:txBody>
          </p:sp>
        </mc:Choice>
        <mc:Fallback xmlns="">
          <p:sp>
            <p:nvSpPr>
              <p:cNvPr id="18" name="テキスト ボックス 17">
                <a:extLst>
                  <a:ext uri="{FF2B5EF4-FFF2-40B4-BE49-F238E27FC236}">
                    <a16:creationId xmlns:a16="http://schemas.microsoft.com/office/drawing/2014/main" id="{D145946B-BDB4-A8F6-73F4-3D5A5E9DDD48}"/>
                  </a:ext>
                </a:extLst>
              </p:cNvPr>
              <p:cNvSpPr txBox="1">
                <a:spLocks noRot="1" noChangeAspect="1" noMove="1" noResize="1" noEditPoints="1" noAdjustHandles="1" noChangeArrowheads="1" noChangeShapeType="1" noTextEdit="1"/>
              </p:cNvSpPr>
              <p:nvPr/>
            </p:nvSpPr>
            <p:spPr>
              <a:xfrm>
                <a:off x="2890316" y="3041556"/>
                <a:ext cx="2542940" cy="697627"/>
              </a:xfrm>
              <a:prstGeom prst="rect">
                <a:avLst/>
              </a:prstGeom>
              <a:blipFill>
                <a:blip r:embed="rId5"/>
                <a:stretch>
                  <a:fillRect r="-2488" b="-14286"/>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25C0AB95-CD5E-7914-1118-DE8AA9784304}"/>
              </a:ext>
            </a:extLst>
          </p:cNvPr>
          <p:cNvSpPr txBox="1"/>
          <p:nvPr/>
        </p:nvSpPr>
        <p:spPr>
          <a:xfrm>
            <a:off x="648093" y="4019132"/>
            <a:ext cx="5052036" cy="3816429"/>
          </a:xfrm>
          <a:prstGeom prst="rect">
            <a:avLst/>
          </a:prstGeom>
          <a:noFill/>
        </p:spPr>
        <p:txBody>
          <a:bodyPr wrap="square" rtlCol="0">
            <a:spAutoFit/>
          </a:bodyPr>
          <a:lstStyle/>
          <a:p>
            <a:pPr marL="457200" indent="-457200">
              <a:buFont typeface="Wingdings" pitchFamily="2" charset="2"/>
              <a:buChar char="ü"/>
            </a:pPr>
            <a:r>
              <a:rPr kumimoji="1" lang="en-US" altLang="ja-JP" sz="2000" b="1" dirty="0">
                <a:latin typeface="Helvetica" pitchFamily="2" charset="0"/>
                <a:ea typeface="Hiragino Sans W4" panose="020B0400000000000000" pitchFamily="34" charset="-128"/>
              </a:rPr>
              <a:t>The better the machine learning model performs, the closer the ROC curve gets to the upper-left corner</a:t>
            </a: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4" panose="020B0400000000000000" pitchFamily="34" charset="-128"/>
              </a:rPr>
              <a:t>A larger AUC indicates better model performance.</a:t>
            </a: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4" panose="020B0400000000000000" pitchFamily="34" charset="-128"/>
              </a:rPr>
              <a:t>AUC(Area Under the Curve):</a:t>
            </a:r>
          </a:p>
          <a:p>
            <a:r>
              <a:rPr kumimoji="1" lang="en" altLang="ja-JP" sz="2000" b="1" dirty="0">
                <a:latin typeface="Helvetica" pitchFamily="2" charset="0"/>
                <a:ea typeface="Hiragino Sans W4" panose="020B0400000000000000" pitchFamily="34" charset="-128"/>
              </a:rPr>
              <a:t>Area under the ROC curve</a:t>
            </a: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1850103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F463-2147-7FF0-61A8-32FE43431147}"/>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5C9D4FB9-02E8-C4D6-D40E-0A6B1783D28F}"/>
              </a:ext>
            </a:extLst>
          </p:cNvPr>
          <p:cNvSpPr>
            <a:spLocks noGrp="1"/>
          </p:cNvSpPr>
          <p:nvPr>
            <p:ph type="title"/>
          </p:nvPr>
        </p:nvSpPr>
        <p:spPr/>
        <p:txBody>
          <a:bodyPr>
            <a:normAutofit/>
          </a:bodyPr>
          <a:lstStyle/>
          <a:p>
            <a:r>
              <a:rPr kumimoji="1" lang="en-US" altLang="ja-JP" dirty="0">
                <a:latin typeface="Helvetica" pitchFamily="2" charset="0"/>
              </a:rPr>
              <a:t>RO</a:t>
            </a:r>
            <a:r>
              <a:rPr lang="en-US" altLang="ja-JP" dirty="0">
                <a:latin typeface="Helvetica" pitchFamily="2" charset="0"/>
              </a:rPr>
              <a:t>C</a:t>
            </a:r>
            <a:r>
              <a:rPr lang="ja-JP" altLang="en-US">
                <a:latin typeface="Helvetica" pitchFamily="2" charset="0"/>
              </a:rPr>
              <a:t>曲線</a:t>
            </a:r>
            <a:r>
              <a:rPr kumimoji="1" lang="en-US" altLang="ja-JP" dirty="0">
                <a:latin typeface="Helvetica" pitchFamily="2" charset="0"/>
              </a:rPr>
              <a:t> </a:t>
            </a:r>
            <a:r>
              <a:rPr kumimoji="1" lang="ja-JP" altLang="en-US" sz="2700">
                <a:latin typeface="Helvetica" pitchFamily="2" charset="0"/>
              </a:rPr>
              <a:t>評価指標</a:t>
            </a:r>
          </a:p>
        </p:txBody>
      </p:sp>
      <p:sp>
        <p:nvSpPr>
          <p:cNvPr id="8" name="正方形/長方形 7">
            <a:extLst>
              <a:ext uri="{FF2B5EF4-FFF2-40B4-BE49-F238E27FC236}">
                <a16:creationId xmlns:a16="http://schemas.microsoft.com/office/drawing/2014/main" id="{01A5CFCC-8BE2-43B5-37FA-BF094B376CAD}"/>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2" name="図 11">
            <a:extLst>
              <a:ext uri="{FF2B5EF4-FFF2-40B4-BE49-F238E27FC236}">
                <a16:creationId xmlns:a16="http://schemas.microsoft.com/office/drawing/2014/main" id="{555D1F53-8344-5EB3-18D9-7F6F062F0728}"/>
              </a:ext>
            </a:extLst>
          </p:cNvPr>
          <p:cNvPicPr>
            <a:picLocks noChangeAspect="1"/>
          </p:cNvPicPr>
          <p:nvPr/>
        </p:nvPicPr>
        <p:blipFill>
          <a:blip r:embed="rId3"/>
          <a:stretch>
            <a:fillRect/>
          </a:stretch>
        </p:blipFill>
        <p:spPr>
          <a:xfrm>
            <a:off x="5920486" y="4087831"/>
            <a:ext cx="2474644" cy="2487433"/>
          </a:xfrm>
          <a:prstGeom prst="rect">
            <a:avLst/>
          </a:prstGeom>
          <a:solidFill>
            <a:schemeClr val="bg1"/>
          </a:solidFill>
        </p:spPr>
      </p:pic>
      <p:sp>
        <p:nvSpPr>
          <p:cNvPr id="13" name="テキスト ボックス 12">
            <a:extLst>
              <a:ext uri="{FF2B5EF4-FFF2-40B4-BE49-F238E27FC236}">
                <a16:creationId xmlns:a16="http://schemas.microsoft.com/office/drawing/2014/main" id="{91ED12F6-8177-5375-F9C9-882573DF9463}"/>
              </a:ext>
            </a:extLst>
          </p:cNvPr>
          <p:cNvSpPr txBox="1"/>
          <p:nvPr/>
        </p:nvSpPr>
        <p:spPr>
          <a:xfrm>
            <a:off x="310896" y="1207008"/>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縦軸</a:t>
            </a:r>
            <a:r>
              <a:rPr kumimoji="1" lang="en-US" altLang="ja-JP" sz="2800" b="1" dirty="0">
                <a:latin typeface="Helvetica" pitchFamily="2" charset="0"/>
                <a:ea typeface="Hiragino Sans W4" panose="020B0400000000000000" pitchFamily="34" charset="-128"/>
              </a:rPr>
              <a:t> : True Positive Rate (TPR)</a:t>
            </a:r>
          </a:p>
        </p:txBody>
      </p:sp>
      <p:sp>
        <p:nvSpPr>
          <p:cNvPr id="14" name="テキスト ボックス 13">
            <a:extLst>
              <a:ext uri="{FF2B5EF4-FFF2-40B4-BE49-F238E27FC236}">
                <a16:creationId xmlns:a16="http://schemas.microsoft.com/office/drawing/2014/main" id="{85AA428A-814E-0ACD-C24A-D580584F43F0}"/>
              </a:ext>
            </a:extLst>
          </p:cNvPr>
          <p:cNvSpPr txBox="1"/>
          <p:nvPr/>
        </p:nvSpPr>
        <p:spPr>
          <a:xfrm>
            <a:off x="310896" y="2435120"/>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横軸</a:t>
            </a:r>
            <a:r>
              <a:rPr kumimoji="1" lang="en-US" altLang="ja-JP" sz="2800" b="1" dirty="0">
                <a:latin typeface="Helvetica" pitchFamily="2" charset="0"/>
                <a:ea typeface="Hiragino Sans W4" panose="020B0400000000000000" pitchFamily="34" charset="-128"/>
              </a:rPr>
              <a:t> : False Positive Rate (FPR)</a:t>
            </a:r>
          </a:p>
        </p:txBody>
      </p:sp>
      <p:sp>
        <p:nvSpPr>
          <p:cNvPr id="15" name="正方形/長方形 14">
            <a:extLst>
              <a:ext uri="{FF2B5EF4-FFF2-40B4-BE49-F238E27FC236}">
                <a16:creationId xmlns:a16="http://schemas.microsoft.com/office/drawing/2014/main" id="{5EDA00B1-1695-9270-4672-734C8927F1DD}"/>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F2187CE5-06CC-F232-AE11-8E11F0337DD9}"/>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4"/>
                <a:stretch>
                  <a:fillRect r="-2134" b="-12500"/>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ADB50F1F-72B5-4E63-E989-4EBAF48CAA17}"/>
              </a:ext>
            </a:extLst>
          </p:cNvPr>
          <p:cNvSpPr/>
          <p:nvPr/>
        </p:nvSpPr>
        <p:spPr>
          <a:xfrm>
            <a:off x="2751667" y="2999948"/>
            <a:ext cx="284480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FB177E38-07B1-D8BD-763A-57EE8BE7ADC5}"/>
                  </a:ext>
                </a:extLst>
              </p:cNvPr>
              <p:cNvSpPr txBox="1"/>
              <p:nvPr/>
            </p:nvSpPr>
            <p:spPr>
              <a:xfrm>
                <a:off x="2890316" y="3041556"/>
                <a:ext cx="2542940"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00B0F0"/>
                              </a:solidFill>
                              <a:latin typeface="Cambria Math" panose="02040503050406030204" pitchFamily="18" charset="0"/>
                            </a:rPr>
                            <m:t>𝑭𝑷</m:t>
                          </m:r>
                        </m:num>
                        <m:den>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den>
                      </m:f>
                    </m:oMath>
                  </m:oMathPara>
                </a14:m>
                <a:endParaRPr kumimoji="1" lang="ja-JP" altLang="en-US" sz="2400" b="1"/>
              </a:p>
            </p:txBody>
          </p:sp>
        </mc:Choice>
        <mc:Fallback xmlns="">
          <p:sp>
            <p:nvSpPr>
              <p:cNvPr id="18" name="テキスト ボックス 17">
                <a:extLst>
                  <a:ext uri="{FF2B5EF4-FFF2-40B4-BE49-F238E27FC236}">
                    <a16:creationId xmlns:a16="http://schemas.microsoft.com/office/drawing/2014/main" id="{D145946B-BDB4-A8F6-73F4-3D5A5E9DDD48}"/>
                  </a:ext>
                </a:extLst>
              </p:cNvPr>
              <p:cNvSpPr txBox="1">
                <a:spLocks noRot="1" noChangeAspect="1" noMove="1" noResize="1" noEditPoints="1" noAdjustHandles="1" noChangeArrowheads="1" noChangeShapeType="1" noTextEdit="1"/>
              </p:cNvSpPr>
              <p:nvPr/>
            </p:nvSpPr>
            <p:spPr>
              <a:xfrm>
                <a:off x="2890316" y="3041556"/>
                <a:ext cx="2542940" cy="697627"/>
              </a:xfrm>
              <a:prstGeom prst="rect">
                <a:avLst/>
              </a:prstGeom>
              <a:blipFill>
                <a:blip r:embed="rId5"/>
                <a:stretch>
                  <a:fillRect r="-2488" b="-14286"/>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511C6A54-C106-A3A9-85A9-B2A6482A3C6E}"/>
              </a:ext>
            </a:extLst>
          </p:cNvPr>
          <p:cNvSpPr txBox="1"/>
          <p:nvPr/>
        </p:nvSpPr>
        <p:spPr>
          <a:xfrm>
            <a:off x="648093" y="4019132"/>
            <a:ext cx="5052036" cy="3508653"/>
          </a:xfrm>
          <a:prstGeom prst="rect">
            <a:avLst/>
          </a:prstGeom>
          <a:noFill/>
        </p:spPr>
        <p:txBody>
          <a:bodyPr wrap="square" rtlCol="0">
            <a:spAutoFit/>
          </a:bodyPr>
          <a:lstStyle/>
          <a:p>
            <a:pPr marL="457200" indent="-457200">
              <a:buFont typeface="Wingdings" pitchFamily="2" charset="2"/>
              <a:buChar char="ü"/>
            </a:pPr>
            <a:r>
              <a:rPr kumimoji="1" lang="ja-JP" altLang="en-US" sz="2000" b="1">
                <a:latin typeface="Helvetica" pitchFamily="2" charset="0"/>
                <a:ea typeface="Hiragino Sans W6" panose="020B0400000000000000" pitchFamily="34" charset="-128"/>
              </a:rPr>
              <a:t>機械学習の性能が良いほど、プロットされた</a:t>
            </a:r>
            <a:r>
              <a:rPr kumimoji="1" lang="en-US" altLang="ja-JP" sz="2000" b="1" dirty="0">
                <a:latin typeface="Helvetica" pitchFamily="2" charset="0"/>
                <a:ea typeface="Hiragino Sans W6" panose="020B0400000000000000" pitchFamily="34" charset="-128"/>
              </a:rPr>
              <a:t>ROC</a:t>
            </a:r>
            <a:r>
              <a:rPr kumimoji="1" lang="ja-JP" altLang="en-US" sz="2000" b="1">
                <a:latin typeface="Helvetica" pitchFamily="2" charset="0"/>
                <a:ea typeface="Hiragino Sans W6" panose="020B0400000000000000" pitchFamily="34" charset="-128"/>
              </a:rPr>
              <a:t>曲線が左上に近づく</a:t>
            </a:r>
            <a:endParaRPr kumimoji="1" lang="en-US" altLang="ja-JP" sz="2000" b="1" dirty="0">
              <a:latin typeface="Helvetica" pitchFamily="2" charset="0"/>
              <a:ea typeface="Hiragino Sans W6" panose="020B0400000000000000" pitchFamily="34" charset="-128"/>
            </a:endParaRP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6" panose="020B0400000000000000" pitchFamily="34" charset="-128"/>
              </a:rPr>
              <a:t>AUC</a:t>
            </a:r>
            <a:r>
              <a:rPr kumimoji="1" lang="ja-JP" altLang="en-US" sz="2800" b="1">
                <a:highlight>
                  <a:srgbClr val="FFFF00"/>
                </a:highlight>
                <a:latin typeface="Helvetica" pitchFamily="2" charset="0"/>
                <a:ea typeface="Hiragino Sans W6" panose="020B0400000000000000" pitchFamily="34" charset="-128"/>
              </a:rPr>
              <a:t>が大きくなるにつれ、</a:t>
            </a:r>
            <a:br>
              <a:rPr kumimoji="1" lang="en-US" altLang="ja-JP" sz="2800" b="1" dirty="0">
                <a:highlight>
                  <a:srgbClr val="FFFF00"/>
                </a:highlight>
                <a:latin typeface="Helvetica" pitchFamily="2" charset="0"/>
                <a:ea typeface="Hiragino Sans W6" panose="020B0400000000000000" pitchFamily="34" charset="-128"/>
              </a:rPr>
            </a:br>
            <a:r>
              <a:rPr kumimoji="1" lang="ja-JP" altLang="en-US" sz="2800" b="1">
                <a:highlight>
                  <a:srgbClr val="FFFF00"/>
                </a:highlight>
                <a:latin typeface="Helvetica" pitchFamily="2" charset="0"/>
                <a:ea typeface="Hiragino Sans W6" panose="020B0400000000000000" pitchFamily="34" charset="-128"/>
              </a:rPr>
              <a:t>モデルの性能が良くなる</a:t>
            </a:r>
            <a:endParaRPr kumimoji="1" lang="en" altLang="ja-JP" sz="2800" b="1" dirty="0">
              <a:highlight>
                <a:srgbClr val="FFFF00"/>
              </a:highlight>
              <a:latin typeface="Helvetica" pitchFamily="2" charset="0"/>
              <a:ea typeface="Hiragino Sans W6" panose="020B0400000000000000" pitchFamily="34" charset="-128"/>
            </a:endParaRP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6" panose="020B0400000000000000" pitchFamily="34" charset="-128"/>
              </a:rPr>
              <a:t>AUC(Area Under the Curve):</a:t>
            </a:r>
          </a:p>
          <a:p>
            <a:r>
              <a:rPr kumimoji="1" lang="en" altLang="ja-JP" sz="2000" b="1" dirty="0">
                <a:latin typeface="Helvetica" pitchFamily="2" charset="0"/>
                <a:ea typeface="Hiragino Sans W6" panose="020B0400000000000000" pitchFamily="34" charset="-128"/>
              </a:rPr>
              <a:t>ROC</a:t>
            </a:r>
            <a:r>
              <a:rPr kumimoji="1" lang="ja-JP" altLang="en-US" sz="2000" b="1">
                <a:latin typeface="Helvetica" pitchFamily="2" charset="0"/>
                <a:ea typeface="Hiragino Sans W6" panose="020B0400000000000000" pitchFamily="34" charset="-128"/>
              </a:rPr>
              <a:t>曲線の下の面積</a:t>
            </a:r>
            <a:endParaRPr kumimoji="1" lang="en" altLang="ja-JP" sz="2000" b="1" dirty="0">
              <a:latin typeface="Helvetica" pitchFamily="2" charset="0"/>
              <a:ea typeface="Hiragino Sans W6" panose="020B0400000000000000" pitchFamily="34" charset="-128"/>
            </a:endParaRP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Tree>
    <p:extLst>
      <p:ext uri="{BB962C8B-B14F-4D97-AF65-F5344CB8AC3E}">
        <p14:creationId xmlns:p14="http://schemas.microsoft.com/office/powerpoint/2010/main" val="4280388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3D159-0FAA-4016-6833-EE50F41A487B}"/>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1F424DD3-B47F-2713-8836-6438D297DF03}"/>
              </a:ext>
            </a:extLst>
          </p:cNvPr>
          <p:cNvSpPr>
            <a:spLocks noGrp="1"/>
          </p:cNvSpPr>
          <p:nvPr>
            <p:ph type="title"/>
          </p:nvPr>
        </p:nvSpPr>
        <p:spPr/>
        <p:txBody>
          <a:bodyPr>
            <a:normAutofit/>
          </a:bodyPr>
          <a:lstStyle/>
          <a:p>
            <a:r>
              <a:rPr lang="en-US" altLang="ja-JP" dirty="0">
                <a:latin typeface="Helvetica" pitchFamily="2" charset="0"/>
              </a:rPr>
              <a:t>PR Curve</a:t>
            </a:r>
            <a:r>
              <a:rPr kumimoji="1" lang="en-US" altLang="ja-JP" dirty="0">
                <a:latin typeface="Helvetica" pitchFamily="2" charset="0"/>
              </a:rPr>
              <a:t> </a:t>
            </a:r>
            <a:r>
              <a:rPr lang="en-US" altLang="ja-JP" sz="2700" dirty="0">
                <a:latin typeface="Helvetica" pitchFamily="2" charset="0"/>
              </a:rPr>
              <a:t>Evaluation Metrics</a:t>
            </a:r>
            <a:endParaRPr kumimoji="1" lang="ja-JP" altLang="en-US" sz="2700">
              <a:latin typeface="Helvetica" pitchFamily="2" charset="0"/>
            </a:endParaRPr>
          </a:p>
        </p:txBody>
      </p:sp>
      <p:sp>
        <p:nvSpPr>
          <p:cNvPr id="8" name="正方形/長方形 7">
            <a:extLst>
              <a:ext uri="{FF2B5EF4-FFF2-40B4-BE49-F238E27FC236}">
                <a16:creationId xmlns:a16="http://schemas.microsoft.com/office/drawing/2014/main" id="{5B93B56D-C2B0-F62E-7D76-9430B5883E69}"/>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7AE0A762-F911-EAAA-66B1-AD4317A2F559}"/>
              </a:ext>
            </a:extLst>
          </p:cNvPr>
          <p:cNvSpPr txBox="1"/>
          <p:nvPr/>
        </p:nvSpPr>
        <p:spPr>
          <a:xfrm>
            <a:off x="310896" y="1207008"/>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Vertical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True Positive Rate (TPR)</a:t>
            </a:r>
          </a:p>
        </p:txBody>
      </p:sp>
      <p:sp>
        <p:nvSpPr>
          <p:cNvPr id="14" name="テキスト ボックス 13">
            <a:extLst>
              <a:ext uri="{FF2B5EF4-FFF2-40B4-BE49-F238E27FC236}">
                <a16:creationId xmlns:a16="http://schemas.microsoft.com/office/drawing/2014/main" id="{05E60381-5F91-A34C-581D-82020AA63EFF}"/>
              </a:ext>
            </a:extLst>
          </p:cNvPr>
          <p:cNvSpPr txBox="1"/>
          <p:nvPr/>
        </p:nvSpPr>
        <p:spPr>
          <a:xfrm>
            <a:off x="310896" y="2435120"/>
            <a:ext cx="7902738" cy="523220"/>
          </a:xfrm>
          <a:prstGeom prst="rect">
            <a:avLst/>
          </a:prstGeom>
          <a:noFill/>
        </p:spPr>
        <p:txBody>
          <a:bodyPr wrap="square" rtlCol="0">
            <a:spAutoFit/>
          </a:bodyPr>
          <a:lstStyle/>
          <a:p>
            <a:r>
              <a:rPr kumimoji="1" lang="en-US" altLang="ja-JP" sz="2800" b="1" dirty="0">
                <a:latin typeface="Helvetica" pitchFamily="2" charset="0"/>
                <a:ea typeface="Hiragino Sans W4" panose="020B0400000000000000" pitchFamily="34" charset="-128"/>
              </a:rPr>
              <a:t>Horizonal</a:t>
            </a:r>
            <a:r>
              <a:rPr kumimoji="1" lang="ja-JP" altLang="en-US" sz="2800" b="1">
                <a:latin typeface="Helvetica" pitchFamily="2" charset="0"/>
                <a:ea typeface="Hiragino Sans W4" panose="020B0400000000000000" pitchFamily="34" charset="-128"/>
              </a:rPr>
              <a:t> </a:t>
            </a:r>
            <a:r>
              <a:rPr kumimoji="1" lang="en-US" altLang="ja-JP" sz="2800" b="1" dirty="0">
                <a:latin typeface="Helvetica" pitchFamily="2" charset="0"/>
                <a:ea typeface="Hiragino Sans W4" panose="020B0400000000000000" pitchFamily="34" charset="-128"/>
              </a:rPr>
              <a:t>axis : Precision </a:t>
            </a:r>
          </a:p>
        </p:txBody>
      </p:sp>
      <p:sp>
        <p:nvSpPr>
          <p:cNvPr id="15" name="正方形/長方形 14">
            <a:extLst>
              <a:ext uri="{FF2B5EF4-FFF2-40B4-BE49-F238E27FC236}">
                <a16:creationId xmlns:a16="http://schemas.microsoft.com/office/drawing/2014/main" id="{F6DCBF12-E02B-BD3C-BE15-5684CE20D83C}"/>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4C7F3941-8840-DD91-F850-30C46A82D158}"/>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3"/>
                <a:stretch>
                  <a:fillRect r="-2134" b="-12500"/>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887225C1-9F83-1E9E-605E-72A8E6CCAA37}"/>
              </a:ext>
            </a:extLst>
          </p:cNvPr>
          <p:cNvSpPr txBox="1"/>
          <p:nvPr/>
        </p:nvSpPr>
        <p:spPr>
          <a:xfrm>
            <a:off x="648093" y="4019132"/>
            <a:ext cx="5052036" cy="3816429"/>
          </a:xfrm>
          <a:prstGeom prst="rect">
            <a:avLst/>
          </a:prstGeom>
          <a:noFill/>
        </p:spPr>
        <p:txBody>
          <a:bodyPr wrap="square" rtlCol="0">
            <a:spAutoFit/>
          </a:bodyPr>
          <a:lstStyle/>
          <a:p>
            <a:pPr marL="457200" indent="-457200">
              <a:buFont typeface="Wingdings" pitchFamily="2" charset="2"/>
              <a:buChar char="ü"/>
            </a:pPr>
            <a:r>
              <a:rPr kumimoji="1" lang="en-US" altLang="ja-JP" sz="2000" b="1" dirty="0">
                <a:latin typeface="Helvetica" pitchFamily="2" charset="0"/>
                <a:ea typeface="Hiragino Sans W4" panose="020B0400000000000000" pitchFamily="34" charset="-128"/>
              </a:rPr>
              <a:t>The better the machine learning model performs, the closer the PR curve gets to the upper-right corner</a:t>
            </a: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4" panose="020B0400000000000000" pitchFamily="34" charset="-128"/>
              </a:rPr>
              <a:t>A larger AUC indicates better model performance.</a:t>
            </a: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4" panose="020B0400000000000000" pitchFamily="34" charset="-128"/>
              </a:rPr>
              <a:t>AUC(Area Under the Curve):</a:t>
            </a:r>
          </a:p>
          <a:p>
            <a:r>
              <a:rPr kumimoji="1" lang="en" altLang="ja-JP" sz="2000" b="1" dirty="0">
                <a:latin typeface="Helvetica" pitchFamily="2" charset="0"/>
                <a:ea typeface="Hiragino Sans W4" panose="020B0400000000000000" pitchFamily="34" charset="-128"/>
              </a:rPr>
              <a:t>Area under the PR curve</a:t>
            </a: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sp>
        <p:nvSpPr>
          <p:cNvPr id="2" name="正方形/長方形 1">
            <a:extLst>
              <a:ext uri="{FF2B5EF4-FFF2-40B4-BE49-F238E27FC236}">
                <a16:creationId xmlns:a16="http://schemas.microsoft.com/office/drawing/2014/main" id="{58A9A036-2B7D-6500-03BB-5BD30BFFCDF3}"/>
              </a:ext>
            </a:extLst>
          </p:cNvPr>
          <p:cNvSpPr/>
          <p:nvPr/>
        </p:nvSpPr>
        <p:spPr>
          <a:xfrm>
            <a:off x="2228408" y="2956401"/>
            <a:ext cx="396849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3" name="テキスト ボックス 2">
                <a:extLst>
                  <a:ext uri="{FF2B5EF4-FFF2-40B4-BE49-F238E27FC236}">
                    <a16:creationId xmlns:a16="http://schemas.microsoft.com/office/drawing/2014/main" id="{2973E9D8-5954-A80E-B3C2-949163A90702}"/>
                  </a:ext>
                </a:extLst>
              </p:cNvPr>
              <p:cNvSpPr txBox="1"/>
              <p:nvPr/>
            </p:nvSpPr>
            <p:spPr>
              <a:xfrm>
                <a:off x="2463302" y="2990846"/>
                <a:ext cx="3355662"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𝑷𝒓𝒆𝒄𝒊𝒔𝒊𝒐𝒏</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𝑭𝑷</m:t>
                          </m:r>
                        </m:den>
                      </m:f>
                    </m:oMath>
                  </m:oMathPara>
                </a14:m>
                <a:endParaRPr kumimoji="1" lang="ja-JP" altLang="en-US" sz="2400" b="1"/>
              </a:p>
            </p:txBody>
          </p:sp>
        </mc:Choice>
        <mc:Fallback xmlns="">
          <p:sp>
            <p:nvSpPr>
              <p:cNvPr id="3" name="テキスト ボックス 2">
                <a:extLst>
                  <a:ext uri="{FF2B5EF4-FFF2-40B4-BE49-F238E27FC236}">
                    <a16:creationId xmlns:a16="http://schemas.microsoft.com/office/drawing/2014/main" id="{2973E9D8-5954-A80E-B3C2-949163A90702}"/>
                  </a:ext>
                </a:extLst>
              </p:cNvPr>
              <p:cNvSpPr txBox="1">
                <a:spLocks noRot="1" noChangeAspect="1" noMove="1" noResize="1" noEditPoints="1" noAdjustHandles="1" noChangeArrowheads="1" noChangeShapeType="1" noTextEdit="1"/>
              </p:cNvSpPr>
              <p:nvPr/>
            </p:nvSpPr>
            <p:spPr>
              <a:xfrm>
                <a:off x="2463302" y="2990846"/>
                <a:ext cx="3355662" cy="697627"/>
              </a:xfrm>
              <a:prstGeom prst="rect">
                <a:avLst/>
              </a:prstGeom>
              <a:blipFill>
                <a:blip r:embed="rId4"/>
                <a:stretch>
                  <a:fillRect r="-1504" b="-14286"/>
                </a:stretch>
              </a:blipFill>
            </p:spPr>
            <p:txBody>
              <a:bodyPr/>
              <a:lstStyle/>
              <a:p>
                <a:r>
                  <a:rPr lang="ja-JP" altLang="en-US">
                    <a:noFill/>
                  </a:rPr>
                  <a:t> </a:t>
                </a:r>
              </a:p>
            </p:txBody>
          </p:sp>
        </mc:Fallback>
      </mc:AlternateContent>
      <p:pic>
        <p:nvPicPr>
          <p:cNvPr id="5" name="図 4">
            <a:extLst>
              <a:ext uri="{FF2B5EF4-FFF2-40B4-BE49-F238E27FC236}">
                <a16:creationId xmlns:a16="http://schemas.microsoft.com/office/drawing/2014/main" id="{4E4D3DB6-E7EA-65E4-7CA9-9B3343AC09D0}"/>
              </a:ext>
            </a:extLst>
          </p:cNvPr>
          <p:cNvPicPr>
            <a:picLocks noChangeAspect="1"/>
          </p:cNvPicPr>
          <p:nvPr/>
        </p:nvPicPr>
        <p:blipFill>
          <a:blip r:embed="rId5"/>
          <a:stretch>
            <a:fillRect/>
          </a:stretch>
        </p:blipFill>
        <p:spPr>
          <a:xfrm>
            <a:off x="5981874" y="4098799"/>
            <a:ext cx="2471223" cy="2484000"/>
          </a:xfrm>
          <a:prstGeom prst="rect">
            <a:avLst/>
          </a:prstGeom>
          <a:solidFill>
            <a:schemeClr val="bg1"/>
          </a:solidFill>
        </p:spPr>
      </p:pic>
    </p:spTree>
    <p:extLst>
      <p:ext uri="{BB962C8B-B14F-4D97-AF65-F5344CB8AC3E}">
        <p14:creationId xmlns:p14="http://schemas.microsoft.com/office/powerpoint/2010/main" val="252375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0D93F-8A9E-258F-3187-BE9F4E39D783}"/>
            </a:ext>
          </a:extLst>
        </p:cNvPr>
        <p:cNvGrpSpPr/>
        <p:nvPr/>
      </p:nvGrpSpPr>
      <p:grpSpPr>
        <a:xfrm>
          <a:off x="0" y="0"/>
          <a:ext cx="0" cy="0"/>
          <a:chOff x="0" y="0"/>
          <a:chExt cx="0" cy="0"/>
        </a:xfrm>
      </p:grpSpPr>
      <p:sp>
        <p:nvSpPr>
          <p:cNvPr id="7" name="タイトル 1">
            <a:extLst>
              <a:ext uri="{FF2B5EF4-FFF2-40B4-BE49-F238E27FC236}">
                <a16:creationId xmlns:a16="http://schemas.microsoft.com/office/drawing/2014/main" id="{8904E9CD-6457-AEF2-A850-B07C298A9AFF}"/>
              </a:ext>
            </a:extLst>
          </p:cNvPr>
          <p:cNvSpPr>
            <a:spLocks noGrp="1"/>
          </p:cNvSpPr>
          <p:nvPr>
            <p:ph type="title"/>
          </p:nvPr>
        </p:nvSpPr>
        <p:spPr/>
        <p:txBody>
          <a:bodyPr>
            <a:normAutofit/>
          </a:bodyPr>
          <a:lstStyle/>
          <a:p>
            <a:r>
              <a:rPr lang="en-US" altLang="ja-JP" dirty="0">
                <a:latin typeface="Helvetica" pitchFamily="2" charset="0"/>
              </a:rPr>
              <a:t>PR</a:t>
            </a:r>
            <a:r>
              <a:rPr lang="ja-JP" altLang="en-US">
                <a:latin typeface="Helvetica" pitchFamily="2" charset="0"/>
              </a:rPr>
              <a:t>曲線</a:t>
            </a:r>
            <a:r>
              <a:rPr kumimoji="1" lang="en-US" altLang="ja-JP" dirty="0">
                <a:latin typeface="Helvetica" pitchFamily="2" charset="0"/>
              </a:rPr>
              <a:t> </a:t>
            </a:r>
            <a:r>
              <a:rPr kumimoji="1" lang="ja-JP" altLang="en-US" sz="2700">
                <a:latin typeface="Helvetica" pitchFamily="2" charset="0"/>
              </a:rPr>
              <a:t>評価指標</a:t>
            </a:r>
          </a:p>
        </p:txBody>
      </p:sp>
      <p:sp>
        <p:nvSpPr>
          <p:cNvPr id="8" name="正方形/長方形 7">
            <a:extLst>
              <a:ext uri="{FF2B5EF4-FFF2-40B4-BE49-F238E27FC236}">
                <a16:creationId xmlns:a16="http://schemas.microsoft.com/office/drawing/2014/main" id="{B4582D60-F23F-3DDD-CB27-EB458E3468EC}"/>
              </a:ext>
            </a:extLst>
          </p:cNvPr>
          <p:cNvSpPr/>
          <p:nvPr/>
        </p:nvSpPr>
        <p:spPr>
          <a:xfrm>
            <a:off x="529258" y="3904488"/>
            <a:ext cx="8205584" cy="2854121"/>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ACFBE2C7-E82F-5F2E-6781-BCBC30837B53}"/>
              </a:ext>
            </a:extLst>
          </p:cNvPr>
          <p:cNvSpPr txBox="1"/>
          <p:nvPr/>
        </p:nvSpPr>
        <p:spPr>
          <a:xfrm>
            <a:off x="310896" y="1207008"/>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縦軸</a:t>
            </a:r>
            <a:r>
              <a:rPr kumimoji="1" lang="en-US" altLang="ja-JP" sz="2800" b="1" dirty="0">
                <a:latin typeface="Helvetica" pitchFamily="2" charset="0"/>
                <a:ea typeface="Hiragino Sans W4" panose="020B0400000000000000" pitchFamily="34" charset="-128"/>
              </a:rPr>
              <a:t> : True Positive Rate (TPR)</a:t>
            </a:r>
          </a:p>
        </p:txBody>
      </p:sp>
      <p:sp>
        <p:nvSpPr>
          <p:cNvPr id="14" name="テキスト ボックス 13">
            <a:extLst>
              <a:ext uri="{FF2B5EF4-FFF2-40B4-BE49-F238E27FC236}">
                <a16:creationId xmlns:a16="http://schemas.microsoft.com/office/drawing/2014/main" id="{4105CDC0-E2FF-1849-6C8D-E6C54BC8C805}"/>
              </a:ext>
            </a:extLst>
          </p:cNvPr>
          <p:cNvSpPr txBox="1"/>
          <p:nvPr/>
        </p:nvSpPr>
        <p:spPr>
          <a:xfrm>
            <a:off x="310896" y="2435120"/>
            <a:ext cx="7902738" cy="523220"/>
          </a:xfrm>
          <a:prstGeom prst="rect">
            <a:avLst/>
          </a:prstGeom>
          <a:noFill/>
        </p:spPr>
        <p:txBody>
          <a:bodyPr wrap="square" rtlCol="0">
            <a:spAutoFit/>
          </a:bodyPr>
          <a:lstStyle/>
          <a:p>
            <a:r>
              <a:rPr kumimoji="1" lang="ja-JP" altLang="en-US" sz="2800" b="1">
                <a:latin typeface="Hiragino Sans W6" panose="020B0400000000000000" pitchFamily="34" charset="-128"/>
                <a:ea typeface="Hiragino Sans W6" panose="020B0400000000000000" pitchFamily="34" charset="-128"/>
              </a:rPr>
              <a:t>横軸</a:t>
            </a:r>
            <a:r>
              <a:rPr kumimoji="1" lang="en-US" altLang="ja-JP" sz="2800" b="1" dirty="0">
                <a:latin typeface="Helvetica" pitchFamily="2" charset="0"/>
                <a:ea typeface="Hiragino Sans W4" panose="020B0400000000000000" pitchFamily="34" charset="-128"/>
              </a:rPr>
              <a:t> : Precision</a:t>
            </a:r>
          </a:p>
        </p:txBody>
      </p:sp>
      <p:sp>
        <p:nvSpPr>
          <p:cNvPr id="15" name="正方形/長方形 14">
            <a:extLst>
              <a:ext uri="{FF2B5EF4-FFF2-40B4-BE49-F238E27FC236}">
                <a16:creationId xmlns:a16="http://schemas.microsoft.com/office/drawing/2014/main" id="{2AF05A71-7AD4-02C6-1809-1667CFE43EF7}"/>
              </a:ext>
            </a:extLst>
          </p:cNvPr>
          <p:cNvSpPr/>
          <p:nvPr/>
        </p:nvSpPr>
        <p:spPr>
          <a:xfrm>
            <a:off x="2057400" y="1612667"/>
            <a:ext cx="4379976"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CBF4C1DC-43DE-235E-420A-290CCE3D1F39}"/>
                  </a:ext>
                </a:extLst>
              </p:cNvPr>
              <p:cNvSpPr txBox="1"/>
              <p:nvPr/>
            </p:nvSpPr>
            <p:spPr>
              <a:xfrm>
                <a:off x="2186376" y="1654277"/>
                <a:ext cx="4151778"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𝑻𝑷𝑹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FF0000"/>
                              </a:solidFill>
                              <a:latin typeface="Cambria Math" panose="02040503050406030204" pitchFamily="18" charset="0"/>
                            </a:rPr>
                            <m:t>𝑻𝑷</m:t>
                          </m:r>
                        </m:num>
                        <m:den>
                          <m:r>
                            <a:rPr kumimoji="1" lang="en-US" altLang="ja-JP" sz="2400" b="1" i="1" smtClean="0">
                              <a:solidFill>
                                <a:srgbClr val="FF0000"/>
                              </a:solidFill>
                              <a:latin typeface="Cambria Math" panose="02040503050406030204" pitchFamily="18" charset="0"/>
                            </a:rPr>
                            <m:t>𝑻𝑷</m:t>
                          </m:r>
                          <m:r>
                            <a:rPr kumimoji="1" lang="en-US" altLang="ja-JP" sz="2400" b="1" i="1">
                              <a:latin typeface="Cambria Math" panose="02040503050406030204" pitchFamily="18" charset="0"/>
                            </a:rPr>
                            <m:t>+</m:t>
                          </m:r>
                          <m:r>
                            <a:rPr kumimoji="1" lang="en-US" altLang="ja-JP" sz="2400" b="1" i="1" smtClean="0">
                              <a:solidFill>
                                <a:srgbClr val="00B0F0"/>
                              </a:solidFill>
                              <a:latin typeface="Cambria Math" panose="02040503050406030204" pitchFamily="18" charset="0"/>
                            </a:rPr>
                            <m:t>𝑭𝑵</m:t>
                          </m:r>
                        </m:den>
                      </m:f>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𝑹𝒆𝒄𝒂𝒍𝒍</m:t>
                      </m:r>
                      <m:r>
                        <a:rPr kumimoji="1" lang="en-US" altLang="ja-JP" sz="2400" b="1" i="1" smtClean="0">
                          <a:latin typeface="Cambria Math" panose="02040503050406030204" pitchFamily="18" charset="0"/>
                        </a:rPr>
                        <m:t>)</m:t>
                      </m:r>
                    </m:oMath>
                  </m:oMathPara>
                </a14:m>
                <a:endParaRPr kumimoji="1" lang="ja-JP" altLang="en-US" sz="2400" b="1"/>
              </a:p>
            </p:txBody>
          </p:sp>
        </mc:Choice>
        <mc:Fallback xmlns="">
          <p:sp>
            <p:nvSpPr>
              <p:cNvPr id="16" name="テキスト ボックス 15">
                <a:extLst>
                  <a:ext uri="{FF2B5EF4-FFF2-40B4-BE49-F238E27FC236}">
                    <a16:creationId xmlns:a16="http://schemas.microsoft.com/office/drawing/2014/main" id="{ABDAAEC3-C3AA-8AD9-374F-8C5FCBBD57CB}"/>
                  </a:ext>
                </a:extLst>
              </p:cNvPr>
              <p:cNvSpPr txBox="1">
                <a:spLocks noRot="1" noChangeAspect="1" noMove="1" noResize="1" noEditPoints="1" noAdjustHandles="1" noChangeArrowheads="1" noChangeShapeType="1" noTextEdit="1"/>
              </p:cNvSpPr>
              <p:nvPr/>
            </p:nvSpPr>
            <p:spPr>
              <a:xfrm>
                <a:off x="2186376" y="1654277"/>
                <a:ext cx="4151778" cy="697627"/>
              </a:xfrm>
              <a:prstGeom prst="rect">
                <a:avLst/>
              </a:prstGeom>
              <a:blipFill>
                <a:blip r:embed="rId4"/>
                <a:stretch>
                  <a:fillRect r="-2134" b="-12500"/>
                </a:stretch>
              </a:blipFill>
            </p:spPr>
            <p:txBody>
              <a:bodyPr/>
              <a:lstStyle/>
              <a:p>
                <a:r>
                  <a:rPr lang="ja-JP" altLang="en-US">
                    <a:noFill/>
                  </a:rPr>
                  <a:t> </a:t>
                </a:r>
              </a:p>
            </p:txBody>
          </p:sp>
        </mc:Fallback>
      </mc:AlternateContent>
      <p:sp>
        <p:nvSpPr>
          <p:cNvPr id="17" name="正方形/長方形 16">
            <a:extLst>
              <a:ext uri="{FF2B5EF4-FFF2-40B4-BE49-F238E27FC236}">
                <a16:creationId xmlns:a16="http://schemas.microsoft.com/office/drawing/2014/main" id="{5D07FB1A-52BF-7423-2044-39D2D0714AD0}"/>
              </a:ext>
            </a:extLst>
          </p:cNvPr>
          <p:cNvSpPr/>
          <p:nvPr/>
        </p:nvSpPr>
        <p:spPr>
          <a:xfrm>
            <a:off x="2751667" y="2999948"/>
            <a:ext cx="2844800" cy="780845"/>
          </a:xfrm>
          <a:prstGeom prst="rect">
            <a:avLst/>
          </a:prstGeom>
          <a:solidFill>
            <a:schemeClr val="accent1">
              <a:lumMod val="20000"/>
              <a:lumOff val="80000"/>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C6AC3088-1D8D-95E6-D674-C632E1998A3B}"/>
                  </a:ext>
                </a:extLst>
              </p:cNvPr>
              <p:cNvSpPr txBox="1"/>
              <p:nvPr/>
            </p:nvSpPr>
            <p:spPr>
              <a:xfrm>
                <a:off x="2890316" y="3041556"/>
                <a:ext cx="2542940" cy="697627"/>
              </a:xfrm>
              <a:prstGeom prst="rect">
                <a:avLst/>
              </a:prstGeom>
              <a:solidFill>
                <a:schemeClr val="bg1"/>
              </a:solid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kumimoji="1" lang="en-US" altLang="ja-JP" sz="2400" b="1" i="1" smtClean="0">
                              <a:latin typeface="Cambria Math" panose="02040503050406030204" pitchFamily="18" charset="0"/>
                            </a:rPr>
                          </m:ctrlPr>
                        </m:dPr>
                        <m:e>
                          <m:r>
                            <a:rPr kumimoji="1" lang="en-US" altLang="ja-JP" sz="2400" b="1" i="1" smtClean="0">
                              <a:latin typeface="Cambria Math" panose="02040503050406030204" pitchFamily="18" charset="0"/>
                            </a:rPr>
                            <m:t>𝑭𝑷𝑹</m:t>
                          </m:r>
                        </m:e>
                      </m:d>
                      <m:r>
                        <a:rPr kumimoji="1" lang="en-US" altLang="ja-JP" sz="2400" b="1" i="1" smtClean="0">
                          <a:latin typeface="Cambria Math" panose="02040503050406030204" pitchFamily="18" charset="0"/>
                        </a:rPr>
                        <m:t>=</m:t>
                      </m:r>
                      <m:f>
                        <m:fPr>
                          <m:ctrlPr>
                            <a:rPr kumimoji="1" lang="ja-JP" altLang="en-US" sz="2400" b="1" i="1" smtClean="0">
                              <a:latin typeface="Cambria Math" panose="02040503050406030204" pitchFamily="18" charset="0"/>
                            </a:rPr>
                          </m:ctrlPr>
                        </m:fPr>
                        <m:num>
                          <m:r>
                            <a:rPr kumimoji="1" lang="en-US" altLang="ja-JP" sz="2400" b="1" i="1" smtClean="0">
                              <a:solidFill>
                                <a:srgbClr val="00B0F0"/>
                              </a:solidFill>
                              <a:latin typeface="Cambria Math" panose="02040503050406030204" pitchFamily="18" charset="0"/>
                            </a:rPr>
                            <m:t>𝑭𝑷</m:t>
                          </m:r>
                        </m:num>
                        <m:den>
                          <m:r>
                            <a:rPr kumimoji="1" lang="en-US" altLang="ja-JP" sz="2400" b="1" i="1" smtClean="0">
                              <a:solidFill>
                                <a:srgbClr val="00B0F0"/>
                              </a:solidFill>
                              <a:latin typeface="Cambria Math" panose="02040503050406030204" pitchFamily="18" charset="0"/>
                            </a:rPr>
                            <m:t>𝑭𝑷</m:t>
                          </m:r>
                          <m:r>
                            <a:rPr kumimoji="1" lang="en-US" altLang="ja-JP" sz="2400" b="1" i="1">
                              <a:latin typeface="Cambria Math" panose="02040503050406030204" pitchFamily="18" charset="0"/>
                            </a:rPr>
                            <m:t>+</m:t>
                          </m:r>
                          <m:r>
                            <a:rPr kumimoji="1" lang="en-US" altLang="ja-JP" sz="2400" b="1" i="1" smtClean="0">
                              <a:solidFill>
                                <a:srgbClr val="FF0000"/>
                              </a:solidFill>
                              <a:latin typeface="Cambria Math" panose="02040503050406030204" pitchFamily="18" charset="0"/>
                            </a:rPr>
                            <m:t>𝑻𝑵</m:t>
                          </m:r>
                        </m:den>
                      </m:f>
                    </m:oMath>
                  </m:oMathPara>
                </a14:m>
                <a:endParaRPr kumimoji="1" lang="ja-JP" altLang="en-US" sz="2400" b="1"/>
              </a:p>
            </p:txBody>
          </p:sp>
        </mc:Choice>
        <mc:Fallback xmlns="">
          <p:sp>
            <p:nvSpPr>
              <p:cNvPr id="18" name="テキスト ボックス 17">
                <a:extLst>
                  <a:ext uri="{FF2B5EF4-FFF2-40B4-BE49-F238E27FC236}">
                    <a16:creationId xmlns:a16="http://schemas.microsoft.com/office/drawing/2014/main" id="{D145946B-BDB4-A8F6-73F4-3D5A5E9DDD48}"/>
                  </a:ext>
                </a:extLst>
              </p:cNvPr>
              <p:cNvSpPr txBox="1">
                <a:spLocks noRot="1" noChangeAspect="1" noMove="1" noResize="1" noEditPoints="1" noAdjustHandles="1" noChangeArrowheads="1" noChangeShapeType="1" noTextEdit="1"/>
              </p:cNvSpPr>
              <p:nvPr/>
            </p:nvSpPr>
            <p:spPr>
              <a:xfrm>
                <a:off x="2890316" y="3041556"/>
                <a:ext cx="2542940" cy="697627"/>
              </a:xfrm>
              <a:prstGeom prst="rect">
                <a:avLst/>
              </a:prstGeom>
              <a:blipFill>
                <a:blip r:embed="rId5"/>
                <a:stretch>
                  <a:fillRect r="-2488" b="-14286"/>
                </a:stretch>
              </a:blipFill>
            </p:spPr>
            <p:txBody>
              <a:bodyPr/>
              <a:lstStyle/>
              <a:p>
                <a:r>
                  <a:rPr lang="ja-JP" altLang="en-US">
                    <a:noFill/>
                  </a:rPr>
                  <a:t> </a:t>
                </a:r>
              </a:p>
            </p:txBody>
          </p:sp>
        </mc:Fallback>
      </mc:AlternateContent>
      <p:sp>
        <p:nvSpPr>
          <p:cNvPr id="19" name="テキスト ボックス 18">
            <a:extLst>
              <a:ext uri="{FF2B5EF4-FFF2-40B4-BE49-F238E27FC236}">
                <a16:creationId xmlns:a16="http://schemas.microsoft.com/office/drawing/2014/main" id="{F06A211D-E938-1DE1-80FD-A657FBB8F037}"/>
              </a:ext>
            </a:extLst>
          </p:cNvPr>
          <p:cNvSpPr txBox="1"/>
          <p:nvPr/>
        </p:nvSpPr>
        <p:spPr>
          <a:xfrm>
            <a:off x="648093" y="4019132"/>
            <a:ext cx="5052036" cy="3508653"/>
          </a:xfrm>
          <a:prstGeom prst="rect">
            <a:avLst/>
          </a:prstGeom>
          <a:noFill/>
        </p:spPr>
        <p:txBody>
          <a:bodyPr wrap="square" rtlCol="0">
            <a:spAutoFit/>
          </a:bodyPr>
          <a:lstStyle/>
          <a:p>
            <a:pPr marL="457200" indent="-457200">
              <a:buFont typeface="Wingdings" pitchFamily="2" charset="2"/>
              <a:buChar char="ü"/>
            </a:pPr>
            <a:r>
              <a:rPr kumimoji="1" lang="ja-JP" altLang="en-US" sz="2000" b="1">
                <a:latin typeface="Helvetica" pitchFamily="2" charset="0"/>
                <a:ea typeface="Hiragino Sans W6" panose="020B0400000000000000" pitchFamily="34" charset="-128"/>
              </a:rPr>
              <a:t>機械学習の性能が良いほど、プロットされた</a:t>
            </a:r>
            <a:r>
              <a:rPr kumimoji="1" lang="en-US" altLang="ja-JP" sz="2000" b="1" dirty="0">
                <a:latin typeface="Helvetica" pitchFamily="2" charset="0"/>
                <a:ea typeface="Hiragino Sans W6" panose="020B0400000000000000" pitchFamily="34" charset="-128"/>
              </a:rPr>
              <a:t>PR</a:t>
            </a:r>
            <a:r>
              <a:rPr kumimoji="1" lang="ja-JP" altLang="en-US" sz="2000" b="1">
                <a:latin typeface="Helvetica" pitchFamily="2" charset="0"/>
                <a:ea typeface="Hiragino Sans W6" panose="020B0400000000000000" pitchFamily="34" charset="-128"/>
              </a:rPr>
              <a:t>曲線が右上に近づく</a:t>
            </a:r>
            <a:endParaRPr kumimoji="1" lang="en-US" altLang="ja-JP" sz="2000" b="1" dirty="0">
              <a:latin typeface="Helvetica" pitchFamily="2" charset="0"/>
              <a:ea typeface="Hiragino Sans W6" panose="020B0400000000000000" pitchFamily="34" charset="-128"/>
            </a:endParaRPr>
          </a:p>
          <a:p>
            <a:r>
              <a:rPr kumimoji="1" lang="ja-JP" altLang="en-US" sz="800" b="1">
                <a:solidFill>
                  <a:schemeClr val="accent4">
                    <a:lumMod val="20000"/>
                    <a:lumOff val="80000"/>
                  </a:schemeClr>
                </a:solidFill>
                <a:latin typeface="Helvetica" pitchFamily="2" charset="0"/>
                <a:ea typeface="Hiragino Sans W4" panose="020B0400000000000000" pitchFamily="34" charset="-128"/>
              </a:rPr>
              <a:t>あ</a:t>
            </a:r>
            <a:endParaRPr kumimoji="1" lang="en-US" altLang="ja-JP" sz="800" b="1" dirty="0">
              <a:solidFill>
                <a:schemeClr val="accent4">
                  <a:lumMod val="20000"/>
                  <a:lumOff val="80000"/>
                </a:schemeClr>
              </a:solidFill>
              <a:latin typeface="Helvetica" pitchFamily="2" charset="0"/>
              <a:ea typeface="Hiragino Sans W4" panose="020B0400000000000000" pitchFamily="34" charset="-128"/>
            </a:endParaRPr>
          </a:p>
          <a:p>
            <a:r>
              <a:rPr kumimoji="1" lang="ja-JP" altLang="en-US" sz="2000" b="1">
                <a:latin typeface="Helvetica" pitchFamily="2" charset="0"/>
                <a:ea typeface="Hiragino Sans W4" panose="020B0400000000000000" pitchFamily="34" charset="-128"/>
              </a:rPr>
              <a:t>→</a:t>
            </a:r>
            <a:r>
              <a:rPr kumimoji="1" lang="en" altLang="ja-JP" sz="2800" b="1" dirty="0">
                <a:highlight>
                  <a:srgbClr val="FFFF00"/>
                </a:highlight>
                <a:latin typeface="Helvetica" pitchFamily="2" charset="0"/>
                <a:ea typeface="Hiragino Sans W6" panose="020B0400000000000000" pitchFamily="34" charset="-128"/>
              </a:rPr>
              <a:t>AUC</a:t>
            </a:r>
            <a:r>
              <a:rPr kumimoji="1" lang="ja-JP" altLang="en-US" sz="2800" b="1">
                <a:highlight>
                  <a:srgbClr val="FFFF00"/>
                </a:highlight>
                <a:latin typeface="Helvetica" pitchFamily="2" charset="0"/>
                <a:ea typeface="Hiragino Sans W6" panose="020B0400000000000000" pitchFamily="34" charset="-128"/>
              </a:rPr>
              <a:t>が大きくなるにつれ、</a:t>
            </a:r>
            <a:br>
              <a:rPr kumimoji="1" lang="en-US" altLang="ja-JP" sz="2800" b="1" dirty="0">
                <a:highlight>
                  <a:srgbClr val="FFFF00"/>
                </a:highlight>
                <a:latin typeface="Helvetica" pitchFamily="2" charset="0"/>
                <a:ea typeface="Hiragino Sans W6" panose="020B0400000000000000" pitchFamily="34" charset="-128"/>
              </a:rPr>
            </a:br>
            <a:r>
              <a:rPr kumimoji="1" lang="ja-JP" altLang="en-US" sz="2800" b="1">
                <a:highlight>
                  <a:srgbClr val="FFFF00"/>
                </a:highlight>
                <a:latin typeface="Helvetica" pitchFamily="2" charset="0"/>
                <a:ea typeface="Hiragino Sans W6" panose="020B0400000000000000" pitchFamily="34" charset="-128"/>
              </a:rPr>
              <a:t>モデルの性能が良くなる</a:t>
            </a:r>
            <a:endParaRPr kumimoji="1" lang="en" altLang="ja-JP" sz="2800" b="1" dirty="0">
              <a:highlight>
                <a:srgbClr val="FFFF00"/>
              </a:highlight>
              <a:latin typeface="Helvetica" pitchFamily="2" charset="0"/>
              <a:ea typeface="Hiragino Sans W6" panose="020B0400000000000000" pitchFamily="34" charset="-128"/>
            </a:endParaRPr>
          </a:p>
          <a:p>
            <a:r>
              <a:rPr kumimoji="1" lang="ja-JP" altLang="en" sz="1000" b="1">
                <a:solidFill>
                  <a:schemeClr val="accent4">
                    <a:lumMod val="20000"/>
                    <a:lumOff val="80000"/>
                  </a:schemeClr>
                </a:solidFill>
                <a:latin typeface="Helvetica" pitchFamily="2" charset="0"/>
                <a:ea typeface="Hiragino Sans W4" panose="020B0400000000000000" pitchFamily="34" charset="-128"/>
              </a:rPr>
              <a:t>あ</a:t>
            </a:r>
            <a:endParaRPr kumimoji="1" lang="en" altLang="ja-JP" sz="1000" b="1" dirty="0">
              <a:solidFill>
                <a:schemeClr val="accent4">
                  <a:lumMod val="20000"/>
                  <a:lumOff val="80000"/>
                </a:schemeClr>
              </a:solidFill>
              <a:latin typeface="Helvetica" pitchFamily="2" charset="0"/>
              <a:ea typeface="Hiragino Sans W4" panose="020B0400000000000000" pitchFamily="34" charset="-128"/>
            </a:endParaRPr>
          </a:p>
          <a:p>
            <a:r>
              <a:rPr kumimoji="1" lang="en" altLang="ja-JP" sz="2000" b="1" dirty="0">
                <a:latin typeface="Helvetica" pitchFamily="2" charset="0"/>
                <a:ea typeface="Hiragino Sans W6" panose="020B0400000000000000" pitchFamily="34" charset="-128"/>
              </a:rPr>
              <a:t>AUC(Area Under the Curve):</a:t>
            </a:r>
          </a:p>
          <a:p>
            <a:r>
              <a:rPr kumimoji="1" lang="en" altLang="ja-JP" sz="2000" b="1" dirty="0">
                <a:latin typeface="Helvetica" pitchFamily="2" charset="0"/>
                <a:ea typeface="Hiragino Sans W6" panose="020B0400000000000000" pitchFamily="34" charset="-128"/>
              </a:rPr>
              <a:t>PR</a:t>
            </a:r>
            <a:r>
              <a:rPr kumimoji="1" lang="ja-JP" altLang="en-US" sz="2000" b="1">
                <a:latin typeface="Helvetica" pitchFamily="2" charset="0"/>
                <a:ea typeface="Hiragino Sans W6" panose="020B0400000000000000" pitchFamily="34" charset="-128"/>
              </a:rPr>
              <a:t>曲線の下の面積</a:t>
            </a:r>
            <a:endParaRPr kumimoji="1" lang="en" altLang="ja-JP" sz="2000" b="1" dirty="0">
              <a:latin typeface="Helvetica" pitchFamily="2" charset="0"/>
              <a:ea typeface="Hiragino Sans W6" panose="020B0400000000000000" pitchFamily="34" charset="-128"/>
            </a:endParaRPr>
          </a:p>
          <a:p>
            <a:endParaRPr kumimoji="1" lang="en" altLang="ja-JP" sz="2000" b="1" dirty="0">
              <a:latin typeface="Helvetica" pitchFamily="2" charset="0"/>
              <a:ea typeface="Hiragino Sans W4" panose="020B0400000000000000" pitchFamily="34" charset="-128"/>
            </a:endParaRPr>
          </a:p>
          <a:p>
            <a:endParaRPr kumimoji="1" lang="en-US" altLang="ja-JP" sz="2000" b="1" dirty="0">
              <a:latin typeface="Helvetica" pitchFamily="2" charset="0"/>
              <a:ea typeface="Hiragino Sans W4" panose="020B0400000000000000" pitchFamily="34" charset="-128"/>
            </a:endParaRPr>
          </a:p>
          <a:p>
            <a:pPr marL="457200" indent="-457200">
              <a:buFont typeface="Arial" panose="020B0604020202020204" pitchFamily="34" charset="0"/>
              <a:buChar char="•"/>
            </a:pPr>
            <a:endParaRPr kumimoji="1" lang="en-US" altLang="ja-JP" sz="2800" b="1" dirty="0">
              <a:latin typeface="Helvetica" pitchFamily="2" charset="0"/>
              <a:ea typeface="Hiragino Sans W4" panose="020B0400000000000000" pitchFamily="34" charset="-128"/>
            </a:endParaRPr>
          </a:p>
        </p:txBody>
      </p:sp>
      <p:pic>
        <p:nvPicPr>
          <p:cNvPr id="2" name="図 1">
            <a:extLst>
              <a:ext uri="{FF2B5EF4-FFF2-40B4-BE49-F238E27FC236}">
                <a16:creationId xmlns:a16="http://schemas.microsoft.com/office/drawing/2014/main" id="{490A9D34-572A-B62A-1A9C-6D0F3968F265}"/>
              </a:ext>
            </a:extLst>
          </p:cNvPr>
          <p:cNvPicPr>
            <a:picLocks noChangeAspect="1"/>
          </p:cNvPicPr>
          <p:nvPr/>
        </p:nvPicPr>
        <p:blipFill>
          <a:blip r:embed="rId6"/>
          <a:stretch>
            <a:fillRect/>
          </a:stretch>
        </p:blipFill>
        <p:spPr>
          <a:xfrm>
            <a:off x="5981874" y="4098799"/>
            <a:ext cx="2471223" cy="2484000"/>
          </a:xfrm>
          <a:prstGeom prst="rect">
            <a:avLst/>
          </a:prstGeom>
          <a:solidFill>
            <a:schemeClr val="bg1"/>
          </a:solidFill>
        </p:spPr>
      </p:pic>
    </p:spTree>
    <p:extLst>
      <p:ext uri="{BB962C8B-B14F-4D97-AF65-F5344CB8AC3E}">
        <p14:creationId xmlns:p14="http://schemas.microsoft.com/office/powerpoint/2010/main" val="239064243"/>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テーマ">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4331</TotalTime>
  <Words>1932</Words>
  <Application>Microsoft Macintosh PowerPoint</Application>
  <PresentationFormat>画面に合わせる (4:3)</PresentationFormat>
  <Paragraphs>232</Paragraphs>
  <Slides>22</Slides>
  <Notes>20</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22</vt:i4>
      </vt:variant>
    </vt:vector>
  </HeadingPairs>
  <TitlesOfParts>
    <vt:vector size="30" baseType="lpstr">
      <vt:lpstr>Hiragino Sans W6</vt:lpstr>
      <vt:lpstr>游ゴシック</vt:lpstr>
      <vt:lpstr>Arial</vt:lpstr>
      <vt:lpstr>Cambria Math</vt:lpstr>
      <vt:lpstr>Helvetica</vt:lpstr>
      <vt:lpstr>Symbol</vt:lpstr>
      <vt:lpstr>Wingdings</vt:lpstr>
      <vt:lpstr>Office テーマ</vt:lpstr>
      <vt:lpstr>Python Seminar #5</vt:lpstr>
      <vt:lpstr>Topics</vt:lpstr>
      <vt:lpstr>Classification</vt:lpstr>
      <vt:lpstr>分類</vt:lpstr>
      <vt:lpstr>k-NN Principles and Characteristics</vt:lpstr>
      <vt:lpstr>k-NN 原理と特徴</vt:lpstr>
      <vt:lpstr>k-NN Principles and Characteristics</vt:lpstr>
      <vt:lpstr>k-NN 原理と特徴</vt:lpstr>
      <vt:lpstr>Random Forest Principles and Characteristics</vt:lpstr>
      <vt:lpstr>Random Forest 原理と特徴</vt:lpstr>
      <vt:lpstr>Random Forest Principles and Characteristics</vt:lpstr>
      <vt:lpstr>Random Forest 原理と特徴</vt:lpstr>
      <vt:lpstr>Confusion matrix Evaluation Metrics</vt:lpstr>
      <vt:lpstr>混同行列 評価指標</vt:lpstr>
      <vt:lpstr>Accuracy, Precision, Recall Evaluation Metrics</vt:lpstr>
      <vt:lpstr>Accuracy, Precision, Recall 評価指標</vt:lpstr>
      <vt:lpstr>F1 score Evaluation Metrics</vt:lpstr>
      <vt:lpstr>F1 値 評価指標</vt:lpstr>
      <vt:lpstr>ROC Curve Evaluation Metrics</vt:lpstr>
      <vt:lpstr>ROC曲線 評価指標</vt:lpstr>
      <vt:lpstr>PR Curve Evaluation Metrics</vt:lpstr>
      <vt:lpstr>PR曲線 評価指標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Fujii Kazuma</dc:creator>
  <cp:lastModifiedBy>Fujii Kazuma</cp:lastModifiedBy>
  <cp:revision>11</cp:revision>
  <dcterms:created xsi:type="dcterms:W3CDTF">2026-04-02T10:11:31Z</dcterms:created>
  <dcterms:modified xsi:type="dcterms:W3CDTF">2026-06-20T16:13:25Z</dcterms:modified>
</cp:coreProperties>
</file>