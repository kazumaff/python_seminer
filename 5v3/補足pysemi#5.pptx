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62"/>
    <p:restoredTop sz="94598"/>
  </p:normalViewPr>
  <p:slideViewPr>
    <p:cSldViewPr snapToGrid="0">
      <p:cViewPr>
        <p:scale>
          <a:sx n="157" d="100"/>
          <a:sy n="157" d="100"/>
        </p:scale>
        <p:origin x="392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48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72E2BD-A581-49AD-59A9-3BDC4F5D88BD}"/>
              </a:ext>
            </a:extLst>
          </p:cNvPr>
          <p:cNvSpPr/>
          <p:nvPr userDrawn="1"/>
        </p:nvSpPr>
        <p:spPr>
          <a:xfrm>
            <a:off x="0" y="-54767"/>
            <a:ext cx="9144000" cy="970360"/>
          </a:xfrm>
          <a:prstGeom prst="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  <a:lumMod val="89347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i="0" baseline="0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6"/>
            <a:ext cx="9144000" cy="897337"/>
          </a:xfrm>
        </p:spPr>
        <p:txBody>
          <a:bodyPr/>
          <a:lstStyle>
            <a:lvl1pPr>
              <a:defRPr b="1" i="0" baseline="0">
                <a:latin typeface="Hiragino Sans W6" panose="020B0400000000000000" pitchFamily="34" charset="-128"/>
                <a:ea typeface="Hiragino Sans W6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220876"/>
            <a:ext cx="7886700" cy="1834236"/>
          </a:xfrm>
          <a:solidFill>
            <a:schemeClr val="accent4">
              <a:lumMod val="20000"/>
              <a:lumOff val="80000"/>
              <a:alpha val="65669"/>
            </a:schemeClr>
          </a:solidFill>
        </p:spPr>
        <p:txBody>
          <a:bodyPr/>
          <a:lstStyle>
            <a:lvl1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1pPr>
            <a:lvl2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2pPr>
            <a:lvl3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3pPr>
            <a:lvl4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4pPr>
            <a:lvl5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1pPr>
          </a:lstStyle>
          <a:p>
            <a:fld id="{32394990-A274-8E4A-90A0-60225761FA15}" type="datetimeFigureOut">
              <a:rPr kumimoji="1" lang="ja-JP" altLang="en-US" smtClean="0"/>
              <a:pPr/>
              <a:t>2026/6/21</a:t>
            </a:fld>
            <a:endParaRPr kumimoji="1" lang="ja-JP" altLang="en-US">
              <a:latin typeface="Helvetica" pitchFamily="2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1pPr>
          </a:lstStyle>
          <a:p>
            <a:endParaRPr kumimoji="1" lang="ja-JP" altLang="en-US">
              <a:latin typeface="Helvetica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5350" y="6474618"/>
            <a:ext cx="628650" cy="365125"/>
          </a:xfrm>
        </p:spPr>
        <p:txBody>
          <a:bodyPr/>
          <a:lstStyle>
            <a:lvl1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1pPr>
          </a:lstStyle>
          <a:p>
            <a:fld id="{A500AC58-3283-5748-9D35-E5F45705EE4F}" type="slidenum">
              <a:rPr kumimoji="1" lang="ja-JP" altLang="en-US" smtClean="0"/>
              <a:pPr/>
              <a:t>‹#›</a:t>
            </a:fld>
            <a:endParaRPr kumimoji="1" lang="ja-JP" altLang="en-US">
              <a:latin typeface="Helvetica" pitchFamily="2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316EAD2-933B-B126-230A-436943039E46}"/>
              </a:ext>
            </a:extLst>
          </p:cNvPr>
          <p:cNvCxnSpPr>
            <a:cxnSpLocks/>
          </p:cNvCxnSpPr>
          <p:nvPr userDrawn="1"/>
        </p:nvCxnSpPr>
        <p:spPr>
          <a:xfrm>
            <a:off x="0" y="807695"/>
            <a:ext cx="9144000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2BFB155-7EDD-7691-228F-77E9F6419112}"/>
              </a:ext>
            </a:extLst>
          </p:cNvPr>
          <p:cNvCxnSpPr>
            <a:cxnSpLocks/>
          </p:cNvCxnSpPr>
          <p:nvPr userDrawn="1"/>
        </p:nvCxnSpPr>
        <p:spPr>
          <a:xfrm>
            <a:off x="0" y="890197"/>
            <a:ext cx="9144000" cy="0"/>
          </a:xfrm>
          <a:prstGeom prst="line">
            <a:avLst/>
          </a:prstGeom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EA3819-5723-6670-0020-3556E7C455A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50" y="1658489"/>
            <a:ext cx="7886700" cy="1954500"/>
          </a:xfrm>
          <a:noFill/>
        </p:spPr>
        <p:txBody>
          <a:bodyPr/>
          <a:lstStyle>
            <a:lvl1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1pPr>
            <a:lvl2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2pPr>
            <a:lvl3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3pPr>
            <a:lvl4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4pPr>
            <a:lvl5pPr>
              <a:defRPr b="0" i="0" baseline="0">
                <a:latin typeface="Helvetica" pitchFamily="2" charset="0"/>
                <a:ea typeface="Hiragino Sans W4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43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60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116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9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087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070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972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42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4990-A274-8E4A-90A0-60225761FA15}" type="datetimeFigureOut">
              <a:rPr kumimoji="1" lang="ja-JP" altLang="en-US" smtClean="0"/>
              <a:t>2026/6/21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0AC58-3283-5748-9D35-E5F45705EE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27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ＭＳ ゴシック" panose="020B0609070205080204" pitchFamily="49" charset="-128"/>
              </a:defRPr>
            </a:lvl1pPr>
          </a:lstStyle>
          <a:p>
            <a:fld id="{32394990-A274-8E4A-90A0-60225761FA15}" type="datetimeFigureOut">
              <a:rPr kumimoji="1" lang="ja-JP" altLang="en-US" smtClean="0"/>
              <a:pPr/>
              <a:t>2026/6/21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ＭＳ ゴシック" panose="020B0609070205080204" pitchFamily="49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ＭＳ ゴシック" panose="020B0609070205080204" pitchFamily="49" charset="-128"/>
              </a:defRPr>
            </a:lvl1pPr>
          </a:lstStyle>
          <a:p>
            <a:fld id="{A500AC58-3283-5748-9D35-E5F45705EE4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87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 baseline="0">
          <a:solidFill>
            <a:schemeClr val="tx1"/>
          </a:solidFill>
          <a:latin typeface="Arial" panose="020B0604020202020204" pitchFamily="34" charset="0"/>
          <a:ea typeface="ＭＳ ゴシック" panose="020B0609070205080204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 baseline="0">
          <a:solidFill>
            <a:schemeClr val="tx1"/>
          </a:solidFill>
          <a:latin typeface="Arial" panose="020B0604020202020204" pitchFamily="34" charset="0"/>
          <a:ea typeface="ＭＳ ゴシック" panose="020B0609070205080204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 baseline="0">
          <a:solidFill>
            <a:schemeClr val="tx1"/>
          </a:solidFill>
          <a:latin typeface="Arial" panose="020B0604020202020204" pitchFamily="34" charset="0"/>
          <a:ea typeface="ＭＳ ゴシック" panose="020B0609070205080204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 baseline="0">
          <a:solidFill>
            <a:schemeClr val="tx1"/>
          </a:solidFill>
          <a:latin typeface="Arial" panose="020B0604020202020204" pitchFamily="34" charset="0"/>
          <a:ea typeface="ＭＳ ゴシック" panose="020B0609070205080204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Arial" panose="020B0604020202020204" pitchFamily="34" charset="0"/>
          <a:ea typeface="ＭＳ ゴシック" panose="020B0609070205080204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Arial" panose="020B0604020202020204" pitchFamily="34" charset="0"/>
          <a:ea typeface="ＭＳ ゴシック" panose="020B0609070205080204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3A897-C947-CA14-2AC4-FC2D3FAE4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b="1">
                <a:latin typeface="Helvetica" pitchFamily="2" charset="0"/>
                <a:ea typeface="Hiragino Sans W6" panose="020B0400000000000000" pitchFamily="34" charset="-128"/>
              </a:rPr>
              <a:t>補足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D90598-9D1F-5783-7ACC-1CAE9F096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kumimoji="1" lang="en-US" altLang="ja-JP" dirty="0"/>
            </a:br>
            <a:r>
              <a:rPr lang="en-US" altLang="ja-JP" dirty="0"/>
              <a:t>M1</a:t>
            </a:r>
            <a:r>
              <a:rPr lang="ja-JP" altLang="en-US"/>
              <a:t>＿和真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912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2E6969-07C4-E2EA-F7EB-A38AFB6B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コードの流れ</a:t>
            </a: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B617A9B1-F97B-C19E-997E-41E234A81BD2}"/>
              </a:ext>
            </a:extLst>
          </p:cNvPr>
          <p:cNvSpPr txBox="1">
            <a:spLocks/>
          </p:cNvSpPr>
          <p:nvPr/>
        </p:nvSpPr>
        <p:spPr>
          <a:xfrm>
            <a:off x="650624" y="1174391"/>
            <a:ext cx="7727565" cy="4258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b="1" dirty="0" err="1">
                <a:ea typeface="Hiragino Sans W6" panose="020B0400000000000000" pitchFamily="34" charset="-128"/>
              </a:rPr>
              <a:t>diabates.csv</a:t>
            </a:r>
            <a:r>
              <a:rPr lang="ja-JP" altLang="en-US" sz="1800" b="1">
                <a:ea typeface="Hiragino Sans W6" panose="020B0400000000000000" pitchFamily="34" charset="-128"/>
              </a:rPr>
              <a:t>を読み込む。説明変数８個、目的変数</a:t>
            </a:r>
            <a:r>
              <a:rPr lang="en-US" altLang="ja-JP" sz="1800" b="1" dirty="0">
                <a:ea typeface="Hiragino Sans W6" panose="020B0400000000000000" pitchFamily="34" charset="-128"/>
              </a:rPr>
              <a:t>Outcome</a:t>
            </a:r>
            <a:r>
              <a:rPr lang="ja-JP" altLang="en-US" sz="1800" b="1">
                <a:ea typeface="Hiragino Sans W6" panose="020B0400000000000000" pitchFamily="34" charset="-128"/>
              </a:rPr>
              <a:t>　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sp>
        <p:nvSpPr>
          <p:cNvPr id="6" name="コンテンツ プレースホルダー 3">
            <a:extLst>
              <a:ext uri="{FF2B5EF4-FFF2-40B4-BE49-F238E27FC236}">
                <a16:creationId xmlns:a16="http://schemas.microsoft.com/office/drawing/2014/main" id="{C7EC9176-803D-62C0-513B-F7D288BF70A9}"/>
              </a:ext>
            </a:extLst>
          </p:cNvPr>
          <p:cNvSpPr txBox="1">
            <a:spLocks/>
          </p:cNvSpPr>
          <p:nvPr/>
        </p:nvSpPr>
        <p:spPr>
          <a:xfrm>
            <a:off x="708217" y="1743730"/>
            <a:ext cx="7727565" cy="4258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b="1" dirty="0">
                <a:ea typeface="Hiragino Sans W6" panose="020B0400000000000000" pitchFamily="34" charset="-128"/>
              </a:rPr>
              <a:t>(train data) / (test data) = 614 / 154 </a:t>
            </a:r>
            <a:r>
              <a:rPr lang="ja-JP" altLang="en-US" sz="1800" b="1">
                <a:ea typeface="Hiragino Sans W6" panose="020B0400000000000000" pitchFamily="34" charset="-128"/>
              </a:rPr>
              <a:t>に分ける。</a:t>
            </a:r>
            <a:r>
              <a:rPr lang="en-US" altLang="ja-JP" sz="1800" b="1" dirty="0">
                <a:ea typeface="Hiragino Sans W6" panose="020B0400000000000000" pitchFamily="34" charset="-128"/>
              </a:rPr>
              <a:t> </a:t>
            </a:r>
            <a:r>
              <a:rPr lang="ja-JP" altLang="en-US" sz="1800" b="1">
                <a:ea typeface="Hiragino Sans W6" panose="020B0400000000000000" pitchFamily="34" charset="-128"/>
              </a:rPr>
              <a:t>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sp>
        <p:nvSpPr>
          <p:cNvPr id="7" name="コンテンツ プレースホルダー 3">
            <a:extLst>
              <a:ext uri="{FF2B5EF4-FFF2-40B4-BE49-F238E27FC236}">
                <a16:creationId xmlns:a16="http://schemas.microsoft.com/office/drawing/2014/main" id="{E301E9FE-809C-B466-4AE7-B2538D4281BD}"/>
              </a:ext>
            </a:extLst>
          </p:cNvPr>
          <p:cNvSpPr txBox="1">
            <a:spLocks/>
          </p:cNvSpPr>
          <p:nvPr/>
        </p:nvSpPr>
        <p:spPr>
          <a:xfrm>
            <a:off x="708217" y="2428337"/>
            <a:ext cx="4686743" cy="157688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b="1" dirty="0" err="1">
                <a:ea typeface="Hiragino Sans W6" panose="020B0400000000000000" pitchFamily="34" charset="-128"/>
              </a:rPr>
              <a:t>kNN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r>
              <a:rPr lang="ja-JP" altLang="en-US" sz="1800" b="1">
                <a:ea typeface="Hiragino Sans W6" panose="020B0400000000000000" pitchFamily="34" charset="-128"/>
              </a:rPr>
              <a:t>まず標準化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r>
              <a:rPr lang="en-US" altLang="ja-JP" sz="1800" b="1" dirty="0">
                <a:ea typeface="Hiragino Sans W6" panose="020B0400000000000000" pitchFamily="34" charset="-128"/>
              </a:rPr>
              <a:t>k = 5</a:t>
            </a:r>
          </a:p>
          <a:p>
            <a:r>
              <a:rPr lang="en-US" altLang="ja-JP" sz="1800" b="1" dirty="0">
                <a:ea typeface="Hiragino Sans W6" panose="020B0400000000000000" pitchFamily="34" charset="-128"/>
              </a:rPr>
              <a:t>5– fold </a:t>
            </a:r>
            <a:r>
              <a:rPr lang="ja-JP" altLang="en-US" sz="1800" b="1">
                <a:ea typeface="Hiragino Sans W6" panose="020B0400000000000000" pitchFamily="34" charset="-128"/>
              </a:rPr>
              <a:t>で</a:t>
            </a:r>
            <a:r>
              <a:rPr lang="en-US" altLang="ja-JP" sz="1800" b="1" dirty="0">
                <a:ea typeface="Hiragino Sans W6" panose="020B0400000000000000" pitchFamily="34" charset="-128"/>
              </a:rPr>
              <a:t>CV</a:t>
            </a:r>
            <a:r>
              <a:rPr lang="ja-JP" altLang="en-US" sz="1800" b="1">
                <a:ea typeface="Hiragino Sans W6" panose="020B0400000000000000" pitchFamily="34" charset="-128"/>
              </a:rPr>
              <a:t>して一番良い</a:t>
            </a:r>
            <a:r>
              <a:rPr lang="en-US" altLang="ja-JP" sz="1800" b="1" dirty="0">
                <a:ea typeface="Hiragino Sans W6" panose="020B0400000000000000" pitchFamily="34" charset="-128"/>
              </a:rPr>
              <a:t> k </a:t>
            </a:r>
            <a:r>
              <a:rPr lang="ja-JP" altLang="en-US" sz="1800" b="1">
                <a:ea typeface="Hiragino Sans W6" panose="020B0400000000000000" pitchFamily="34" charset="-128"/>
              </a:rPr>
              <a:t>を決める。</a:t>
            </a:r>
            <a:r>
              <a:rPr lang="en-US" altLang="ja-JP" sz="1800" b="1" dirty="0">
                <a:ea typeface="Hiragino Sans W6" panose="020B0400000000000000" pitchFamily="34" charset="-128"/>
              </a:rPr>
              <a:t> </a:t>
            </a:r>
            <a:r>
              <a:rPr lang="ja-JP" altLang="en-US" sz="1800" b="1">
                <a:ea typeface="Hiragino Sans W6" panose="020B0400000000000000" pitchFamily="34" charset="-128"/>
              </a:rPr>
              <a:t>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sp>
        <p:nvSpPr>
          <p:cNvPr id="8" name="コンテンツ プレースホルダー 3">
            <a:extLst>
              <a:ext uri="{FF2B5EF4-FFF2-40B4-BE49-F238E27FC236}">
                <a16:creationId xmlns:a16="http://schemas.microsoft.com/office/drawing/2014/main" id="{9005B2F2-8E7B-8142-DA3A-E6E116D82686}"/>
              </a:ext>
            </a:extLst>
          </p:cNvPr>
          <p:cNvSpPr txBox="1">
            <a:spLocks/>
          </p:cNvSpPr>
          <p:nvPr/>
        </p:nvSpPr>
        <p:spPr>
          <a:xfrm>
            <a:off x="708216" y="4005223"/>
            <a:ext cx="4686743" cy="15768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b="1" dirty="0">
                <a:ea typeface="Hiragino Sans W6" panose="020B0400000000000000" pitchFamily="34" charset="-128"/>
              </a:rPr>
              <a:t>Random Forest</a:t>
            </a:r>
          </a:p>
          <a:p>
            <a:r>
              <a:rPr lang="ja-JP" altLang="en-US" sz="1800" b="1">
                <a:ea typeface="Hiragino Sans W6" panose="020B0400000000000000" pitchFamily="34" charset="-128"/>
              </a:rPr>
              <a:t>デフォルト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r>
              <a:rPr lang="en-US" altLang="ja-JP" sz="1800" b="1" dirty="0">
                <a:ea typeface="Hiragino Sans W6" panose="020B0400000000000000" pitchFamily="34" charset="-128"/>
              </a:rPr>
              <a:t>OOB</a:t>
            </a:r>
            <a:r>
              <a:rPr lang="ja-JP" altLang="en-US" sz="1800" b="1">
                <a:ea typeface="Hiragino Sans W6" panose="020B0400000000000000" pitchFamily="34" charset="-128"/>
              </a:rPr>
              <a:t>方式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r>
              <a:rPr lang="en-US" altLang="ja-JP" sz="1800" b="1" dirty="0" err="1">
                <a:ea typeface="Hiragino Sans W6" panose="020B0400000000000000" pitchFamily="34" charset="-128"/>
              </a:rPr>
              <a:t>RandomizedSearchCV</a:t>
            </a:r>
            <a:r>
              <a:rPr lang="en-US" altLang="ja-JP" sz="1800" b="1" dirty="0">
                <a:ea typeface="Hiragino Sans W6" panose="020B0400000000000000" pitchFamily="34" charset="-128"/>
              </a:rPr>
              <a:t> </a:t>
            </a:r>
            <a:r>
              <a:rPr lang="ja-JP" altLang="en-US" sz="1800" b="1">
                <a:ea typeface="Hiragino Sans W6" panose="020B0400000000000000" pitchFamily="34" charset="-128"/>
              </a:rPr>
              <a:t>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sp>
        <p:nvSpPr>
          <p:cNvPr id="9" name="下矢印 8">
            <a:extLst>
              <a:ext uri="{FF2B5EF4-FFF2-40B4-BE49-F238E27FC236}">
                <a16:creationId xmlns:a16="http://schemas.microsoft.com/office/drawing/2014/main" id="{4A2D64C1-2C69-CAD4-58FE-A898F3ACF396}"/>
              </a:ext>
            </a:extLst>
          </p:cNvPr>
          <p:cNvSpPr/>
          <p:nvPr/>
        </p:nvSpPr>
        <p:spPr>
          <a:xfrm>
            <a:off x="262890" y="1325880"/>
            <a:ext cx="445326" cy="496062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コンテンツ プレースホルダー 3">
            <a:extLst>
              <a:ext uri="{FF2B5EF4-FFF2-40B4-BE49-F238E27FC236}">
                <a16:creationId xmlns:a16="http://schemas.microsoft.com/office/drawing/2014/main" id="{13B965EA-BA36-933A-D28B-2BD03094332A}"/>
              </a:ext>
            </a:extLst>
          </p:cNvPr>
          <p:cNvSpPr txBox="1">
            <a:spLocks/>
          </p:cNvSpPr>
          <p:nvPr/>
        </p:nvSpPr>
        <p:spPr>
          <a:xfrm>
            <a:off x="5394959" y="3792317"/>
            <a:ext cx="7727565" cy="4258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b="1" dirty="0">
                <a:ea typeface="Hiragino Sans W6" panose="020B0400000000000000" pitchFamily="34" charset="-128"/>
              </a:rPr>
              <a:t>train data </a:t>
            </a:r>
            <a:r>
              <a:rPr lang="ja-JP" altLang="en-US" sz="1800" b="1">
                <a:ea typeface="Hiragino Sans W6" panose="020B0400000000000000" pitchFamily="34" charset="-128"/>
              </a:rPr>
              <a:t>全体でモデル学習</a:t>
            </a:r>
            <a:r>
              <a:rPr lang="en-US" altLang="ja-JP" sz="1800" b="1" dirty="0">
                <a:ea typeface="Hiragino Sans W6" panose="020B0400000000000000" pitchFamily="34" charset="-128"/>
              </a:rPr>
              <a:t> </a:t>
            </a:r>
            <a:r>
              <a:rPr lang="ja-JP" altLang="en-US" sz="1800" b="1">
                <a:ea typeface="Hiragino Sans W6" panose="020B0400000000000000" pitchFamily="34" charset="-128"/>
              </a:rPr>
              <a:t>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sp>
        <p:nvSpPr>
          <p:cNvPr id="12" name="左中かっこ 11">
            <a:extLst>
              <a:ext uri="{FF2B5EF4-FFF2-40B4-BE49-F238E27FC236}">
                <a16:creationId xmlns:a16="http://schemas.microsoft.com/office/drawing/2014/main" id="{6C3F10BE-41A4-FBDE-B0DF-724437B110DB}"/>
              </a:ext>
            </a:extLst>
          </p:cNvPr>
          <p:cNvSpPr/>
          <p:nvPr/>
        </p:nvSpPr>
        <p:spPr>
          <a:xfrm flipH="1" flipV="1">
            <a:off x="4931772" y="2610992"/>
            <a:ext cx="463188" cy="2719882"/>
          </a:xfrm>
          <a:prstGeom prst="leftBrace">
            <a:avLst>
              <a:gd name="adj1" fmla="val 28586"/>
              <a:gd name="adj2" fmla="val 50277"/>
            </a:avLst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コンテンツ プレースホルダー 3">
            <a:extLst>
              <a:ext uri="{FF2B5EF4-FFF2-40B4-BE49-F238E27FC236}">
                <a16:creationId xmlns:a16="http://schemas.microsoft.com/office/drawing/2014/main" id="{1AD2D4AF-CD9A-C097-D42A-2B4E4A0F17BE}"/>
              </a:ext>
            </a:extLst>
          </p:cNvPr>
          <p:cNvSpPr txBox="1">
            <a:spLocks/>
          </p:cNvSpPr>
          <p:nvPr/>
        </p:nvSpPr>
        <p:spPr>
          <a:xfrm>
            <a:off x="708217" y="5733598"/>
            <a:ext cx="7727565" cy="42580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1800" b="1" dirty="0">
                <a:ea typeface="Hiragino Sans W6" panose="020B0400000000000000" pitchFamily="34" charset="-128"/>
              </a:rPr>
              <a:t>test data </a:t>
            </a:r>
            <a:r>
              <a:rPr lang="ja-JP" altLang="en-US" sz="1800" b="1">
                <a:ea typeface="Hiragino Sans W6" panose="020B0400000000000000" pitchFamily="34" charset="-128"/>
              </a:rPr>
              <a:t>で予測、混同行列、</a:t>
            </a:r>
            <a:r>
              <a:rPr lang="en-US" altLang="ja-JP" sz="1800" b="1" dirty="0">
                <a:ea typeface="Hiragino Sans W6" panose="020B0400000000000000" pitchFamily="34" charset="-128"/>
              </a:rPr>
              <a:t>ROC</a:t>
            </a:r>
            <a:r>
              <a:rPr lang="ja-JP" altLang="en-US" sz="1800" b="1">
                <a:ea typeface="Hiragino Sans W6" panose="020B0400000000000000" pitchFamily="34" charset="-128"/>
              </a:rPr>
              <a:t>曲線、</a:t>
            </a:r>
            <a:r>
              <a:rPr lang="en-US" altLang="ja-JP" sz="1800" b="1" dirty="0">
                <a:ea typeface="Hiragino Sans W6" panose="020B0400000000000000" pitchFamily="34" charset="-128"/>
              </a:rPr>
              <a:t>PR</a:t>
            </a:r>
            <a:r>
              <a:rPr lang="ja-JP" altLang="en-US" sz="1800" b="1">
                <a:ea typeface="Hiragino Sans W6" panose="020B0400000000000000" pitchFamily="34" charset="-128"/>
              </a:rPr>
              <a:t>曲線をそれぞれ比較</a:t>
            </a:r>
            <a:r>
              <a:rPr lang="en-US" altLang="ja-JP" sz="1800" b="1" dirty="0">
                <a:ea typeface="Hiragino Sans W6" panose="020B0400000000000000" pitchFamily="34" charset="-128"/>
              </a:rPr>
              <a:t> </a:t>
            </a:r>
            <a:r>
              <a:rPr lang="ja-JP" altLang="en-US" sz="1800" b="1">
                <a:ea typeface="Hiragino Sans W6" panose="020B0400000000000000" pitchFamily="34" charset="-128"/>
              </a:rPr>
              <a:t>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A31805-CA7A-87F1-B3DA-D5DFF5BD2856}"/>
              </a:ext>
            </a:extLst>
          </p:cNvPr>
          <p:cNvSpPr txBox="1"/>
          <p:nvPr/>
        </p:nvSpPr>
        <p:spPr>
          <a:xfrm>
            <a:off x="1657350" y="3135950"/>
            <a:ext cx="84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①</a:t>
            </a:r>
            <a:endParaRPr kumimoji="1" lang="ja-JP" altLang="en-US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146B7FF-1F2D-BECC-36AC-56A0A67719D8}"/>
              </a:ext>
            </a:extLst>
          </p:cNvPr>
          <p:cNvSpPr txBox="1"/>
          <p:nvPr/>
        </p:nvSpPr>
        <p:spPr>
          <a:xfrm>
            <a:off x="4571999" y="3293586"/>
            <a:ext cx="84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②</a:t>
            </a:r>
            <a:endParaRPr kumimoji="1" lang="ja-JP" altLang="en-US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3B98FDD-F13B-FE70-6B62-5A83617615CC}"/>
              </a:ext>
            </a:extLst>
          </p:cNvPr>
          <p:cNvSpPr txBox="1"/>
          <p:nvPr/>
        </p:nvSpPr>
        <p:spPr>
          <a:xfrm>
            <a:off x="2205767" y="4343503"/>
            <a:ext cx="84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③</a:t>
            </a:r>
            <a:endParaRPr kumimoji="1" lang="ja-JP" altLang="en-US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C024A57-74AC-8D28-74CA-3CBFD691941F}"/>
              </a:ext>
            </a:extLst>
          </p:cNvPr>
          <p:cNvSpPr txBox="1"/>
          <p:nvPr/>
        </p:nvSpPr>
        <p:spPr>
          <a:xfrm>
            <a:off x="2205767" y="4727112"/>
            <a:ext cx="84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④</a:t>
            </a:r>
            <a:endParaRPr kumimoji="1" lang="ja-JP" altLang="en-US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C25D416-BC38-5BD5-A1C1-B84C4F2F63BB}"/>
              </a:ext>
            </a:extLst>
          </p:cNvPr>
          <p:cNvSpPr txBox="1"/>
          <p:nvPr/>
        </p:nvSpPr>
        <p:spPr>
          <a:xfrm>
            <a:off x="3568769" y="5091658"/>
            <a:ext cx="84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82291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548A1F-B12C-E1DC-566C-93AB71FE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Helvetica" pitchFamily="2" charset="0"/>
              </a:rPr>
              <a:t>Random</a:t>
            </a:r>
            <a:r>
              <a:rPr lang="en-US" altLang="ja-JP" dirty="0">
                <a:latin typeface="Helvetica" pitchFamily="2" charset="0"/>
              </a:rPr>
              <a:t> </a:t>
            </a:r>
            <a:r>
              <a:rPr kumimoji="1" lang="en-US" altLang="ja-JP" dirty="0">
                <a:latin typeface="Helvetica" pitchFamily="2" charset="0"/>
              </a:rPr>
              <a:t>Forest</a:t>
            </a:r>
            <a:r>
              <a:rPr kumimoji="1" lang="ja-JP" altLang="en-US">
                <a:latin typeface="Helvetica" pitchFamily="2" charset="0"/>
              </a:rPr>
              <a:t>と</a:t>
            </a:r>
            <a:r>
              <a:rPr kumimoji="1" lang="en-US" altLang="ja-JP" dirty="0" err="1">
                <a:latin typeface="Helvetica" pitchFamily="2" charset="0"/>
              </a:rPr>
              <a:t>XGBoost</a:t>
            </a:r>
            <a:endParaRPr kumimoji="1" lang="ja-JP" altLang="en-US">
              <a:latin typeface="Helvetica" pitchFamily="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311C6C-9C03-501E-7A94-37280FA226B7}"/>
              </a:ext>
            </a:extLst>
          </p:cNvPr>
          <p:cNvSpPr txBox="1"/>
          <p:nvPr/>
        </p:nvSpPr>
        <p:spPr>
          <a:xfrm>
            <a:off x="3021980" y="22636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EF72AEB-67C2-0995-C3D9-A787AF1E582C}"/>
              </a:ext>
            </a:extLst>
          </p:cNvPr>
          <p:cNvCxnSpPr/>
          <p:nvPr/>
        </p:nvCxnSpPr>
        <p:spPr>
          <a:xfrm>
            <a:off x="4535905" y="950495"/>
            <a:ext cx="0" cy="5907505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3">
            <a:extLst>
              <a:ext uri="{FF2B5EF4-FFF2-40B4-BE49-F238E27FC236}">
                <a16:creationId xmlns:a16="http://schemas.microsoft.com/office/drawing/2014/main" id="{FB1D79CE-EAFD-46CE-813E-0B97AFA23C54}"/>
              </a:ext>
            </a:extLst>
          </p:cNvPr>
          <p:cNvSpPr txBox="1">
            <a:spLocks/>
          </p:cNvSpPr>
          <p:nvPr/>
        </p:nvSpPr>
        <p:spPr>
          <a:xfrm>
            <a:off x="229638" y="985521"/>
            <a:ext cx="4246110" cy="29367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ja-JP" b="1"/>
              <a:t>Random Forest</a:t>
            </a:r>
          </a:p>
          <a:p>
            <a:r>
              <a:rPr lang="ja-JP" altLang="en-US" sz="1800" b="1">
                <a:ea typeface="Hiragino Sans W6" panose="020B0400000000000000" pitchFamily="34" charset="-128"/>
              </a:rPr>
              <a:t>複数の決定木を組み合わせたアンサンブル法の一つ</a:t>
            </a:r>
            <a:endParaRPr lang="ja-JP" altLang="ja-JP" sz="1800" b="1">
              <a:ea typeface="Hiragino Sans W6" panose="020B0400000000000000" pitchFamily="34" charset="-128"/>
            </a:endParaRPr>
          </a:p>
          <a:p>
            <a:r>
              <a:rPr lang="en-US" altLang="ja-JP" sz="1800" b="1" dirty="0">
                <a:ea typeface="Hiragino Sans W6" panose="020B0400000000000000" pitchFamily="34" charset="-128"/>
              </a:rPr>
              <a:t>Random Forest</a:t>
            </a:r>
            <a:r>
              <a:rPr lang="ja-JP" altLang="en-US" sz="1800" b="1">
                <a:ea typeface="Hiragino Sans W6" panose="020B0400000000000000" pitchFamily="34" charset="-128"/>
              </a:rPr>
              <a:t>は決定木のアンサンブル手法</a:t>
            </a:r>
            <a:endParaRPr lang="ja-JP" altLang="ja-JP" sz="1800" b="1">
              <a:ea typeface="Hiragino Sans W6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　データの一部をサンプルして</a:t>
            </a:r>
            <a:r>
              <a:rPr lang="en" altLang="ja-JP" sz="1800" b="1" dirty="0">
                <a:ea typeface="Hiragino Sans W6" panose="020B0400000000000000" pitchFamily="34" charset="-128"/>
              </a:rPr>
              <a:t>N</a:t>
            </a:r>
            <a:r>
              <a:rPr lang="ja-JP" altLang="en-US" sz="1800" b="1">
                <a:ea typeface="Hiragino Sans W6" panose="020B0400000000000000" pitchFamily="34" charset="-128"/>
              </a:rPr>
              <a:t>個の決定木を学習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　</a:t>
            </a:r>
            <a:r>
              <a:rPr lang="en" altLang="ja-JP" sz="1800" b="1" dirty="0">
                <a:ea typeface="Hiragino Sans W6" panose="020B0400000000000000" pitchFamily="34" charset="-128"/>
              </a:rPr>
              <a:t>N</a:t>
            </a:r>
            <a:r>
              <a:rPr lang="ja-JP" altLang="en-US" sz="1800" b="1">
                <a:ea typeface="Hiragino Sans W6" panose="020B0400000000000000" pitchFamily="34" charset="-128"/>
              </a:rPr>
              <a:t>個の決定木の多数決</a:t>
            </a:r>
            <a:r>
              <a:rPr lang="en-US" altLang="ja-JP" sz="1800" b="1" dirty="0">
                <a:ea typeface="Hiragino Sans W6" panose="020B0400000000000000" pitchFamily="34" charset="-128"/>
              </a:rPr>
              <a:t>(</a:t>
            </a:r>
            <a:r>
              <a:rPr lang="en" altLang="ja-JP" sz="1800" b="1" dirty="0">
                <a:ea typeface="Hiragino Sans W6" panose="020B0400000000000000" pitchFamily="34" charset="-128"/>
              </a:rPr>
              <a:t>or </a:t>
            </a:r>
            <a:r>
              <a:rPr lang="ja-JP" altLang="en-US" sz="1800" b="1">
                <a:ea typeface="Hiragino Sans W6" panose="020B0400000000000000" pitchFamily="34" charset="-128"/>
              </a:rPr>
              <a:t>平均</a:t>
            </a:r>
            <a:r>
              <a:rPr lang="en-US" altLang="ja-JP" sz="1800" b="1" dirty="0">
                <a:ea typeface="Hiragino Sans W6" panose="020B0400000000000000" pitchFamily="34" charset="-128"/>
              </a:rPr>
              <a:t>)</a:t>
            </a:r>
            <a:r>
              <a:rPr lang="ja-JP" altLang="en-US" sz="1800" b="1">
                <a:ea typeface="Hiragino Sans W6" panose="020B0400000000000000" pitchFamily="34" charset="-128"/>
              </a:rPr>
              <a:t>で予測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r>
              <a:rPr lang="ja-JP" altLang="en-US" sz="1800" b="1">
                <a:ea typeface="Hiragino Sans W6" panose="020B0400000000000000" pitchFamily="34" charset="-128"/>
              </a:rPr>
              <a:t>外挿は不得意</a:t>
            </a:r>
            <a:endParaRPr lang="en-US" altLang="ja-JP" sz="1800" b="1" dirty="0">
              <a:ea typeface="Hiragino Sans W6" panose="020B0400000000000000" pitchFamily="34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2EEA15B7-9D70-B2AC-91CF-40E639EB7F0C}"/>
              </a:ext>
            </a:extLst>
          </p:cNvPr>
          <p:cNvGrpSpPr/>
          <p:nvPr/>
        </p:nvGrpSpPr>
        <p:grpSpPr>
          <a:xfrm>
            <a:off x="417601" y="3754814"/>
            <a:ext cx="3673127" cy="3103186"/>
            <a:chOff x="267856" y="4013199"/>
            <a:chExt cx="8344128" cy="3103186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58BBD7F-536B-F9D3-9E0A-492A5FE51153}"/>
                </a:ext>
              </a:extLst>
            </p:cNvPr>
            <p:cNvSpPr/>
            <p:nvPr/>
          </p:nvSpPr>
          <p:spPr>
            <a:xfrm>
              <a:off x="406401" y="4013199"/>
              <a:ext cx="8205583" cy="308493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A924E9EC-BA20-4198-6C84-DA1864262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113"/>
            <a:stretch>
              <a:fillRect/>
            </a:stretch>
          </p:blipFill>
          <p:spPr>
            <a:xfrm>
              <a:off x="843280" y="4137771"/>
              <a:ext cx="2341880" cy="1448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FF3532B3-4642-E809-DB3D-B4BC0FFCF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113"/>
            <a:stretch>
              <a:fillRect/>
            </a:stretch>
          </p:blipFill>
          <p:spPr>
            <a:xfrm>
              <a:off x="3401060" y="4137771"/>
              <a:ext cx="2341880" cy="1448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02D4B4D-FD96-D48C-08CD-ABA6FD105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113"/>
            <a:stretch>
              <a:fillRect/>
            </a:stretch>
          </p:blipFill>
          <p:spPr>
            <a:xfrm>
              <a:off x="5958840" y="4137771"/>
              <a:ext cx="2341880" cy="144802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</p:pic>
        <p:sp>
          <p:nvSpPr>
            <p:cNvPr id="12" name="左中かっこ 11">
              <a:extLst>
                <a:ext uri="{FF2B5EF4-FFF2-40B4-BE49-F238E27FC236}">
                  <a16:creationId xmlns:a16="http://schemas.microsoft.com/office/drawing/2014/main" id="{5202CF49-D3CF-C76D-44BA-8FA0C7C4E56F}"/>
                </a:ext>
              </a:extLst>
            </p:cNvPr>
            <p:cNvSpPr/>
            <p:nvPr/>
          </p:nvSpPr>
          <p:spPr>
            <a:xfrm rot="16200000" flipV="1">
              <a:off x="4208326" y="2408374"/>
              <a:ext cx="463188" cy="6827520"/>
            </a:xfrm>
            <a:prstGeom prst="leftBrace">
              <a:avLst>
                <a:gd name="adj1" fmla="val 28586"/>
                <a:gd name="adj2" fmla="val 50277"/>
              </a:avLst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7B1260E-31E8-EE90-EE42-D6514BAE5F1A}"/>
                </a:ext>
              </a:extLst>
            </p:cNvPr>
            <p:cNvSpPr txBox="1"/>
            <p:nvPr/>
          </p:nvSpPr>
          <p:spPr>
            <a:xfrm>
              <a:off x="267856" y="6039167"/>
              <a:ext cx="820557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3200" b="1">
                  <a:highlight>
                    <a:srgbClr val="FFFF00"/>
                  </a:highlight>
                  <a:latin typeface="Helvetica" pitchFamily="2" charset="0"/>
                  <a:ea typeface="Hiragino Sans W6" panose="020B0400000000000000" pitchFamily="34" charset="-128"/>
                </a:rPr>
                <a:t>多数決</a:t>
              </a:r>
              <a:r>
                <a:rPr lang="en-US" altLang="ja-JP" sz="3200" b="1" dirty="0">
                  <a:latin typeface="Helvetica" pitchFamily="2" charset="0"/>
                  <a:ea typeface="Hiragino Sans W6" panose="020B0400000000000000" pitchFamily="34" charset="-128"/>
                </a:rPr>
                <a:t> or </a:t>
              </a:r>
              <a:r>
                <a:rPr lang="ja-JP" altLang="en-US" sz="3200" b="1">
                  <a:latin typeface="Helvetica" pitchFamily="2" charset="0"/>
                  <a:ea typeface="Hiragino Sans W6" panose="020B0400000000000000" pitchFamily="34" charset="-128"/>
                </a:rPr>
                <a:t>平均（バギング）</a:t>
              </a:r>
              <a:endParaRPr lang="ja-JP" altLang="ja-JP" sz="3200" b="1">
                <a:latin typeface="Helvetica" pitchFamily="2" charset="0"/>
                <a:ea typeface="Hiragino Sans W6" panose="020B0400000000000000" pitchFamily="34" charset="-128"/>
              </a:endParaRPr>
            </a:p>
          </p:txBody>
        </p:sp>
      </p:grpSp>
      <p:sp>
        <p:nvSpPr>
          <p:cNvPr id="15" name="コンテンツ プレースホルダー 3">
            <a:extLst>
              <a:ext uri="{FF2B5EF4-FFF2-40B4-BE49-F238E27FC236}">
                <a16:creationId xmlns:a16="http://schemas.microsoft.com/office/drawing/2014/main" id="{CD280732-6012-F0B0-6161-EBE34DB49CEC}"/>
              </a:ext>
            </a:extLst>
          </p:cNvPr>
          <p:cNvSpPr txBox="1">
            <a:spLocks/>
          </p:cNvSpPr>
          <p:nvPr/>
        </p:nvSpPr>
        <p:spPr>
          <a:xfrm>
            <a:off x="4668065" y="985521"/>
            <a:ext cx="4246110" cy="29367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b="1" dirty="0" err="1"/>
              <a:t>XGBoost</a:t>
            </a:r>
            <a:endParaRPr lang="ja-JP" altLang="ja-JP" b="1"/>
          </a:p>
          <a:p>
            <a:r>
              <a:rPr lang="ja-JP" altLang="en-US" sz="1800" b="1">
                <a:ea typeface="Hiragino Sans W6" panose="020B0400000000000000" pitchFamily="34" charset="-128"/>
              </a:rPr>
              <a:t>複数の決定木を組み合わせた？アンサンブル法の一つ</a:t>
            </a:r>
            <a:endParaRPr lang="ja-JP" altLang="ja-JP" sz="1800" b="1">
              <a:ea typeface="Hiragino Sans W6" panose="020B0400000000000000" pitchFamily="34" charset="-128"/>
            </a:endParaRPr>
          </a:p>
          <a:p>
            <a:r>
              <a:rPr lang="en-US" altLang="ja-JP" sz="1800" b="1" dirty="0" err="1">
                <a:ea typeface="Hiragino Sans W6" panose="020B0400000000000000" pitchFamily="34" charset="-128"/>
              </a:rPr>
              <a:t>XGBoost</a:t>
            </a:r>
            <a:r>
              <a:rPr lang="ja-JP" altLang="en-US" sz="1800" b="1">
                <a:ea typeface="Hiragino Sans W6" panose="020B0400000000000000" pitchFamily="34" charset="-128"/>
              </a:rPr>
              <a:t>も決定木のアンサンブル手法</a:t>
            </a:r>
            <a:endParaRPr lang="ja-JP" altLang="ja-JP" sz="1800" b="1">
              <a:ea typeface="Hiragino Sans W6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　全てのデータで決定木を作成し、そこから誤差を補正するように修正する木を作成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　決定木を修正して足し合わせ予測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r>
              <a:rPr lang="ja-JP" altLang="en-US" sz="1800" b="1">
                <a:ea typeface="Hiragino Sans W6" panose="020B0400000000000000" pitchFamily="34" charset="-128"/>
              </a:rPr>
              <a:t>外挿は不得意</a:t>
            </a:r>
            <a:endParaRPr lang="en-US" altLang="ja-JP" sz="1800" b="1" dirty="0">
              <a:ea typeface="Hiragino Sans W6" panose="020B0400000000000000" pitchFamily="34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CD7862B0-2EE2-071E-933E-1356F583D871}"/>
              </a:ext>
            </a:extLst>
          </p:cNvPr>
          <p:cNvSpPr/>
          <p:nvPr/>
        </p:nvSpPr>
        <p:spPr>
          <a:xfrm>
            <a:off x="5042077" y="3706688"/>
            <a:ext cx="3612139" cy="3084930"/>
          </a:xfrm>
          <a:prstGeom prst="rect">
            <a:avLst/>
          </a:prstGeom>
          <a:solidFill>
            <a:schemeClr val="accent1">
              <a:lumMod val="20000"/>
              <a:lumOff val="8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D415801B-9111-DC8D-04EC-761C6ECC9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381" y="3884546"/>
            <a:ext cx="3457529" cy="218453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8FD44413-8F40-E925-D6EE-4AC158B1D75A}"/>
              </a:ext>
            </a:extLst>
          </p:cNvPr>
          <p:cNvSpPr txBox="1"/>
          <p:nvPr/>
        </p:nvSpPr>
        <p:spPr>
          <a:xfrm>
            <a:off x="5229852" y="6197158"/>
            <a:ext cx="4070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>
                <a:latin typeface="Helvetica" pitchFamily="2" charset="0"/>
                <a:ea typeface="Hiragino Sans W6" panose="020B0400000000000000" pitchFamily="34" charset="-128"/>
              </a:rPr>
              <a:t>ブースティング</a:t>
            </a:r>
            <a:endParaRPr lang="ja-JP" altLang="ja-JP" sz="3200" b="1">
              <a:latin typeface="Helvetica" pitchFamily="2" charset="0"/>
              <a:ea typeface="Hiragino Sans W6" panose="020B0400000000000000" pitchFamily="34" charset="-128"/>
            </a:endParaRPr>
          </a:p>
        </p:txBody>
      </p:sp>
      <p:sp>
        <p:nvSpPr>
          <p:cNvPr id="72" name="十字形 71">
            <a:extLst>
              <a:ext uri="{FF2B5EF4-FFF2-40B4-BE49-F238E27FC236}">
                <a16:creationId xmlns:a16="http://schemas.microsoft.com/office/drawing/2014/main" id="{9A229287-75BE-51F0-F90A-D7FDBBB2EB33}"/>
              </a:ext>
            </a:extLst>
          </p:cNvPr>
          <p:cNvSpPr/>
          <p:nvPr/>
        </p:nvSpPr>
        <p:spPr>
          <a:xfrm>
            <a:off x="5646420" y="5327409"/>
            <a:ext cx="205740" cy="227571"/>
          </a:xfrm>
          <a:prstGeom prst="plus">
            <a:avLst>
              <a:gd name="adj" fmla="val 3883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十字形 72">
            <a:extLst>
              <a:ext uri="{FF2B5EF4-FFF2-40B4-BE49-F238E27FC236}">
                <a16:creationId xmlns:a16="http://schemas.microsoft.com/office/drawing/2014/main" id="{E339E529-6628-C050-31EE-6977ACCFB242}"/>
              </a:ext>
            </a:extLst>
          </p:cNvPr>
          <p:cNvSpPr/>
          <p:nvPr/>
        </p:nvSpPr>
        <p:spPr>
          <a:xfrm>
            <a:off x="6791120" y="5905546"/>
            <a:ext cx="205740" cy="227571"/>
          </a:xfrm>
          <a:prstGeom prst="plus">
            <a:avLst>
              <a:gd name="adj" fmla="val 3883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98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4BF1DF-AA5C-B72C-886A-F9966850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評価指標</a:t>
            </a:r>
          </a:p>
        </p:txBody>
      </p:sp>
      <p:sp>
        <p:nvSpPr>
          <p:cNvPr id="5" name="コンテンツ プレースホルダー 3">
            <a:extLst>
              <a:ext uri="{FF2B5EF4-FFF2-40B4-BE49-F238E27FC236}">
                <a16:creationId xmlns:a16="http://schemas.microsoft.com/office/drawing/2014/main" id="{5207B70C-4511-FF82-8D0B-5BB38D6BEC3F}"/>
              </a:ext>
            </a:extLst>
          </p:cNvPr>
          <p:cNvSpPr txBox="1">
            <a:spLocks/>
          </p:cNvSpPr>
          <p:nvPr/>
        </p:nvSpPr>
        <p:spPr>
          <a:xfrm>
            <a:off x="325890" y="1088391"/>
            <a:ext cx="3743190" cy="18491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/>
              <a:t>不均衡なデータ</a:t>
            </a: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例：材料のサンプルが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pPr marL="0" indent="0">
              <a:buNone/>
            </a:pPr>
            <a:br>
              <a:rPr lang="en-US" altLang="ja-JP" sz="1800" b="1" dirty="0">
                <a:ea typeface="Hiragino Sans W6" panose="020B0400000000000000" pitchFamily="34" charset="-128"/>
              </a:rPr>
            </a:br>
            <a:r>
              <a:rPr lang="ja-JP" altLang="en-US" sz="1800" b="1">
                <a:ea typeface="Hiragino Sans W6" panose="020B0400000000000000" pitchFamily="34" charset="-128"/>
              </a:rPr>
              <a:t>　正常；９０</a:t>
            </a:r>
            <a:endParaRPr lang="en-US" altLang="ja-JP" sz="1800" b="1" dirty="0">
              <a:latin typeface="HGGothicE" panose="020B0909000000000000" pitchFamily="49" charset="-128"/>
              <a:ea typeface="HGGothicE" panose="020B0909000000000000" pitchFamily="49" charset="-128"/>
            </a:endParaRP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　異常；１０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086002F-E546-B1C0-B05B-D422BBB00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53" y="1088391"/>
            <a:ext cx="2642208" cy="228064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コンテンツ プレースホルダー 3">
            <a:extLst>
              <a:ext uri="{FF2B5EF4-FFF2-40B4-BE49-F238E27FC236}">
                <a16:creationId xmlns:a16="http://schemas.microsoft.com/office/drawing/2014/main" id="{CCCB4FFB-6A88-629C-93A0-92AF210D5D94}"/>
              </a:ext>
            </a:extLst>
          </p:cNvPr>
          <p:cNvSpPr txBox="1">
            <a:spLocks/>
          </p:cNvSpPr>
          <p:nvPr/>
        </p:nvSpPr>
        <p:spPr>
          <a:xfrm>
            <a:off x="325890" y="2980331"/>
            <a:ext cx="5876790" cy="89733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 baseline="0">
                <a:solidFill>
                  <a:schemeClr val="tx1"/>
                </a:solidFill>
                <a:latin typeface="Helvetica" pitchFamily="2" charset="0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全て正常だと予測してしまうモデルであるとする</a:t>
            </a:r>
            <a:endParaRPr lang="en-US" altLang="ja-JP" sz="1800" b="1" dirty="0">
              <a:ea typeface="Hiragino Sans W6" panose="020B0400000000000000" pitchFamily="34" charset="-128"/>
            </a:endParaRPr>
          </a:p>
          <a:p>
            <a:pPr marL="0" indent="0">
              <a:buNone/>
            </a:pPr>
            <a:r>
              <a:rPr lang="ja-JP" altLang="en-US" sz="1800" b="1">
                <a:ea typeface="Hiragino Sans W6" panose="020B0400000000000000" pitchFamily="34" charset="-128"/>
              </a:rPr>
              <a:t>異常を</a:t>
            </a:r>
            <a:r>
              <a:rPr lang="en-US" altLang="ja-JP" sz="1800" b="1" dirty="0">
                <a:ea typeface="Hiragino Sans W6" panose="020B0400000000000000" pitchFamily="34" charset="-128"/>
              </a:rPr>
              <a:t>Positive</a:t>
            </a:r>
            <a:r>
              <a:rPr lang="ja-JP" altLang="en-US" sz="1800" b="1">
                <a:ea typeface="Hiragino Sans W6" panose="020B0400000000000000" pitchFamily="34" charset="-128"/>
              </a:rPr>
              <a:t>とする　　　　　</a:t>
            </a:r>
            <a:endParaRPr lang="ja-JP" altLang="ja-JP" sz="1800" b="1">
              <a:ea typeface="Hiragino Sans W6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0DF873CA-15D9-1343-C0BF-B58C3B9889EC}"/>
                  </a:ext>
                </a:extLst>
              </p:cNvPr>
              <p:cNvSpPr txBox="1"/>
              <p:nvPr/>
            </p:nvSpPr>
            <p:spPr>
              <a:xfrm>
                <a:off x="431853" y="4337647"/>
                <a:ext cx="6731586" cy="7000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𝑨𝒄𝒄𝒖𝒓𝒂𝒄𝒚</m:t>
                          </m:r>
                        </m:e>
                      </m:d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𝑻𝑵</m:t>
                          </m:r>
                        </m:num>
                        <m:den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kumimoji="1" lang="en-US" altLang="ja-JP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𝑻𝑵</m:t>
                          </m:r>
                          <m:r>
                            <a:rPr kumimoji="1" lang="en-US" altLang="ja-JP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𝑭𝑷</m:t>
                          </m:r>
                          <m:r>
                            <a:rPr kumimoji="1" lang="en-US" altLang="ja-JP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𝟗𝟎</m:t>
                          </m:r>
                        </m:num>
                        <m:den>
                          <m:r>
                            <a:rPr kumimoji="1" lang="en-US" altLang="ja-JP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0DF873CA-15D9-1343-C0BF-B58C3B988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53" y="4337647"/>
                <a:ext cx="6731586" cy="700063"/>
              </a:xfrm>
              <a:prstGeom prst="rect">
                <a:avLst/>
              </a:prstGeom>
              <a:blipFill>
                <a:blip r:embed="rId3"/>
                <a:stretch>
                  <a:fillRect r="-755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C2FC2CA-8471-5FD4-C40F-A48ED6B0EE13}"/>
                  </a:ext>
                </a:extLst>
              </p:cNvPr>
              <p:cNvSpPr txBox="1"/>
              <p:nvPr/>
            </p:nvSpPr>
            <p:spPr>
              <a:xfrm>
                <a:off x="156693" y="3733010"/>
                <a:ext cx="470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𝑻𝑷</m:t>
                      </m:r>
                      <m:r>
                        <a:rPr kumimoji="1" lang="en-US" altLang="ja-JP" sz="1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𝑻𝑵</m:t>
                      </m:r>
                      <m:r>
                        <a:rPr kumimoji="1" lang="en-US" altLang="ja-JP" sz="1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𝑭𝑷</m:t>
                      </m:r>
                      <m:r>
                        <a:rPr kumimoji="1" lang="en-US" altLang="ja-JP" sz="1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𝑭𝑵</m:t>
                      </m:r>
                      <m:r>
                        <a:rPr kumimoji="1" lang="en-US" altLang="ja-JP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AC2FC2CA-8471-5FD4-C40F-A48ED6B0E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3" y="3733010"/>
                <a:ext cx="470916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B9BF900-410E-DC29-F9E2-13AEC131A104}"/>
                  </a:ext>
                </a:extLst>
              </p:cNvPr>
              <p:cNvSpPr txBox="1"/>
              <p:nvPr/>
            </p:nvSpPr>
            <p:spPr>
              <a:xfrm>
                <a:off x="2704215" y="3743412"/>
                <a:ext cx="470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𝑻𝑵</m:t>
                      </m:r>
                      <m:r>
                        <a:rPr kumimoji="1" lang="en-US" altLang="ja-JP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=90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B9BF900-410E-DC29-F9E2-13AEC131A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15" y="3743412"/>
                <a:ext cx="470916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5A5CD6B-74C3-C3A3-49A6-38752B2FE014}"/>
                  </a:ext>
                </a:extLst>
              </p:cNvPr>
              <p:cNvSpPr txBox="1"/>
              <p:nvPr/>
            </p:nvSpPr>
            <p:spPr>
              <a:xfrm>
                <a:off x="5251737" y="3743412"/>
                <a:ext cx="47091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𝑻𝑷</m:t>
                      </m:r>
                      <m:r>
                        <a:rPr kumimoji="1" lang="en-US" altLang="ja-JP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kumimoji="1" lang="en-US" altLang="ja-JP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ja-JP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F5A5CD6B-74C3-C3A3-49A6-38752B2F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737" y="3743412"/>
                <a:ext cx="47091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A852B92-5E18-7A4B-E89B-B2110D3E7684}"/>
                  </a:ext>
                </a:extLst>
              </p:cNvPr>
              <p:cNvSpPr txBox="1"/>
              <p:nvPr/>
            </p:nvSpPr>
            <p:spPr>
              <a:xfrm>
                <a:off x="5664142" y="3733010"/>
                <a:ext cx="11438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𝑭𝑵</m:t>
                      </m:r>
                      <m:r>
                        <a:rPr kumimoji="1" lang="en-US" altLang="ja-JP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ja-JP" altLang="en-US"/>
              </a:p>
            </p:txBody>
          </p:sp>
        </mc:Choice>
        <mc:Fallback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A852B92-5E18-7A4B-E89B-B2110D3E7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142" y="3733010"/>
                <a:ext cx="11438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87FCE6F-B082-56C9-BA32-4D9BD6AF0149}"/>
                  </a:ext>
                </a:extLst>
              </p:cNvPr>
              <p:cNvSpPr txBox="1"/>
              <p:nvPr/>
            </p:nvSpPr>
            <p:spPr>
              <a:xfrm>
                <a:off x="385926" y="5071981"/>
                <a:ext cx="4147089" cy="6976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𝑷𝒓𝒆𝒄𝒊𝒔𝒊𝒐𝒏</m:t>
                          </m:r>
                        </m:e>
                      </m:d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kumimoji="1" lang="en-US" altLang="ja-JP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𝑭𝑷</m:t>
                          </m:r>
                        </m:den>
                      </m:f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`</m:t>
                      </m:r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87FCE6F-B082-56C9-BA32-4D9BD6AF0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26" y="5071981"/>
                <a:ext cx="4147089" cy="697627"/>
              </a:xfrm>
              <a:prstGeom prst="rect">
                <a:avLst/>
              </a:prstGeom>
              <a:blipFill>
                <a:blip r:embed="rId8"/>
                <a:stretch>
                  <a:fillRect t="-1786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1AE0CE4-89D1-6811-772E-6201C7CADF75}"/>
                  </a:ext>
                </a:extLst>
              </p:cNvPr>
              <p:cNvSpPr txBox="1"/>
              <p:nvPr/>
            </p:nvSpPr>
            <p:spPr>
              <a:xfrm>
                <a:off x="4533015" y="5084958"/>
                <a:ext cx="3460884" cy="6976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𝑹𝒆𝒄𝒂𝒍𝒍</m:t>
                          </m:r>
                        </m:e>
                      </m:d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</m:num>
                        <m:den>
                          <m:r>
                            <a:rPr kumimoji="1"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𝑻𝑷</m:t>
                          </m:r>
                          <m:r>
                            <a:rPr kumimoji="1" lang="en-US" altLang="ja-JP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𝑭𝑵</m:t>
                          </m:r>
                        </m:den>
                      </m:f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1AE0CE4-89D1-6811-772E-6201C7CAD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015" y="5084958"/>
                <a:ext cx="3460884" cy="697627"/>
              </a:xfrm>
              <a:prstGeom prst="rect">
                <a:avLst/>
              </a:prstGeom>
              <a:blipFill>
                <a:blip r:embed="rId9"/>
                <a:stretch>
                  <a:fillRect t="-1786" r="-1832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E23B84E-2AE0-957F-DF43-8F99BC8F5886}"/>
                  </a:ext>
                </a:extLst>
              </p:cNvPr>
              <p:cNvSpPr txBox="1"/>
              <p:nvPr/>
            </p:nvSpPr>
            <p:spPr>
              <a:xfrm>
                <a:off x="1461309" y="5926092"/>
                <a:ext cx="5472780" cy="7689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1" lang="ja-JP" altLang="en-US" sz="2400" b="1" i="1" smtClean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ja-JP" alt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  <m:t>𝑷𝒓𝒆𝒄𝒊𝒔𝒊𝒐𝒏</m:t>
                              </m:r>
                            </m:e>
                          </m:d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𝑹𝒆𝒄𝒂𝒍𝒍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  <m:t>𝑷𝒓𝒆𝒄𝒊𝒔𝒊𝒐𝒏</m:t>
                              </m:r>
                            </m:e>
                          </m:d>
                          <m:r>
                            <a:rPr kumimoji="1" lang="en-US" altLang="ja-JP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</a:rPr>
                                <m:t>𝑹𝒆𝒄𝒂𝒍𝒍</m:t>
                              </m:r>
                            </m:e>
                          </m:d>
                        </m:den>
                      </m:f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ja-JP" sz="2400" b="1" i="1">
                          <a:latin typeface="Cambria Math" panose="02040503050406030204" pitchFamily="18" charset="0"/>
                        </a:rPr>
                        <m:t>`</m:t>
                      </m:r>
                    </m:oMath>
                  </m:oMathPara>
                </a14:m>
                <a:endParaRPr kumimoji="1" lang="ja-JP" altLang="en-US" sz="2400" b="1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E23B84E-2AE0-957F-DF43-8F99BC8F5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309" y="5926092"/>
                <a:ext cx="5472780" cy="768993"/>
              </a:xfrm>
              <a:prstGeom prst="rect">
                <a:avLst/>
              </a:prstGeom>
              <a:blipFill>
                <a:blip r:embed="rId10"/>
                <a:stretch>
                  <a:fillRect r="-1160" b="-6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9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A3B29-3F0D-74FF-902C-D8784F1D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OOB</a:t>
            </a:r>
            <a:r>
              <a:rPr kumimoji="1" lang="ja-JP" altLang="en-US"/>
              <a:t> </a:t>
            </a:r>
            <a:r>
              <a:rPr kumimoji="1" lang="en-US" altLang="ja-JP" dirty="0"/>
              <a:t>Random</a:t>
            </a:r>
            <a:r>
              <a:rPr kumimoji="1" lang="ja-JP" altLang="en-US"/>
              <a:t> </a:t>
            </a:r>
            <a:r>
              <a:rPr kumimoji="1" lang="en-US" altLang="ja-JP" dirty="0"/>
              <a:t>Forest</a:t>
            </a:r>
            <a:endParaRPr kumimoji="1"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D7729DDB-4F9C-1366-8714-FA7D5E21CE5A}"/>
              </a:ext>
            </a:extLst>
          </p:cNvPr>
          <p:cNvSpPr/>
          <p:nvPr/>
        </p:nvSpPr>
        <p:spPr>
          <a:xfrm>
            <a:off x="2386584" y="1152144"/>
            <a:ext cx="4507992" cy="1645920"/>
          </a:xfrm>
          <a:prstGeom prst="ellipse">
            <a:avLst/>
          </a:prstGeom>
          <a:ln w="38100"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>
                <a:latin typeface="Hiragino Sans W6" panose="020B0400000000000000" pitchFamily="34" charset="-128"/>
                <a:ea typeface="Hiragino Sans W6" panose="020B0400000000000000" pitchFamily="34" charset="-128"/>
              </a:rPr>
              <a:t>全ての</a:t>
            </a:r>
            <a:r>
              <a:rPr kumimoji="1" lang="en-US" altLang="ja-JP" sz="3200" b="1" dirty="0">
                <a:latin typeface="Hiragino Sans W6" panose="020B0400000000000000" pitchFamily="34" charset="-128"/>
                <a:ea typeface="Hiragino Sans W6" panose="020B0400000000000000" pitchFamily="34" charset="-128"/>
              </a:rPr>
              <a:t>train data</a:t>
            </a:r>
            <a:endParaRPr kumimoji="1" lang="ja-JP" altLang="en-US" sz="3200" b="1">
              <a:latin typeface="Hiragino Sans W6" panose="020B0400000000000000" pitchFamily="34" charset="-128"/>
              <a:ea typeface="Hiragino Sans W6" panose="020B0400000000000000" pitchFamily="34" charset="-128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9A98AB3-6D06-9FF8-44DB-BC17E160FDEF}"/>
              </a:ext>
            </a:extLst>
          </p:cNvPr>
          <p:cNvCxnSpPr>
            <a:cxnSpLocks/>
          </p:cNvCxnSpPr>
          <p:nvPr/>
        </p:nvCxnSpPr>
        <p:spPr>
          <a:xfrm>
            <a:off x="2973319" y="1430371"/>
            <a:ext cx="876305" cy="130368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曲折矢印 7">
            <a:extLst>
              <a:ext uri="{FF2B5EF4-FFF2-40B4-BE49-F238E27FC236}">
                <a16:creationId xmlns:a16="http://schemas.microsoft.com/office/drawing/2014/main" id="{D210993A-1122-DB31-99EF-22F5B1B4EE30}"/>
              </a:ext>
            </a:extLst>
          </p:cNvPr>
          <p:cNvSpPr/>
          <p:nvPr/>
        </p:nvSpPr>
        <p:spPr>
          <a:xfrm rot="5400000" flipV="1">
            <a:off x="1800755" y="1646679"/>
            <a:ext cx="897337" cy="1554187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91FC2DA5-C281-084D-4D55-B7659007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64" y="2872441"/>
            <a:ext cx="2642453" cy="15666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8" name="曲折矢印 37">
            <a:extLst>
              <a:ext uri="{FF2B5EF4-FFF2-40B4-BE49-F238E27FC236}">
                <a16:creationId xmlns:a16="http://schemas.microsoft.com/office/drawing/2014/main" id="{82769B9A-B571-91BF-1FB3-08F23A755218}"/>
              </a:ext>
            </a:extLst>
          </p:cNvPr>
          <p:cNvSpPr/>
          <p:nvPr/>
        </p:nvSpPr>
        <p:spPr>
          <a:xfrm rot="16200000" flipH="1" flipV="1">
            <a:off x="5019233" y="2613715"/>
            <a:ext cx="1566671" cy="1186785"/>
          </a:xfrm>
          <a:prstGeom prst="bentArrow">
            <a:avLst>
              <a:gd name="adj1" fmla="val 25000"/>
              <a:gd name="adj2" fmla="val 25000"/>
              <a:gd name="adj3" fmla="val 23755"/>
              <a:gd name="adj4" fmla="val 25384"/>
            </a:avLst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0B3EEDA-5C8B-3892-B98F-C90C9E13B84A}"/>
              </a:ext>
            </a:extLst>
          </p:cNvPr>
          <p:cNvSpPr txBox="1"/>
          <p:nvPr/>
        </p:nvSpPr>
        <p:spPr>
          <a:xfrm>
            <a:off x="6351518" y="2872441"/>
            <a:ext cx="2792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Helvetica" pitchFamily="2" charset="0"/>
                <a:ea typeface="Hiragino Sans W6" panose="020B0400000000000000" pitchFamily="34" charset="-128"/>
              </a:rPr>
              <a:t>Out-Of-Bug data</a:t>
            </a:r>
            <a:endParaRPr lang="ja-JP" altLang="ja-JP" sz="2400" b="1">
              <a:latin typeface="Helvetica" pitchFamily="2" charset="0"/>
              <a:ea typeface="Hiragino Sans W6" panose="020B0400000000000000" pitchFamily="34" charset="-128"/>
            </a:endParaRPr>
          </a:p>
        </p:txBody>
      </p:sp>
      <p:sp>
        <p:nvSpPr>
          <p:cNvPr id="41" name="右矢印 40">
            <a:extLst>
              <a:ext uri="{FF2B5EF4-FFF2-40B4-BE49-F238E27FC236}">
                <a16:creationId xmlns:a16="http://schemas.microsoft.com/office/drawing/2014/main" id="{CAB8F920-FDDB-EEAA-5324-FCA198B75673}"/>
              </a:ext>
            </a:extLst>
          </p:cNvPr>
          <p:cNvSpPr/>
          <p:nvPr/>
        </p:nvSpPr>
        <p:spPr>
          <a:xfrm flipH="1">
            <a:off x="3411470" y="3565675"/>
            <a:ext cx="2268454" cy="3580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D480F18-7EF5-63D1-BCC3-3160BECE0FB6}"/>
              </a:ext>
            </a:extLst>
          </p:cNvPr>
          <p:cNvSpPr txBox="1"/>
          <p:nvPr/>
        </p:nvSpPr>
        <p:spPr>
          <a:xfrm>
            <a:off x="3411469" y="3977448"/>
            <a:ext cx="3434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このデータで検証</a:t>
            </a:r>
            <a:br>
              <a:rPr lang="en-US" altLang="ja-JP" sz="2400" b="1" dirty="0">
                <a:latin typeface="Helvetica" pitchFamily="2" charset="0"/>
                <a:ea typeface="Hiragino Sans W6" panose="020B0400000000000000" pitchFamily="34" charset="-128"/>
              </a:rPr>
            </a:br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（</a:t>
            </a:r>
            <a:r>
              <a:rPr lang="en-US" altLang="ja-JP" sz="2400" b="1" dirty="0">
                <a:latin typeface="Helvetica" pitchFamily="2" charset="0"/>
                <a:ea typeface="Hiragino Sans W6" panose="020B0400000000000000" pitchFamily="34" charset="-128"/>
              </a:rPr>
              <a:t>test data</a:t>
            </a:r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ではない）</a:t>
            </a:r>
            <a:endParaRPr lang="ja-JP" altLang="ja-JP" sz="2400" b="1">
              <a:latin typeface="Helvetica" pitchFamily="2" charset="0"/>
              <a:ea typeface="Hiragino Sans W6" panose="020B0400000000000000" pitchFamily="34" charset="-128"/>
            </a:endParaRPr>
          </a:p>
        </p:txBody>
      </p:sp>
      <p:sp>
        <p:nvSpPr>
          <p:cNvPr id="43" name="右矢印 42">
            <a:extLst>
              <a:ext uri="{FF2B5EF4-FFF2-40B4-BE49-F238E27FC236}">
                <a16:creationId xmlns:a16="http://schemas.microsoft.com/office/drawing/2014/main" id="{32F169C8-4F88-653E-4C00-813ACD747238}"/>
              </a:ext>
            </a:extLst>
          </p:cNvPr>
          <p:cNvSpPr/>
          <p:nvPr/>
        </p:nvSpPr>
        <p:spPr>
          <a:xfrm rot="16200000" flipH="1">
            <a:off x="2715209" y="4904866"/>
            <a:ext cx="1007568" cy="35802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A5DC9440-3E51-8CE0-2230-FA887AEB3760}"/>
              </a:ext>
            </a:extLst>
          </p:cNvPr>
          <p:cNvSpPr txBox="1"/>
          <p:nvPr/>
        </p:nvSpPr>
        <p:spPr>
          <a:xfrm>
            <a:off x="1222907" y="5759476"/>
            <a:ext cx="688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作られた学習モデルに対して</a:t>
            </a:r>
            <a:r>
              <a:rPr lang="en-US" altLang="ja-JP" sz="2400" b="1" dirty="0">
                <a:latin typeface="Helvetica" pitchFamily="2" charset="0"/>
                <a:ea typeface="Hiragino Sans W6" panose="020B0400000000000000" pitchFamily="34" charset="-128"/>
              </a:rPr>
              <a:t> test data </a:t>
            </a:r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で予測</a:t>
            </a:r>
            <a:endParaRPr lang="ja-JP" altLang="ja-JP" sz="2400" b="1">
              <a:latin typeface="Helvetica" pitchFamily="2" charset="0"/>
              <a:ea typeface="Hiragino Sans W6" panose="020B0400000000000000" pitchFamily="34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91F7DC7E-ED4F-61FC-A8ED-BA319DC41511}"/>
              </a:ext>
            </a:extLst>
          </p:cNvPr>
          <p:cNvSpPr txBox="1"/>
          <p:nvPr/>
        </p:nvSpPr>
        <p:spPr>
          <a:xfrm>
            <a:off x="3411469" y="4938994"/>
            <a:ext cx="446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学習モデルを構築</a:t>
            </a:r>
            <a:endParaRPr lang="ja-JP" altLang="ja-JP" sz="2400" b="1">
              <a:latin typeface="Helvetica" pitchFamily="2" charset="0"/>
              <a:ea typeface="Hiragino Sans W6" panose="020B0400000000000000" pitchFamily="34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4A25A73-EBE0-2A9C-DE8B-C7D8929ED388}"/>
              </a:ext>
            </a:extLst>
          </p:cNvPr>
          <p:cNvSpPr txBox="1"/>
          <p:nvPr/>
        </p:nvSpPr>
        <p:spPr>
          <a:xfrm>
            <a:off x="6391000" y="4149088"/>
            <a:ext cx="3434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>
                <a:latin typeface="Helvetica" pitchFamily="2" charset="0"/>
                <a:ea typeface="Hiragino Sans W6" panose="020B0400000000000000" pitchFamily="34" charset="-128"/>
              </a:rPr>
              <a:t>良いのか悪いのか</a:t>
            </a:r>
            <a:endParaRPr lang="ja-JP" altLang="ja-JP" sz="2400" b="1">
              <a:latin typeface="Helvetica" pitchFamily="2" charset="0"/>
              <a:ea typeface="Hiragino Sans W6" panose="020B0400000000000000" pitchFamily="34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E35F490-BD3C-7E15-A8DD-3A8D04D7185C}"/>
              </a:ext>
            </a:extLst>
          </p:cNvPr>
          <p:cNvSpPr txBox="1"/>
          <p:nvPr/>
        </p:nvSpPr>
        <p:spPr>
          <a:xfrm>
            <a:off x="6391000" y="6231147"/>
            <a:ext cx="343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>
                <a:latin typeface="Helvetica" pitchFamily="2" charset="0"/>
                <a:ea typeface="Hiragino Sans W6" panose="020B0400000000000000" pitchFamily="34" charset="-128"/>
              </a:rPr>
              <a:t>二重で検証している</a:t>
            </a:r>
            <a:br>
              <a:rPr lang="en-US" altLang="ja-JP" b="1" dirty="0">
                <a:latin typeface="Helvetica" pitchFamily="2" charset="0"/>
                <a:ea typeface="Hiragino Sans W6" panose="020B0400000000000000" pitchFamily="34" charset="-128"/>
              </a:rPr>
            </a:br>
            <a:r>
              <a:rPr lang="ja-JP" altLang="en-US" b="1">
                <a:latin typeface="Helvetica" pitchFamily="2" charset="0"/>
                <a:ea typeface="Hiragino Sans W6" panose="020B0400000000000000" pitchFamily="34" charset="-128"/>
              </a:rPr>
              <a:t>イメージ</a:t>
            </a:r>
            <a:endParaRPr lang="ja-JP" altLang="ja-JP" b="1">
              <a:latin typeface="Helvetica" pitchFamily="2" charset="0"/>
              <a:ea typeface="Hiragino Sans W6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697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3966</TotalTime>
  <Words>333</Words>
  <Application>Microsoft Macintosh PowerPoint</Application>
  <PresentationFormat>画面に合わせる (4:3)</PresentationFormat>
  <Paragraphs>58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HGGothicE</vt:lpstr>
      <vt:lpstr>Hiragino Sans W6</vt:lpstr>
      <vt:lpstr>Arial</vt:lpstr>
      <vt:lpstr>Cambria Math</vt:lpstr>
      <vt:lpstr>Helvetica</vt:lpstr>
      <vt:lpstr>Office テーマ</vt:lpstr>
      <vt:lpstr>補足</vt:lpstr>
      <vt:lpstr>コードの流れ</vt:lpstr>
      <vt:lpstr>Random ForestとXGBoost</vt:lpstr>
      <vt:lpstr>評価指標</vt:lpstr>
      <vt:lpstr>OOB Random Forest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Fujii Kazuma</dc:creator>
  <cp:lastModifiedBy>Fujii Kazuma</cp:lastModifiedBy>
  <cp:revision>3</cp:revision>
  <dcterms:created xsi:type="dcterms:W3CDTF">2026-04-02T10:11:31Z</dcterms:created>
  <dcterms:modified xsi:type="dcterms:W3CDTF">2026-06-24T07:24:14Z</dcterms:modified>
</cp:coreProperties>
</file>